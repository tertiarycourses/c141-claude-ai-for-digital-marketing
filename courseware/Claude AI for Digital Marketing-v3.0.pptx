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6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4"/>
    <p:sldId id="259" r:id="rId5"/>
    <p:sldId id="260" r:id="rId6"/>
    <p:sldId id="261" r:id="rId7"/>
    <p:sldId id="327" r:id="rId60"/>
    <p:sldId id="328" r:id="rId59"/>
    <p:sldId id="329" r:id="rId77"/>
    <p:sldId id="330" r:id="rId78"/>
    <p:sldId id="331" r:id="rId79"/>
    <p:sldId id="332" r:id="rId80"/>
    <p:sldId id="333" r:id="rId81"/>
    <p:sldId id="334" r:id="rId82"/>
    <p:sldId id="274" r:id="rId20"/>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 id="373" r:id="rId121"/>
    <p:sldId id="374"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387" r:id="rId135"/>
    <p:sldId id="388" r:id="rId136"/>
    <p:sldId id="389" r:id="rId137"/>
    <p:sldId id="390" r:id="rId138"/>
    <p:sldId id="391" r:id="rId139"/>
    <p:sldId id="392" r:id="rId140"/>
    <p:sldId id="393" r:id="rId141"/>
    <p:sldId id="394" r:id="rId142"/>
    <p:sldId id="395" r:id="rId143"/>
    <p:sldId id="396" r:id="rId144"/>
    <p:sldId id="397" r:id="rId145"/>
    <p:sldId id="398" r:id="rId146"/>
    <p:sldId id="399" r:id="rId147"/>
    <p:sldId id="400" r:id="rId148"/>
    <p:sldId id="401" r:id="rId149"/>
    <p:sldId id="402" r:id="rId150"/>
    <p:sldId id="403" r:id="rId151"/>
    <p:sldId id="404" r:id="rId152"/>
    <p:sldId id="405" r:id="rId153"/>
    <p:sldId id="406" r:id="rId154"/>
    <p:sldId id="407" r:id="rId155"/>
    <p:sldId id="408" r:id="rId156"/>
    <p:sldId id="409" r:id="rId157"/>
    <p:sldId id="410" r:id="rId158"/>
    <p:sldId id="411" r:id="rId159"/>
    <p:sldId id="412" r:id="rId160"/>
    <p:sldId id="413" r:id="rId161"/>
    <p:sldId id="414" r:id="rId162"/>
    <p:sldId id="415" r:id="rId163"/>
    <p:sldId id="416" r:id="rId164"/>
    <p:sldId id="417" r:id="rId165"/>
    <p:sldId id="418" r:id="rId166"/>
    <p:sldId id="419" r:id="rId167"/>
    <p:sldId id="420" r:id="rId168"/>
    <p:sldId id="421" r:id="rId169"/>
    <p:sldId id="422" r:id="rId170"/>
    <p:sldId id="423" r:id="rId171"/>
    <p:sldId id="424" r:id="rId172"/>
    <p:sldId id="425" r:id="rId173"/>
    <p:sldId id="426" r:id="rId174"/>
    <p:sldId id="427" r:id="rId175"/>
    <p:sldId id="428" r:id="rId176"/>
    <p:sldId id="429" r:id="rId177"/>
    <p:sldId id="430" r:id="rId178"/>
    <p:sldId id="431" r:id="rId179"/>
    <p:sldId id="432" r:id="rId180"/>
    <p:sldId id="433" r:id="rId181"/>
    <p:sldId id="434" r:id="rId182"/>
    <p:sldId id="435" r:id="rId183"/>
    <p:sldId id="436" r:id="rId184"/>
    <p:sldId id="437" r:id="rId185"/>
    <p:sldId id="438" r:id="rId186"/>
    <p:sldId id="439" r:id="rId187"/>
    <p:sldId id="440" r:id="rId188"/>
    <p:sldId id="441" r:id="rId189"/>
    <p:sldId id="442" r:id="rId190"/>
    <p:sldId id="443" r:id="rId191"/>
    <p:sldId id="444" r:id="rId192"/>
    <p:sldId id="445" r:id="rId193"/>
    <p:sldId id="446" r:id="rId194"/>
    <p:sldId id="447" r:id="rId195"/>
    <p:sldId id="448" r:id="rId196"/>
    <p:sldId id="449" r:id="rId197"/>
    <p:sldId id="450" r:id="rId198"/>
    <p:sldId id="451" r:id="rId199"/>
    <p:sldId id="452" r:id="rId200"/>
    <p:sldId id="453" r:id="rId201"/>
    <p:sldId id="454" r:id="rId202"/>
    <p:sldId id="455" r:id="rId203"/>
    <p:sldId id="456" r:id="rId204"/>
    <p:sldId id="457" r:id="rId205"/>
    <p:sldId id="458" r:id="rId206"/>
    <p:sldId id="459" r:id="rId207"/>
    <p:sldId id="460" r:id="rId208"/>
    <p:sldId id="461" r:id="rId209"/>
    <p:sldId id="462" r:id="rId210"/>
    <p:sldId id="463" r:id="rId211"/>
    <p:sldId id="464" r:id="rId212"/>
    <p:sldId id="465" r:id="rId213"/>
    <p:sldId id="466" r:id="rId214"/>
    <p:sldId id="467" r:id="rId215"/>
    <p:sldId id="468" r:id="rId216"/>
    <p:sldId id="469" r:id="rId217"/>
    <p:sldId id="470" r:id="rId218"/>
    <p:sldId id="471" r:id="rId219"/>
    <p:sldId id="472" r:id="rId220"/>
    <p:sldId id="473" r:id="rId221"/>
    <p:sldId id="474" r:id="rId222"/>
    <p:sldId id="475" r:id="rId223"/>
    <p:sldId id="476" r:id="rId224"/>
    <p:sldId id="477" r:id="rId225"/>
    <p:sldId id="478" r:id="rId226"/>
    <p:sldId id="479" r:id="rId227"/>
    <p:sldId id="480" r:id="rId228"/>
    <p:sldId id="481" r:id="rId229"/>
    <p:sldId id="482" r:id="rId230"/>
    <p:sldId id="483" r:id="rId231"/>
    <p:sldId id="484" r:id="rId232"/>
    <p:sldId id="485" r:id="rId233"/>
    <p:sldId id="486" r:id="rId234"/>
    <p:sldId id="487" r:id="rId235"/>
    <p:sldId id="488" r:id="rId236"/>
    <p:sldId id="489" r:id="rId237"/>
    <p:sldId id="490" r:id="rId238"/>
    <p:sldId id="491" r:id="rId239"/>
    <p:sldId id="492" r:id="rId240"/>
    <p:sldId id="493" r:id="rId241"/>
    <p:sldId id="495" r:id="rId243"/>
    <p:sldId id="496" r:id="rId244"/>
    <p:sldId id="319" r:id="rId65"/>
  </p:sldIdLst>
  <p:notesMasterIdLst>
    <p:notesMasterId r:id="rId6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20" Type="http://schemas.openxmlformats.org/officeDocument/2006/relationships/slide" Target="slides/slide14.xml"/><Relationship Id="rId59" Type="http://schemas.openxmlformats.org/officeDocument/2006/relationships/slide" Target="slides/slide7.xml"/><Relationship Id="rId60" Type="http://schemas.openxmlformats.org/officeDocument/2006/relationships/slide" Target="slides/slide6.xml"/><Relationship Id="rId65" Type="http://schemas.openxmlformats.org/officeDocument/2006/relationships/slide" Target="slides/slide176.xml"/><Relationship Id="rId66" Type="http://schemas.openxmlformats.org/officeDocument/2006/relationships/notesMaster" Target="notesMasters/notesMaster1.xml"/><Relationship Id="rId67" Type="http://schemas.openxmlformats.org/officeDocument/2006/relationships/presProps" Target="presProps.xml"/><Relationship Id="rId68" Type="http://schemas.openxmlformats.org/officeDocument/2006/relationships/viewProps" Target="viewProps.xml"/><Relationship Id="rId69" Type="http://schemas.openxmlformats.org/officeDocument/2006/relationships/theme" Target="theme/theme1.xml"/><Relationship Id="rId70" Type="http://schemas.openxmlformats.org/officeDocument/2006/relationships/tableStyles" Target="tableStyles.xml"/><Relationship Id="rId77" Type="http://schemas.openxmlformats.org/officeDocument/2006/relationships/slide" Target="slides/slide8.xml"/><Relationship Id="rId78" Type="http://schemas.openxmlformats.org/officeDocument/2006/relationships/slide" Target="slides/slide9.xml"/><Relationship Id="rId79" Type="http://schemas.openxmlformats.org/officeDocument/2006/relationships/slide" Target="slides/slide10.xml"/><Relationship Id="rId80" Type="http://schemas.openxmlformats.org/officeDocument/2006/relationships/slide" Target="slides/slide11.xml"/><Relationship Id="rId81" Type="http://schemas.openxmlformats.org/officeDocument/2006/relationships/slide" Target="slides/slide12.xml"/><Relationship Id="rId82" Type="http://schemas.openxmlformats.org/officeDocument/2006/relationships/slide" Target="slides/slide13.xml"/><Relationship Id="rId83" Type="http://schemas.openxmlformats.org/officeDocument/2006/relationships/slide" Target="slides/slide15.xml"/><Relationship Id="rId84" Type="http://schemas.openxmlformats.org/officeDocument/2006/relationships/slide" Target="slides/slide16.xml"/><Relationship Id="rId85" Type="http://schemas.openxmlformats.org/officeDocument/2006/relationships/slide" Target="slides/slide17.xml"/><Relationship Id="rId86" Type="http://schemas.openxmlformats.org/officeDocument/2006/relationships/slide" Target="slides/slide18.xml"/><Relationship Id="rId87" Type="http://schemas.openxmlformats.org/officeDocument/2006/relationships/slide" Target="slides/slide19.xml"/><Relationship Id="rId88" Type="http://schemas.openxmlformats.org/officeDocument/2006/relationships/slide" Target="slides/slide20.xml"/><Relationship Id="rId89" Type="http://schemas.openxmlformats.org/officeDocument/2006/relationships/slide" Target="slides/slide21.xml"/><Relationship Id="rId90" Type="http://schemas.openxmlformats.org/officeDocument/2006/relationships/slide" Target="slides/slide22.xml"/><Relationship Id="rId91" Type="http://schemas.openxmlformats.org/officeDocument/2006/relationships/slide" Target="slides/slide23.xml"/><Relationship Id="rId92" Type="http://schemas.openxmlformats.org/officeDocument/2006/relationships/slide" Target="slides/slide24.xml"/><Relationship Id="rId93" Type="http://schemas.openxmlformats.org/officeDocument/2006/relationships/slide" Target="slides/slide25.xml"/><Relationship Id="rId94" Type="http://schemas.openxmlformats.org/officeDocument/2006/relationships/slide" Target="slides/slide26.xml"/><Relationship Id="rId95" Type="http://schemas.openxmlformats.org/officeDocument/2006/relationships/slide" Target="slides/slide27.xml"/><Relationship Id="rId96" Type="http://schemas.openxmlformats.org/officeDocument/2006/relationships/slide" Target="slides/slide28.xml"/><Relationship Id="rId97" Type="http://schemas.openxmlformats.org/officeDocument/2006/relationships/slide" Target="slides/slide29.xml"/><Relationship Id="rId98" Type="http://schemas.openxmlformats.org/officeDocument/2006/relationships/slide" Target="slides/slide30.xml"/><Relationship Id="rId99" Type="http://schemas.openxmlformats.org/officeDocument/2006/relationships/slide" Target="slides/slide31.xml"/><Relationship Id="rId100" Type="http://schemas.openxmlformats.org/officeDocument/2006/relationships/slide" Target="slides/slide32.xml"/><Relationship Id="rId101" Type="http://schemas.openxmlformats.org/officeDocument/2006/relationships/slide" Target="slides/slide33.xml"/><Relationship Id="rId102" Type="http://schemas.openxmlformats.org/officeDocument/2006/relationships/slide" Target="slides/slide34.xml"/><Relationship Id="rId103" Type="http://schemas.openxmlformats.org/officeDocument/2006/relationships/slide" Target="slides/slide35.xml"/><Relationship Id="rId104" Type="http://schemas.openxmlformats.org/officeDocument/2006/relationships/slide" Target="slides/slide36.xml"/><Relationship Id="rId105" Type="http://schemas.openxmlformats.org/officeDocument/2006/relationships/slide" Target="slides/slide37.xml"/><Relationship Id="rId106" Type="http://schemas.openxmlformats.org/officeDocument/2006/relationships/slide" Target="slides/slide38.xml"/><Relationship Id="rId107" Type="http://schemas.openxmlformats.org/officeDocument/2006/relationships/slide" Target="slides/slide39.xml"/><Relationship Id="rId108" Type="http://schemas.openxmlformats.org/officeDocument/2006/relationships/slide" Target="slides/slide40.xml"/><Relationship Id="rId109" Type="http://schemas.openxmlformats.org/officeDocument/2006/relationships/slide" Target="slides/slide41.xml"/><Relationship Id="rId110" Type="http://schemas.openxmlformats.org/officeDocument/2006/relationships/slide" Target="slides/slide42.xml"/><Relationship Id="rId111" Type="http://schemas.openxmlformats.org/officeDocument/2006/relationships/slide" Target="slides/slide43.xml"/><Relationship Id="rId112" Type="http://schemas.openxmlformats.org/officeDocument/2006/relationships/slide" Target="slides/slide44.xml"/><Relationship Id="rId113" Type="http://schemas.openxmlformats.org/officeDocument/2006/relationships/slide" Target="slides/slide45.xml"/><Relationship Id="rId114" Type="http://schemas.openxmlformats.org/officeDocument/2006/relationships/slide" Target="slides/slide46.xml"/><Relationship Id="rId115" Type="http://schemas.openxmlformats.org/officeDocument/2006/relationships/slide" Target="slides/slide47.xml"/><Relationship Id="rId116" Type="http://schemas.openxmlformats.org/officeDocument/2006/relationships/slide" Target="slides/slide48.xml"/><Relationship Id="rId117" Type="http://schemas.openxmlformats.org/officeDocument/2006/relationships/slide" Target="slides/slide49.xml"/><Relationship Id="rId118" Type="http://schemas.openxmlformats.org/officeDocument/2006/relationships/slide" Target="slides/slide50.xml"/><Relationship Id="rId119" Type="http://schemas.openxmlformats.org/officeDocument/2006/relationships/slide" Target="slides/slide51.xml"/><Relationship Id="rId120" Type="http://schemas.openxmlformats.org/officeDocument/2006/relationships/slide" Target="slides/slide52.xml"/><Relationship Id="rId121" Type="http://schemas.openxmlformats.org/officeDocument/2006/relationships/slide" Target="slides/slide53.xml"/><Relationship Id="rId122" Type="http://schemas.openxmlformats.org/officeDocument/2006/relationships/slide" Target="slides/slide54.xml"/><Relationship Id="rId123" Type="http://schemas.openxmlformats.org/officeDocument/2006/relationships/slide" Target="slides/slide55.xml"/><Relationship Id="rId124" Type="http://schemas.openxmlformats.org/officeDocument/2006/relationships/slide" Target="slides/slide56.xml"/><Relationship Id="rId125" Type="http://schemas.openxmlformats.org/officeDocument/2006/relationships/slide" Target="slides/slide57.xml"/><Relationship Id="rId126" Type="http://schemas.openxmlformats.org/officeDocument/2006/relationships/slide" Target="slides/slide58.xml"/><Relationship Id="rId127" Type="http://schemas.openxmlformats.org/officeDocument/2006/relationships/slide" Target="slides/slide59.xml"/><Relationship Id="rId128" Type="http://schemas.openxmlformats.org/officeDocument/2006/relationships/slide" Target="slides/slide60.xml"/><Relationship Id="rId129" Type="http://schemas.openxmlformats.org/officeDocument/2006/relationships/slide" Target="slides/slide61.xml"/><Relationship Id="rId130" Type="http://schemas.openxmlformats.org/officeDocument/2006/relationships/slide" Target="slides/slide62.xml"/><Relationship Id="rId131" Type="http://schemas.openxmlformats.org/officeDocument/2006/relationships/slide" Target="slides/slide63.xml"/><Relationship Id="rId132" Type="http://schemas.openxmlformats.org/officeDocument/2006/relationships/slide" Target="slides/slide64.xml"/><Relationship Id="rId133" Type="http://schemas.openxmlformats.org/officeDocument/2006/relationships/slide" Target="slides/slide65.xml"/><Relationship Id="rId134" Type="http://schemas.openxmlformats.org/officeDocument/2006/relationships/slide" Target="slides/slide66.xml"/><Relationship Id="rId135" Type="http://schemas.openxmlformats.org/officeDocument/2006/relationships/slide" Target="slides/slide67.xml"/><Relationship Id="rId136" Type="http://schemas.openxmlformats.org/officeDocument/2006/relationships/slide" Target="slides/slide68.xml"/><Relationship Id="rId137" Type="http://schemas.openxmlformats.org/officeDocument/2006/relationships/slide" Target="slides/slide69.xml"/><Relationship Id="rId138" Type="http://schemas.openxmlformats.org/officeDocument/2006/relationships/slide" Target="slides/slide70.xml"/><Relationship Id="rId139" Type="http://schemas.openxmlformats.org/officeDocument/2006/relationships/slide" Target="slides/slide71.xml"/><Relationship Id="rId140" Type="http://schemas.openxmlformats.org/officeDocument/2006/relationships/slide" Target="slides/slide72.xml"/><Relationship Id="rId141" Type="http://schemas.openxmlformats.org/officeDocument/2006/relationships/slide" Target="slides/slide73.xml"/><Relationship Id="rId142" Type="http://schemas.openxmlformats.org/officeDocument/2006/relationships/slide" Target="slides/slide74.xml"/><Relationship Id="rId143" Type="http://schemas.openxmlformats.org/officeDocument/2006/relationships/slide" Target="slides/slide75.xml"/><Relationship Id="rId144" Type="http://schemas.openxmlformats.org/officeDocument/2006/relationships/slide" Target="slides/slide76.xml"/><Relationship Id="rId145" Type="http://schemas.openxmlformats.org/officeDocument/2006/relationships/slide" Target="slides/slide77.xml"/><Relationship Id="rId146" Type="http://schemas.openxmlformats.org/officeDocument/2006/relationships/slide" Target="slides/slide78.xml"/><Relationship Id="rId147" Type="http://schemas.openxmlformats.org/officeDocument/2006/relationships/slide" Target="slides/slide79.xml"/><Relationship Id="rId148" Type="http://schemas.openxmlformats.org/officeDocument/2006/relationships/slide" Target="slides/slide80.xml"/><Relationship Id="rId149" Type="http://schemas.openxmlformats.org/officeDocument/2006/relationships/slide" Target="slides/slide81.xml"/><Relationship Id="rId150" Type="http://schemas.openxmlformats.org/officeDocument/2006/relationships/slide" Target="slides/slide82.xml"/><Relationship Id="rId151" Type="http://schemas.openxmlformats.org/officeDocument/2006/relationships/slide" Target="slides/slide83.xml"/><Relationship Id="rId152" Type="http://schemas.openxmlformats.org/officeDocument/2006/relationships/slide" Target="slides/slide84.xml"/><Relationship Id="rId153" Type="http://schemas.openxmlformats.org/officeDocument/2006/relationships/slide" Target="slides/slide85.xml"/><Relationship Id="rId154" Type="http://schemas.openxmlformats.org/officeDocument/2006/relationships/slide" Target="slides/slide86.xml"/><Relationship Id="rId155" Type="http://schemas.openxmlformats.org/officeDocument/2006/relationships/slide" Target="slides/slide87.xml"/><Relationship Id="rId156" Type="http://schemas.openxmlformats.org/officeDocument/2006/relationships/slide" Target="slides/slide88.xml"/><Relationship Id="rId157" Type="http://schemas.openxmlformats.org/officeDocument/2006/relationships/slide" Target="slides/slide89.xml"/><Relationship Id="rId158" Type="http://schemas.openxmlformats.org/officeDocument/2006/relationships/slide" Target="slides/slide90.xml"/><Relationship Id="rId159" Type="http://schemas.openxmlformats.org/officeDocument/2006/relationships/slide" Target="slides/slide91.xml"/><Relationship Id="rId160" Type="http://schemas.openxmlformats.org/officeDocument/2006/relationships/slide" Target="slides/slide92.xml"/><Relationship Id="rId161" Type="http://schemas.openxmlformats.org/officeDocument/2006/relationships/slide" Target="slides/slide93.xml"/><Relationship Id="rId162" Type="http://schemas.openxmlformats.org/officeDocument/2006/relationships/slide" Target="slides/slide94.xml"/><Relationship Id="rId163" Type="http://schemas.openxmlformats.org/officeDocument/2006/relationships/slide" Target="slides/slide95.xml"/><Relationship Id="rId164" Type="http://schemas.openxmlformats.org/officeDocument/2006/relationships/slide" Target="slides/slide96.xml"/><Relationship Id="rId165" Type="http://schemas.openxmlformats.org/officeDocument/2006/relationships/slide" Target="slides/slide97.xml"/><Relationship Id="rId166" Type="http://schemas.openxmlformats.org/officeDocument/2006/relationships/slide" Target="slides/slide98.xml"/><Relationship Id="rId167" Type="http://schemas.openxmlformats.org/officeDocument/2006/relationships/slide" Target="slides/slide99.xml"/><Relationship Id="rId168" Type="http://schemas.openxmlformats.org/officeDocument/2006/relationships/slide" Target="slides/slide100.xml"/><Relationship Id="rId169" Type="http://schemas.openxmlformats.org/officeDocument/2006/relationships/slide" Target="slides/slide101.xml"/><Relationship Id="rId170" Type="http://schemas.openxmlformats.org/officeDocument/2006/relationships/slide" Target="slides/slide102.xml"/><Relationship Id="rId171" Type="http://schemas.openxmlformats.org/officeDocument/2006/relationships/slide" Target="slides/slide103.xml"/><Relationship Id="rId172" Type="http://schemas.openxmlformats.org/officeDocument/2006/relationships/slide" Target="slides/slide104.xml"/><Relationship Id="rId173" Type="http://schemas.openxmlformats.org/officeDocument/2006/relationships/slide" Target="slides/slide105.xml"/><Relationship Id="rId174" Type="http://schemas.openxmlformats.org/officeDocument/2006/relationships/slide" Target="slides/slide106.xml"/><Relationship Id="rId175" Type="http://schemas.openxmlformats.org/officeDocument/2006/relationships/slide" Target="slides/slide107.xml"/><Relationship Id="rId176" Type="http://schemas.openxmlformats.org/officeDocument/2006/relationships/slide" Target="slides/slide108.xml"/><Relationship Id="rId177" Type="http://schemas.openxmlformats.org/officeDocument/2006/relationships/slide" Target="slides/slide109.xml"/><Relationship Id="rId178" Type="http://schemas.openxmlformats.org/officeDocument/2006/relationships/slide" Target="slides/slide110.xml"/><Relationship Id="rId179" Type="http://schemas.openxmlformats.org/officeDocument/2006/relationships/slide" Target="slides/slide111.xml"/><Relationship Id="rId180" Type="http://schemas.openxmlformats.org/officeDocument/2006/relationships/slide" Target="slides/slide112.xml"/><Relationship Id="rId181" Type="http://schemas.openxmlformats.org/officeDocument/2006/relationships/slide" Target="slides/slide113.xml"/><Relationship Id="rId182" Type="http://schemas.openxmlformats.org/officeDocument/2006/relationships/slide" Target="slides/slide114.xml"/><Relationship Id="rId183" Type="http://schemas.openxmlformats.org/officeDocument/2006/relationships/slide" Target="slides/slide115.xml"/><Relationship Id="rId184" Type="http://schemas.openxmlformats.org/officeDocument/2006/relationships/slide" Target="slides/slide116.xml"/><Relationship Id="rId185" Type="http://schemas.openxmlformats.org/officeDocument/2006/relationships/slide" Target="slides/slide117.xml"/><Relationship Id="rId186" Type="http://schemas.openxmlformats.org/officeDocument/2006/relationships/slide" Target="slides/slide118.xml"/><Relationship Id="rId187" Type="http://schemas.openxmlformats.org/officeDocument/2006/relationships/slide" Target="slides/slide119.xml"/><Relationship Id="rId188" Type="http://schemas.openxmlformats.org/officeDocument/2006/relationships/slide" Target="slides/slide120.xml"/><Relationship Id="rId189" Type="http://schemas.openxmlformats.org/officeDocument/2006/relationships/slide" Target="slides/slide121.xml"/><Relationship Id="rId190" Type="http://schemas.openxmlformats.org/officeDocument/2006/relationships/slide" Target="slides/slide122.xml"/><Relationship Id="rId191" Type="http://schemas.openxmlformats.org/officeDocument/2006/relationships/slide" Target="slides/slide123.xml"/><Relationship Id="rId192" Type="http://schemas.openxmlformats.org/officeDocument/2006/relationships/slide" Target="slides/slide124.xml"/><Relationship Id="rId193" Type="http://schemas.openxmlformats.org/officeDocument/2006/relationships/slide" Target="slides/slide125.xml"/><Relationship Id="rId194" Type="http://schemas.openxmlformats.org/officeDocument/2006/relationships/slide" Target="slides/slide126.xml"/><Relationship Id="rId195" Type="http://schemas.openxmlformats.org/officeDocument/2006/relationships/slide" Target="slides/slide127.xml"/><Relationship Id="rId196" Type="http://schemas.openxmlformats.org/officeDocument/2006/relationships/slide" Target="slides/slide128.xml"/><Relationship Id="rId197" Type="http://schemas.openxmlformats.org/officeDocument/2006/relationships/slide" Target="slides/slide129.xml"/><Relationship Id="rId198" Type="http://schemas.openxmlformats.org/officeDocument/2006/relationships/slide" Target="slides/slide130.xml"/><Relationship Id="rId199" Type="http://schemas.openxmlformats.org/officeDocument/2006/relationships/slide" Target="slides/slide131.xml"/><Relationship Id="rId200" Type="http://schemas.openxmlformats.org/officeDocument/2006/relationships/slide" Target="slides/slide132.xml"/><Relationship Id="rId201" Type="http://schemas.openxmlformats.org/officeDocument/2006/relationships/slide" Target="slides/slide133.xml"/><Relationship Id="rId202" Type="http://schemas.openxmlformats.org/officeDocument/2006/relationships/slide" Target="slides/slide134.xml"/><Relationship Id="rId203" Type="http://schemas.openxmlformats.org/officeDocument/2006/relationships/slide" Target="slides/slide135.xml"/><Relationship Id="rId204" Type="http://schemas.openxmlformats.org/officeDocument/2006/relationships/slide" Target="slides/slide136.xml"/><Relationship Id="rId205" Type="http://schemas.openxmlformats.org/officeDocument/2006/relationships/slide" Target="slides/slide137.xml"/><Relationship Id="rId206" Type="http://schemas.openxmlformats.org/officeDocument/2006/relationships/slide" Target="slides/slide138.xml"/><Relationship Id="rId207" Type="http://schemas.openxmlformats.org/officeDocument/2006/relationships/slide" Target="slides/slide139.xml"/><Relationship Id="rId208" Type="http://schemas.openxmlformats.org/officeDocument/2006/relationships/slide" Target="slides/slide140.xml"/><Relationship Id="rId209" Type="http://schemas.openxmlformats.org/officeDocument/2006/relationships/slide" Target="slides/slide141.xml"/><Relationship Id="rId210" Type="http://schemas.openxmlformats.org/officeDocument/2006/relationships/slide" Target="slides/slide142.xml"/><Relationship Id="rId211" Type="http://schemas.openxmlformats.org/officeDocument/2006/relationships/slide" Target="slides/slide143.xml"/><Relationship Id="rId212" Type="http://schemas.openxmlformats.org/officeDocument/2006/relationships/slide" Target="slides/slide144.xml"/><Relationship Id="rId213" Type="http://schemas.openxmlformats.org/officeDocument/2006/relationships/slide" Target="slides/slide145.xml"/><Relationship Id="rId214" Type="http://schemas.openxmlformats.org/officeDocument/2006/relationships/slide" Target="slides/slide146.xml"/><Relationship Id="rId215" Type="http://schemas.openxmlformats.org/officeDocument/2006/relationships/slide" Target="slides/slide147.xml"/><Relationship Id="rId216" Type="http://schemas.openxmlformats.org/officeDocument/2006/relationships/slide" Target="slides/slide148.xml"/><Relationship Id="rId217" Type="http://schemas.openxmlformats.org/officeDocument/2006/relationships/slide" Target="slides/slide149.xml"/><Relationship Id="rId218" Type="http://schemas.openxmlformats.org/officeDocument/2006/relationships/slide" Target="slides/slide150.xml"/><Relationship Id="rId219" Type="http://schemas.openxmlformats.org/officeDocument/2006/relationships/slide" Target="slides/slide151.xml"/><Relationship Id="rId220" Type="http://schemas.openxmlformats.org/officeDocument/2006/relationships/slide" Target="slides/slide152.xml"/><Relationship Id="rId221" Type="http://schemas.openxmlformats.org/officeDocument/2006/relationships/slide" Target="slides/slide153.xml"/><Relationship Id="rId222" Type="http://schemas.openxmlformats.org/officeDocument/2006/relationships/slide" Target="slides/slide154.xml"/><Relationship Id="rId223" Type="http://schemas.openxmlformats.org/officeDocument/2006/relationships/slide" Target="slides/slide155.xml"/><Relationship Id="rId224" Type="http://schemas.openxmlformats.org/officeDocument/2006/relationships/slide" Target="slides/slide156.xml"/><Relationship Id="rId225" Type="http://schemas.openxmlformats.org/officeDocument/2006/relationships/slide" Target="slides/slide157.xml"/><Relationship Id="rId226" Type="http://schemas.openxmlformats.org/officeDocument/2006/relationships/slide" Target="slides/slide158.xml"/><Relationship Id="rId227" Type="http://schemas.openxmlformats.org/officeDocument/2006/relationships/slide" Target="slides/slide159.xml"/><Relationship Id="rId228" Type="http://schemas.openxmlformats.org/officeDocument/2006/relationships/slide" Target="slides/slide160.xml"/><Relationship Id="rId229" Type="http://schemas.openxmlformats.org/officeDocument/2006/relationships/slide" Target="slides/slide161.xml"/><Relationship Id="rId230" Type="http://schemas.openxmlformats.org/officeDocument/2006/relationships/slide" Target="slides/slide162.xml"/><Relationship Id="rId231" Type="http://schemas.openxmlformats.org/officeDocument/2006/relationships/slide" Target="slides/slide163.xml"/><Relationship Id="rId232" Type="http://schemas.openxmlformats.org/officeDocument/2006/relationships/slide" Target="slides/slide164.xml"/><Relationship Id="rId233" Type="http://schemas.openxmlformats.org/officeDocument/2006/relationships/slide" Target="slides/slide165.xml"/><Relationship Id="rId234" Type="http://schemas.openxmlformats.org/officeDocument/2006/relationships/slide" Target="slides/slide166.xml"/><Relationship Id="rId235" Type="http://schemas.openxmlformats.org/officeDocument/2006/relationships/slide" Target="slides/slide167.xml"/><Relationship Id="rId236" Type="http://schemas.openxmlformats.org/officeDocument/2006/relationships/slide" Target="slides/slide168.xml"/><Relationship Id="rId237" Type="http://schemas.openxmlformats.org/officeDocument/2006/relationships/slide" Target="slides/slide169.xml"/><Relationship Id="rId238" Type="http://schemas.openxmlformats.org/officeDocument/2006/relationships/slide" Target="slides/slide170.xml"/><Relationship Id="rId239" Type="http://schemas.openxmlformats.org/officeDocument/2006/relationships/slide" Target="slides/slide171.xml"/><Relationship Id="rId240" Type="http://schemas.openxmlformats.org/officeDocument/2006/relationships/slide" Target="slides/slide172.xml"/><Relationship Id="rId241" Type="http://schemas.openxmlformats.org/officeDocument/2006/relationships/slide" Target="slides/slide173.xml"/><Relationship Id="rId243" Type="http://schemas.openxmlformats.org/officeDocument/2006/relationships/slide" Target="slides/slide174.xml"/><Relationship Id="rId244" Type="http://schemas.openxmlformats.org/officeDocument/2006/relationships/slide" Target="slides/slide17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hyperlink" Target="https://www.linkedin.com/in/angchewhoe/" TargetMode="External"/><Relationship Id="rId8" Type="http://schemas.openxmlformats.org/officeDocument/2006/relationships/image" Target="../media/image-4-7.png"/><Relationship Id="rId9" Type="http://schemas.openxmlformats.org/officeDocument/2006/relationships/hyperlink" Target="https://github.com/alfredang" TargetMode="External"/><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hyperlink" Target="https://tertiarycourses.github.io/C141-Claude-AI-for-Digital-Marketing/"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laude.com/download"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localhost:8080/" TargetMode="External"/><Relationship Id="rId3" Type="http://schemas.openxmlformats.org/officeDocument/2006/relationships/hyperlink" Target="https://tertiarycourses.github.io/C141-Claude-AI-for-Digital-Marketing/"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3-1.png"/><Relationship Id="rId3" Type="http://schemas.openxmlformats.org/officeDocument/2006/relationships/image" Target="../media/image-63-2.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hyperlink" Target="https://exams.tertiaryinfotech.com/practice-exams/anthropic/anthropic-ccao-foundations" TargetMode="Externa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509760" y="-1463040"/>
            <a:ext cx="4206240" cy="4206240"/>
          </a:xfrm>
          <a:prstGeom prst="ellipse">
            <a:avLst/>
          </a:prstGeom>
          <a:solidFill>
            <a:srgbClr val="D97757">
              <a:alpha val="18000"/>
            </a:srgbClr>
          </a:solidFill>
          <a:ln/>
        </p:spPr>
        <p:txBody>
          <a:bodyPr/>
          <a:p/>
        </p:txBody>
      </p:sp>
      <p:sp>
        <p:nvSpPr>
          <p:cNvPr id="3" name="Shape 1"/>
          <p:cNvSpPr/>
          <p:nvPr/>
        </p:nvSpPr>
        <p:spPr>
          <a:xfrm>
            <a:off x="10607040" y="4023360"/>
            <a:ext cx="3108960" cy="3108960"/>
          </a:xfrm>
          <a:prstGeom prst="ellipse">
            <a:avLst/>
          </a:prstGeom>
          <a:solidFill>
            <a:srgbClr val="3A7D7B">
              <a:alpha val="15000"/>
            </a:srgbClr>
          </a:solidFill>
          <a:ln/>
        </p:spPr>
        <p:txBody>
          <a:bodyPr/>
          <a:p/>
        </p:txBody>
      </p:sp>
      <p:sp>
        <p:nvSpPr>
          <p:cNvPr id="4" name="Text 2"/>
          <p:cNvSpPr/>
          <p:nvPr/>
        </p:nvSpPr>
        <p:spPr>
          <a:xfrm>
            <a:off x="822960" y="1371600"/>
            <a:ext cx="9144000" cy="365760"/>
          </a:xfrm>
          <a:prstGeom prst="rect">
            <a:avLst/>
          </a:prstGeom>
          <a:noFill/>
          <a:ln/>
        </p:spPr>
        <p:txBody>
          <a:bodyPr wrap="square" rtlCol="0" anchor="ctr"/>
          <a:lstStyle/>
          <a:p>
            <a:pPr indent="0" marL="0">
              <a:buNone/>
            </a:pPr>
            <a:r>
              <a:rPr lang="en-US" sz="1400" b="1" spc="300" kern="0" dirty="0">
                <a:solidFill>
                  <a:srgbClr val="D97757"/>
                </a:solidFill>
                <a:latin typeface="Calibri" pitchFamily="34" charset="0"/>
                <a:ea typeface="Calibri" pitchFamily="34" charset="-122"/>
                <a:cs typeface="Calibri" pitchFamily="34" charset="-120"/>
              </a:rPr>
              <a:t>NON-WSQ COURSE  •  C141</a:t>
            </a:r>
            <a:endParaRPr lang="en-US" sz="1400" dirty="0"/>
          </a:p>
        </p:txBody>
      </p:sp>
      <p:sp>
        <p:nvSpPr>
          <p:cNvPr id="5" name="Text 3"/>
          <p:cNvSpPr/>
          <p:nvPr/>
        </p:nvSpPr>
        <p:spPr>
          <a:xfrm>
            <a:off x="777240" y="1828800"/>
            <a:ext cx="10241280" cy="1920240"/>
          </a:xfrm>
          <a:prstGeom prst="rect">
            <a:avLst/>
          </a:prstGeom>
          <a:noFill/>
          <a:ln/>
        </p:spPr>
        <p:txBody>
          <a:bodyPr wrap="square" rtlCol="0" anchor="ctr"/>
          <a:lstStyle/>
          <a:p>
            <a:pPr indent="0" marL="0">
              <a:lnSpc>
                <a:spcPct val="100000"/>
              </a:lnSpc>
              <a:buNone/>
            </a:pPr>
            <a:r>
              <a:rPr lang="en-US" sz="5200" b="1" dirty="0">
                <a:solidFill>
                  <a:srgbClr val="FFFFFF"/>
                </a:solidFill>
                <a:latin typeface="Cambria" pitchFamily="34" charset="0"/>
                <a:ea typeface="Cambria" pitchFamily="34" charset="-122"/>
                <a:cs typeface="Cambria" pitchFamily="34" charset="-120"/>
              </a:rPr>
              <a:t>Claude AI</a:t>
            </a:r>
            <a:endParaRPr lang="en-US" sz="5200" dirty="0"/>
          </a:p>
          <a:p>
            <a:pPr indent="0" marL="0">
              <a:lnSpc>
                <a:spcPct val="100000"/>
              </a:lnSpc>
              <a:buNone/>
            </a:pPr>
            <a:r>
              <a:rPr lang="en-US" sz="5200" b="1" dirty="0">
                <a:solidFill>
                  <a:srgbClr val="FFFFFF"/>
                </a:solidFill>
                <a:latin typeface="Cambria" pitchFamily="34" charset="0"/>
                <a:ea typeface="Cambria" pitchFamily="34" charset="-122"/>
                <a:cs typeface="Cambria" pitchFamily="34" charset="-120"/>
              </a:rPr>
              <a:t>for Digital Marketing</a:t>
            </a:r>
            <a:endParaRPr lang="en-US" sz="5200" dirty="0"/>
          </a:p>
        </p:txBody>
      </p:sp>
      <p:sp>
        <p:nvSpPr>
          <p:cNvPr id="6" name="Text 4"/>
          <p:cNvSpPr/>
          <p:nvPr/>
        </p:nvSpPr>
        <p:spPr>
          <a:xfrm>
            <a:off x="822960" y="5212080"/>
            <a:ext cx="10058400" cy="64008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Tertiary Infotech Academy Pte Ltd</a:t>
            </a:r>
            <a:endParaRPr lang="en-US" sz="1500" dirty="0"/>
          </a:p>
          <a:p>
            <a:pPr indent="0" marL="0">
              <a:buNone/>
            </a:pPr>
            <a:r>
              <a:rPr lang="en-US" sz="1300" dirty="0">
                <a:solidFill>
                  <a:srgbClr val="B9B4A9"/>
                </a:solidFill>
                <a:latin typeface="Calibri" pitchFamily="34" charset="0"/>
                <a:ea typeface="Calibri" pitchFamily="34" charset="-122"/>
                <a:cs typeface="Calibri" pitchFamily="34" charset="-120"/>
              </a:rPr>
              <a:t>UEN: 201200696W</a:t>
            </a:r>
            <a:endParaRPr lang="en-US" sz="1500" dirty="0"/>
          </a:p>
        </p:txBody>
      </p:sp>
      <p:sp>
        <p:nvSpPr>
          <p:cNvPr id="7" name="Text 5"/>
          <p:cNvSpPr/>
          <p:nvPr/>
        </p:nvSpPr>
        <p:spPr>
          <a:xfrm>
            <a:off x="822960" y="6172200"/>
            <a:ext cx="10515600" cy="320040"/>
          </a:xfrm>
          <a:prstGeom prst="rect">
            <a:avLst/>
          </a:prstGeom>
          <a:noFill/>
          <a:ln/>
        </p:spPr>
        <p:txBody>
          <a:bodyPr wrap="square" rtlCol="0" anchor="ctr"/>
          <a:lstStyle/>
          <a:p>
            <a:pPr indent="0" marL="0">
              <a:buNone/>
            </a:pPr>
            <a:r>
              <a:rPr lang="en-US" sz="1200" dirty="0">
                <a:solidFill>
                  <a:srgbClr val="B9B4A9"/>
                </a:solidFill>
                <a:latin typeface="Calibri" pitchFamily="34" charset="0"/>
                <a:ea typeface="Calibri" pitchFamily="34" charset="-122"/>
                <a:cs typeface="Calibri" pitchFamily="34" charset="-120"/>
              </a:rPr>
              <a:t>www.tertiarycourses.com.sg   |   enquiry@tertiaryinfotech.com   |   +65 6100 0613</a:t>
            </a:r>
            <a:endParaRPr lang="en-US" sz="1200" dirty="0"/>
          </a:p>
        </p:txBody>
      </p:sp>
      <p:sp>
        <p:nvSpPr>
          <p:cNvPr id="8" name="Text 6"/>
          <p:cNvSpPr/>
          <p:nvPr/>
        </p:nvSpPr>
        <p:spPr>
          <a:xfrm>
            <a:off x="8778875" y="1371600"/>
            <a:ext cx="2864180" cy="365760"/>
          </a:xfrm>
          <a:prstGeom prst="rect">
            <a:avLst/>
          </a:prstGeom>
          <a:noFill/>
          <a:ln/>
        </p:spPr>
        <p:txBody>
          <a:bodyPr wrap="square" rtlCol="0" anchor="ctr"/>
          <a:lstStyle/>
          <a:p>
            <a:pPr algn="r" indent="0" marL="0">
              <a:buNone/>
            </a:pPr>
            <a:r>
              <a:rPr lang="en-US" sz="1300" dirty="0">
                <a:solidFill>
                  <a:srgbClr val="B9B4A9"/>
                </a:solidFill>
                <a:latin typeface="Calibri" pitchFamily="34" charset="0"/>
                <a:ea typeface="Calibri" pitchFamily="34" charset="-122"/>
                <a:cs typeface="Calibri" pitchFamily="34" charset="-120"/>
              </a:rPr>
              <a:t>Version 3.0  ·  12 Oct 2026</a:t>
            </a:r>
            <a:endParaRPr lang="en-US" sz="1300" dirty="0"/>
          </a:p>
        </p:txBody>
      </p:sp>
      <p:sp>
        <p:nvSpPr>
          <p:cNvPr id="9" name="Text 7"/>
          <p:cNvSpPr/>
          <p:nvPr/>
        </p:nvSpPr>
        <p:spPr>
          <a:xfrm>
            <a:off x="7162495" y="6355080"/>
            <a:ext cx="457200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 Tertiary Infotech Academy Pte Ltd</a:t>
            </a:r>
            <a:endParaRPr lang="en-US" sz="900" dirty="0"/>
          </a:p>
        </p:txBody>
      </p:sp>
      <p:sp>
        <p:nvSpPr>
          <p:cNvPr id="13" name="TextBox 12"/>
          <p:cNvSpPr txBox="1"/>
          <p:nvPr/>
        </p:nvSpPr>
        <p:spPr>
          <a:xfrm>
            <a:off x="822960" y="4526280"/>
            <a:ext cx="9601200" cy="640080"/>
          </a:xfrm>
          <a:prstGeom prst="rect">
            <a:avLst/>
          </a:prstGeom>
          <a:noFill/>
        </p:spPr>
        <p:txBody>
          <a:bodyPr wrap="square" lIns="18288" rIns="18288" tIns="9144" bIns="9144">
            <a:spAutoFit/>
          </a:bodyPr>
          <a:lstStyle/>
          <a:p>
            <a:pPr>
              <a:lnSpc>
                <a:spcPct val="100000"/>
              </a:lnSpc>
              <a:defRPr sz="1300" b="0">
                <a:solidFill>
                  <a:srgbClr val="C9C4B9"/>
                </a:solidFill>
                <a:latin typeface="Calibri"/>
              </a:defRPr>
            </a:pPr>
            <a:r>
              <a:t>C141 · Non-WSQ course</a:t>
            </a:r>
          </a:p>
          <a:p>
            <a:pPr>
              <a:lnSpc>
                <a:spcPct val="100000"/>
              </a:lnSpc>
              <a:defRPr sz="1300" b="0">
                <a:solidFill>
                  <a:srgbClr val="C9C4B9"/>
                </a:solidFill>
                <a:latin typeface="Calibri"/>
              </a:defRPr>
            </a:pPr>
            <a:r>
              <a:t>2 days / 15 hours · 9:30am – 5:30pm · 7.5 instructional hours per day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About the Trainer</a:t>
            </a:r>
            <a:endParaRPr lang="en-US" sz="3000" dirty="0"/>
          </a:p>
        </p:txBody>
      </p:sp>
      <p:sp>
        <p:nvSpPr>
          <p:cNvPr id="4" name="Shape 2"/>
          <p:cNvSpPr/>
          <p:nvPr/>
        </p:nvSpPr>
        <p:spPr>
          <a:xfrm>
            <a:off x="548640" y="1737360"/>
            <a:ext cx="3291840" cy="3291840"/>
          </a:xfrm>
          <a:prstGeom prst="roundRect">
            <a:avLst>
              <a:gd name="adj" fmla="val 333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1874520" y="2103120"/>
            <a:ext cx="640080" cy="64008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2029968" y="2258568"/>
            <a:ext cx="329184" cy="329184"/>
          </a:xfrm>
          <a:prstGeom prst="rect">
            <a:avLst/>
          </a:prstGeom>
        </p:spPr>
      </p:pic>
      <p:sp>
        <p:nvSpPr>
          <p:cNvPr id="7" name="Text 4"/>
          <p:cNvSpPr/>
          <p:nvPr/>
        </p:nvSpPr>
        <p:spPr>
          <a:xfrm>
            <a:off x="548640" y="2926080"/>
            <a:ext cx="3291840" cy="54864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 Trainer Name ]</a:t>
            </a:r>
            <a:endParaRPr lang="en-US" sz="2000" dirty="0"/>
          </a:p>
        </p:txBody>
      </p:sp>
      <p:sp>
        <p:nvSpPr>
          <p:cNvPr id="8" name="Text 5"/>
          <p:cNvSpPr/>
          <p:nvPr/>
        </p:nvSpPr>
        <p:spPr>
          <a:xfrm>
            <a:off x="548640" y="3429000"/>
            <a:ext cx="3291840" cy="365760"/>
          </a:xfrm>
          <a:prstGeom prst="rect">
            <a:avLst/>
          </a:prstGeom>
          <a:noFill/>
          <a:ln/>
        </p:spPr>
        <p:txBody>
          <a:bodyPr wrap="square" rtlCol="0" anchor="ctr"/>
          <a:lstStyle/>
          <a:p>
            <a:pPr algn="ctr" indent="0" marL="0">
              <a:buNone/>
            </a:pPr>
            <a:r>
              <a:rPr lang="en-US" sz="1300" dirty="0">
                <a:solidFill>
                  <a:srgbClr val="D97757"/>
                </a:solidFill>
                <a:latin typeface="Calibri" pitchFamily="34" charset="0"/>
                <a:ea typeface="Calibri" pitchFamily="34" charset="-122"/>
                <a:cs typeface="Calibri" pitchFamily="34" charset="-120"/>
              </a:rPr>
              <a:t>[ Title / Role ]</a:t>
            </a:r>
            <a:endParaRPr lang="en-US" sz="1300" dirty="0"/>
          </a:p>
        </p:txBody>
      </p:sp>
      <p:sp>
        <p:nvSpPr>
          <p:cNvPr id="9" name="Shape 6"/>
          <p:cNvSpPr/>
          <p:nvPr/>
        </p:nvSpPr>
        <p:spPr>
          <a:xfrm>
            <a:off x="4206240" y="1828800"/>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4329684" y="1952244"/>
            <a:ext cx="256032" cy="256032"/>
          </a:xfrm>
          <a:prstGeom prst="rect">
            <a:avLst/>
          </a:prstGeom>
        </p:spPr>
      </p:pic>
      <p:sp>
        <p:nvSpPr>
          <p:cNvPr id="11" name="Text 7"/>
          <p:cNvSpPr/>
          <p:nvPr/>
        </p:nvSpPr>
        <p:spPr>
          <a:xfrm>
            <a:off x="4892040" y="1783080"/>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Qualifications:  ____________________________________________</a:t>
            </a:r>
            <a:endParaRPr lang="en-US" sz="1400" dirty="0"/>
          </a:p>
        </p:txBody>
      </p:sp>
      <p:sp>
        <p:nvSpPr>
          <p:cNvPr id="12" name="Shape 8"/>
          <p:cNvSpPr/>
          <p:nvPr/>
        </p:nvSpPr>
        <p:spPr>
          <a:xfrm>
            <a:off x="4206240" y="2670048"/>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3" name="Image 2" descr="preencoded.png">    </p:cNvPr>
          <p:cNvPicPr>
            <a:picLocks noChangeAspect="1"/>
          </p:cNvPicPr>
          <p:nvPr/>
        </p:nvPicPr>
        <p:blipFill>
          <a:blip r:embed="rId3"/>
          <a:stretch>
            <a:fillRect/>
          </a:stretch>
        </p:blipFill>
        <p:spPr>
          <a:xfrm>
            <a:off x="4329684" y="2793492"/>
            <a:ext cx="256032" cy="256032"/>
          </a:xfrm>
          <a:prstGeom prst="rect">
            <a:avLst/>
          </a:prstGeom>
        </p:spPr>
      </p:pic>
      <p:sp>
        <p:nvSpPr>
          <p:cNvPr id="14" name="Text 9"/>
          <p:cNvSpPr/>
          <p:nvPr/>
        </p:nvSpPr>
        <p:spPr>
          <a:xfrm>
            <a:off x="4892040" y="2624328"/>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Expertise:  _________________________________________________</a:t>
            </a:r>
            <a:endParaRPr lang="en-US" sz="1400" dirty="0"/>
          </a:p>
        </p:txBody>
      </p:sp>
      <p:sp>
        <p:nvSpPr>
          <p:cNvPr id="15" name="Shape 10"/>
          <p:cNvSpPr/>
          <p:nvPr/>
        </p:nvSpPr>
        <p:spPr>
          <a:xfrm>
            <a:off x="4206240" y="3511296"/>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6" name="Image 3" descr="preencoded.png">    </p:cNvPr>
          <p:cNvPicPr>
            <a:picLocks noChangeAspect="1"/>
          </p:cNvPicPr>
          <p:nvPr/>
        </p:nvPicPr>
        <p:blipFill>
          <a:blip r:embed="rId4"/>
          <a:stretch>
            <a:fillRect/>
          </a:stretch>
        </p:blipFill>
        <p:spPr>
          <a:xfrm>
            <a:off x="4329684" y="3634740"/>
            <a:ext cx="256032" cy="256032"/>
          </a:xfrm>
          <a:prstGeom prst="rect">
            <a:avLst/>
          </a:prstGeom>
        </p:spPr>
      </p:pic>
      <p:sp>
        <p:nvSpPr>
          <p:cNvPr id="17" name="Text 11"/>
          <p:cNvSpPr/>
          <p:nvPr/>
        </p:nvSpPr>
        <p:spPr>
          <a:xfrm>
            <a:off x="4892040" y="3465576"/>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Experience:  ________________________________________________</a:t>
            </a:r>
            <a:endParaRPr lang="en-US" sz="1400" dirty="0"/>
          </a:p>
        </p:txBody>
      </p:sp>
      <p:sp>
        <p:nvSpPr>
          <p:cNvPr id="18" name="Shape 12"/>
          <p:cNvSpPr/>
          <p:nvPr/>
        </p:nvSpPr>
        <p:spPr>
          <a:xfrm>
            <a:off x="4206240" y="4352544"/>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9" name="Image 4" descr="preencoded.png">    </p:cNvPr>
          <p:cNvPicPr>
            <a:picLocks noChangeAspect="1"/>
          </p:cNvPicPr>
          <p:nvPr/>
        </p:nvPicPr>
        <p:blipFill>
          <a:blip r:embed="rId5"/>
          <a:stretch>
            <a:fillRect/>
          </a:stretch>
        </p:blipFill>
        <p:spPr>
          <a:xfrm>
            <a:off x="4329684" y="4475988"/>
            <a:ext cx="256032" cy="256032"/>
          </a:xfrm>
          <a:prstGeom prst="rect">
            <a:avLst/>
          </a:prstGeom>
        </p:spPr>
      </p:pic>
      <p:sp>
        <p:nvSpPr>
          <p:cNvPr id="20" name="Text 13"/>
          <p:cNvSpPr/>
          <p:nvPr/>
        </p:nvSpPr>
        <p:spPr>
          <a:xfrm>
            <a:off x="4892040" y="4306824"/>
            <a:ext cx="6766560" cy="64008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Contact / Profile:  __________________________________________</a:t>
            </a:r>
            <a:endParaRPr lang="en-US" sz="1400" dirty="0"/>
          </a:p>
        </p:txBody>
      </p:sp>
      <p:sp>
        <p:nvSpPr>
          <p:cNvPr id="21" name="Text 14"/>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2" name="Text 15"/>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C141 · Claude AI for Digital Marketing</a:t>
            </a:r>
            <a:endParaRPr lang="en-US" sz="900" dirty="0"/>
          </a:p>
        </p:txBody>
      </p:sp>
      <p:sp>
        <p:nvSpPr>
          <p:cNvPr id="23" name="Text 16"/>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INTRODUCTION</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About the Trainer</a:t>
            </a:r>
            <a:endParaRPr lang="en-US" sz="3000" dirty="0"/>
          </a:p>
        </p:txBody>
      </p:sp>
      <p:sp>
        <p:nvSpPr>
          <p:cNvPr id="4" name="Shape 2"/>
          <p:cNvSpPr/>
          <p:nvPr/>
        </p:nvSpPr>
        <p:spPr>
          <a:xfrm>
            <a:off x="548640" y="1737360"/>
            <a:ext cx="3291840" cy="3291840"/>
          </a:xfrm>
          <a:prstGeom prst="roundRect">
            <a:avLst>
              <a:gd name="adj" fmla="val 333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1874520" y="2103120"/>
            <a:ext cx="640080" cy="64008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2029968" y="2258568"/>
            <a:ext cx="329184" cy="329184"/>
          </a:xfrm>
          <a:prstGeom prst="rect">
            <a:avLst/>
          </a:prstGeom>
        </p:spPr>
      </p:pic>
      <p:sp>
        <p:nvSpPr>
          <p:cNvPr id="7" name="Text 4"/>
          <p:cNvSpPr/>
          <p:nvPr/>
        </p:nvSpPr>
        <p:spPr>
          <a:xfrm>
            <a:off x="548640" y="2926080"/>
            <a:ext cx="3291840" cy="5486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Dr. Alfred Ang</a:t>
            </a:r>
            <a:endParaRPr lang="en-US" sz="2200" dirty="0"/>
          </a:p>
        </p:txBody>
      </p:sp>
      <p:sp>
        <p:nvSpPr>
          <p:cNvPr id="8" name="Text 5"/>
          <p:cNvSpPr/>
          <p:nvPr/>
        </p:nvSpPr>
        <p:spPr>
          <a:xfrm>
            <a:off x="548640" y="3429000"/>
            <a:ext cx="3291840" cy="365760"/>
          </a:xfrm>
          <a:prstGeom prst="rect">
            <a:avLst/>
          </a:prstGeom>
          <a:noFill/>
          <a:ln/>
        </p:spPr>
        <p:txBody>
          <a:bodyPr wrap="square" rtlCol="0" anchor="ctr"/>
          <a:lstStyle/>
          <a:p>
            <a:pPr algn="ctr" indent="0" marL="0">
              <a:buNone/>
            </a:pPr>
            <a:r>
              <a:rPr lang="en-US" sz="1300" dirty="0">
                <a:solidFill>
                  <a:srgbClr val="D97757"/>
                </a:solidFill>
                <a:latin typeface="Calibri" pitchFamily="34" charset="0"/>
                <a:ea typeface="Calibri" pitchFamily="34" charset="-122"/>
                <a:cs typeface="Calibri" pitchFamily="34" charset="-120"/>
              </a:rPr>
              <a:t>AI Trainer &amp; Engineer</a:t>
            </a:r>
            <a:endParaRPr lang="en-US" sz="1300" dirty="0"/>
          </a:p>
        </p:txBody>
      </p:sp>
      <p:sp>
        <p:nvSpPr>
          <p:cNvPr id="9" name="Shape 6"/>
          <p:cNvSpPr/>
          <p:nvPr/>
        </p:nvSpPr>
        <p:spPr>
          <a:xfrm>
            <a:off x="4206240" y="1828800"/>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0" name="Image 1" descr="preencoded.png">    </p:cNvPr>
          <p:cNvPicPr>
            <a:picLocks noChangeAspect="1"/>
          </p:cNvPicPr>
          <p:nvPr/>
        </p:nvPicPr>
        <p:blipFill>
          <a:blip r:embed="rId2"/>
          <a:stretch>
            <a:fillRect/>
          </a:stretch>
        </p:blipFill>
        <p:spPr>
          <a:xfrm>
            <a:off x="4329684" y="1952244"/>
            <a:ext cx="256032" cy="256032"/>
          </a:xfrm>
          <a:prstGeom prst="rect">
            <a:avLst/>
          </a:prstGeom>
        </p:spPr>
      </p:pic>
      <p:sp>
        <p:nvSpPr>
          <p:cNvPr id="11" name="Text 7"/>
          <p:cNvSpPr/>
          <p:nvPr/>
        </p:nvSpPr>
        <p:spPr>
          <a:xfrm>
            <a:off x="4892040" y="1783080"/>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PhD-qualified trainer specialising in AI, software engineering and developer tooling.</a:t>
            </a:r>
            <a:endParaRPr lang="en-US" sz="1500" dirty="0"/>
          </a:p>
        </p:txBody>
      </p:sp>
      <p:sp>
        <p:nvSpPr>
          <p:cNvPr id="12" name="Shape 8"/>
          <p:cNvSpPr/>
          <p:nvPr/>
        </p:nvSpPr>
        <p:spPr>
          <a:xfrm>
            <a:off x="4206240" y="2633472"/>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3" name="Image 2" descr="preencoded.png">    </p:cNvPr>
          <p:cNvPicPr>
            <a:picLocks noChangeAspect="1"/>
          </p:cNvPicPr>
          <p:nvPr/>
        </p:nvPicPr>
        <p:blipFill>
          <a:blip r:embed="rId3"/>
          <a:stretch>
            <a:fillRect/>
          </a:stretch>
        </p:blipFill>
        <p:spPr>
          <a:xfrm>
            <a:off x="4329684" y="2756916"/>
            <a:ext cx="256032" cy="256032"/>
          </a:xfrm>
          <a:prstGeom prst="rect">
            <a:avLst/>
          </a:prstGeom>
        </p:spPr>
      </p:pic>
      <p:sp>
        <p:nvSpPr>
          <p:cNvPr id="14" name="Text 9"/>
          <p:cNvSpPr/>
          <p:nvPr/>
        </p:nvSpPr>
        <p:spPr>
          <a:xfrm>
            <a:off x="4892040" y="2587752"/>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Builds and integrates AI marketing teams with Claude Cowork and Claude Code.</a:t>
            </a:r>
            <a:endParaRPr lang="en-US" sz="1500" dirty="0"/>
          </a:p>
        </p:txBody>
      </p:sp>
      <p:sp>
        <p:nvSpPr>
          <p:cNvPr id="15" name="Shape 10"/>
          <p:cNvSpPr/>
          <p:nvPr/>
        </p:nvSpPr>
        <p:spPr>
          <a:xfrm>
            <a:off x="4206240" y="3438144"/>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6" name="Image 3" descr="preencoded.png">    </p:cNvPr>
          <p:cNvPicPr>
            <a:picLocks noChangeAspect="1"/>
          </p:cNvPicPr>
          <p:nvPr/>
        </p:nvPicPr>
        <p:blipFill>
          <a:blip r:embed="rId4"/>
          <a:stretch>
            <a:fillRect/>
          </a:stretch>
        </p:blipFill>
        <p:spPr>
          <a:xfrm>
            <a:off x="4329684" y="3561588"/>
            <a:ext cx="256032" cy="256032"/>
          </a:xfrm>
          <a:prstGeom prst="rect">
            <a:avLst/>
          </a:prstGeom>
        </p:spPr>
      </p:pic>
      <p:sp>
        <p:nvSpPr>
          <p:cNvPr id="17" name="Text 11"/>
          <p:cNvSpPr/>
          <p:nvPr/>
        </p:nvSpPr>
        <p:spPr>
          <a:xfrm>
            <a:off x="4892040" y="3392424"/>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Trains professionals across Singapore on practical, project-based AI skills.</a:t>
            </a:r>
            <a:endParaRPr lang="en-US" sz="1500" dirty="0"/>
          </a:p>
        </p:txBody>
      </p:sp>
      <p:sp>
        <p:nvSpPr>
          <p:cNvPr id="18" name="Shape 12"/>
          <p:cNvSpPr/>
          <p:nvPr/>
        </p:nvSpPr>
        <p:spPr>
          <a:xfrm>
            <a:off x="4206240" y="4242816"/>
            <a:ext cx="502920" cy="502920"/>
          </a:xfrm>
          <a:prstGeom prst="ellipse">
            <a:avLst/>
          </a:prstGeom>
          <a:solidFill>
            <a:srgbClr val="3A7D7B"/>
          </a:solidFill>
          <a:ln/>
          <a:effectLst>
            <a:outerShdw sx="100000" sy="100000" kx="0" ky="0" algn="bl" rotWithShape="0" blurRad="101600" dist="38100" dir="5400000">
              <a:srgbClr val="000000">
                <a:alpha val="16000"/>
              </a:srgbClr>
            </a:outerShdw>
          </a:effectLst>
        </p:spPr>
        <p:txBody>
          <a:bodyPr/>
          <a:p/>
        </p:txBody>
      </p:sp>
      <p:pic>
        <p:nvPicPr>
          <p:cNvPr id="19" name="Image 4" descr="preencoded.png">    </p:cNvPr>
          <p:cNvPicPr>
            <a:picLocks noChangeAspect="1"/>
          </p:cNvPicPr>
          <p:nvPr/>
        </p:nvPicPr>
        <p:blipFill>
          <a:blip r:embed="rId5"/>
          <a:stretch>
            <a:fillRect/>
          </a:stretch>
        </p:blipFill>
        <p:spPr>
          <a:xfrm>
            <a:off x="4329684" y="4366260"/>
            <a:ext cx="256032" cy="256032"/>
          </a:xfrm>
          <a:prstGeom prst="rect">
            <a:avLst/>
          </a:prstGeom>
        </p:spPr>
      </p:pic>
      <p:sp>
        <p:nvSpPr>
          <p:cNvPr id="20" name="Text 13"/>
          <p:cNvSpPr/>
          <p:nvPr/>
        </p:nvSpPr>
        <p:spPr>
          <a:xfrm>
            <a:off x="4892040" y="4197096"/>
            <a:ext cx="6766560" cy="82296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Certifications: PMP, AWS, Microsoft, CompTIA, CKA, CKAD.</a:t>
            </a:r>
            <a:endParaRPr lang="en-US" sz="1500" dirty="0"/>
          </a:p>
        </p:txBody>
      </p:sp>
      <p:sp>
        <p:nvSpPr>
          <p:cNvPr id="21" name="Shape 14"/>
          <p:cNvSpPr/>
          <p:nvPr/>
        </p:nvSpPr>
        <p:spPr>
          <a:xfrm>
            <a:off x="4206240" y="5093208"/>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2" name="Image 5" descr="preencoded.png">    </p:cNvPr>
          <p:cNvPicPr>
            <a:picLocks noChangeAspect="1"/>
          </p:cNvPicPr>
          <p:nvPr/>
        </p:nvPicPr>
        <p:blipFill>
          <a:blip r:embed="rId6"/>
          <a:stretch>
            <a:fillRect/>
          </a:stretch>
        </p:blipFill>
        <p:spPr>
          <a:xfrm>
            <a:off x="4320540" y="5207508"/>
            <a:ext cx="274320" cy="274320"/>
          </a:xfrm>
          <a:prstGeom prst="rect">
            <a:avLst/>
          </a:prstGeom>
        </p:spPr>
      </p:pic>
      <p:sp>
        <p:nvSpPr>
          <p:cNvPr id="23" name="Text 15">
            <a:hlinkClick r:id="rId7" tooltip=""/>
          </p:cNvPr>
          <p:cNvSpPr/>
          <p:nvPr/>
        </p:nvSpPr>
        <p:spPr>
          <a:xfrm>
            <a:off x="4892040" y="5047488"/>
            <a:ext cx="6766560" cy="548640"/>
          </a:xfrm>
          <a:prstGeom prst="rect">
            <a:avLst/>
          </a:prstGeom>
          <a:noFill/>
          <a:ln/>
        </p:spPr>
        <p:txBody>
          <a:bodyPr wrap="square" rtlCol="0" anchor="ctr"/>
          <a:lstStyle/>
          <a:p>
            <a:pPr indent="0" marL="0">
              <a:buNone/>
            </a:pPr>
            <a:r>
              <a:rPr lang="en-US" sz="1500" u="sng" dirty="0">
                <a:solidFill>
                  <a:srgbClr val="21201C"/>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linkedin.com/in/angchewhoe</a:t>
            </a:r>
            <a:endParaRPr lang="en-US" sz="1500" dirty="0"/>
          </a:p>
        </p:txBody>
      </p:sp>
      <p:sp>
        <p:nvSpPr>
          <p:cNvPr id="24" name="Shape 16"/>
          <p:cNvSpPr/>
          <p:nvPr/>
        </p:nvSpPr>
        <p:spPr>
          <a:xfrm>
            <a:off x="8229600" y="5093208"/>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5" name="Image 6" descr="preencoded.png">    </p:cNvPr>
          <p:cNvPicPr>
            <a:picLocks noChangeAspect="1"/>
          </p:cNvPicPr>
          <p:nvPr/>
        </p:nvPicPr>
        <p:blipFill>
          <a:blip r:embed="rId8"/>
          <a:stretch>
            <a:fillRect/>
          </a:stretch>
        </p:blipFill>
        <p:spPr>
          <a:xfrm>
            <a:off x="8343900" y="5207508"/>
            <a:ext cx="274320" cy="274320"/>
          </a:xfrm>
          <a:prstGeom prst="rect">
            <a:avLst/>
          </a:prstGeom>
        </p:spPr>
      </p:pic>
      <p:sp>
        <p:nvSpPr>
          <p:cNvPr id="26" name="Text 17">
            <a:hlinkClick r:id="rId9" tooltip=""/>
          </p:cNvPr>
          <p:cNvSpPr/>
          <p:nvPr/>
        </p:nvSpPr>
        <p:spPr>
          <a:xfrm>
            <a:off x="8915400" y="5047488"/>
            <a:ext cx="2743200" cy="548640"/>
          </a:xfrm>
          <a:prstGeom prst="rect">
            <a:avLst/>
          </a:prstGeom>
          <a:noFill/>
          <a:ln/>
        </p:spPr>
        <p:txBody>
          <a:bodyPr wrap="square" rtlCol="0" anchor="ctr"/>
          <a:lstStyle/>
          <a:p>
            <a:pPr indent="0" marL="0">
              <a:buNone/>
            </a:pPr>
            <a:r>
              <a:rPr lang="en-US" sz="1500" u="sng" dirty="0">
                <a:solidFill>
                  <a:srgbClr val="21201C"/>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github.com/alfredang</a:t>
            </a:r>
            <a:endParaRPr lang="en-US" sz="1500" dirty="0"/>
          </a:p>
        </p:txBody>
      </p:sp>
      <p:sp>
        <p:nvSpPr>
          <p:cNvPr id="27" name="Text 18"/>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8" name="Text 19"/>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C141 · Claude AI for Digital Marketing</a:t>
            </a:r>
            <a:endParaRPr lang="en-US" sz="900" dirty="0"/>
          </a:p>
        </p:txBody>
      </p:sp>
      <p:sp>
        <p:nvSpPr>
          <p:cNvPr id="29" name="Text 20"/>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D97757">
              <a:alpha val="17000"/>
            </a:srgbClr>
          </a:solidFill>
          <a:ln/>
        </p:spPr>
        <p:txBody>
          <a:bodyPr/>
          <a:p/>
        </p:txBody>
      </p:sp>
      <p:sp>
        <p:nvSpPr>
          <p:cNvPr id="3" name="Text 1"/>
          <p:cNvSpPr/>
          <p:nvPr/>
        </p:nvSpPr>
        <p:spPr>
          <a:xfrm>
            <a:off x="822960" y="1463040"/>
            <a:ext cx="10058400" cy="365760"/>
          </a:xfrm>
          <a:prstGeom prst="rect">
            <a:avLst/>
          </a:prstGeom>
          <a:noFill/>
          <a:ln/>
        </p:spPr>
        <p:txBody>
          <a:bodyPr wrap="square" rtlCol="0" anchor="ctr"/>
          <a:lstStyle/>
          <a:p>
            <a:pPr indent="0" marL="0">
              <a:buNone/>
            </a:pPr>
            <a:r>
              <a:rPr lang="en-US" sz="1400" b="1" spc="300" kern="0" dirty="0">
                <a:solidFill>
                  <a:srgbClr val="D97757"/>
                </a:solidFill>
                <a:latin typeface="Calibri" pitchFamily="34" charset="0"/>
                <a:ea typeface="Calibri" pitchFamily="34" charset="-122"/>
                <a:cs typeface="Calibri" pitchFamily="34" charset="-120"/>
              </a:rPr>
              <a:t>INTRODUCTION</a:t>
            </a:r>
            <a:endParaRPr lang="en-US" sz="1400" dirty="0"/>
          </a:p>
        </p:txBody>
      </p:sp>
      <p:sp>
        <p:nvSpPr>
          <p:cNvPr id="4" name="Text 2"/>
          <p:cNvSpPr/>
          <p:nvPr/>
        </p:nvSpPr>
        <p:spPr>
          <a:xfrm>
            <a:off x="777240" y="1874520"/>
            <a:ext cx="100584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Let's Know Each Other</a:t>
            </a:r>
            <a:endParaRPr lang="en-US" sz="4000" dirty="0"/>
          </a:p>
        </p:txBody>
      </p:sp>
      <p:sp>
        <p:nvSpPr>
          <p:cNvPr id="5" name="Text 3"/>
          <p:cNvSpPr/>
          <p:nvPr/>
        </p:nvSpPr>
        <p:spPr>
          <a:xfrm>
            <a:off x="822960" y="2926080"/>
            <a:ext cx="10058400" cy="457200"/>
          </a:xfrm>
          <a:prstGeom prst="rect">
            <a:avLst/>
          </a:prstGeom>
          <a:noFill/>
          <a:ln/>
        </p:spPr>
        <p:txBody>
          <a:bodyPr wrap="square" rtlCol="0" anchor="ctr"/>
          <a:lstStyle/>
          <a:p>
            <a:pPr indent="0" marL="0">
              <a:buNone/>
            </a:pPr>
            <a:r>
              <a:rPr lang="en-US" sz="1700" dirty="0">
                <a:solidFill>
                  <a:srgbClr val="C9C4B9"/>
                </a:solidFill>
                <a:latin typeface="Calibri" pitchFamily="34" charset="0"/>
                <a:ea typeface="Calibri" pitchFamily="34" charset="-122"/>
                <a:cs typeface="Calibri" pitchFamily="34" charset="-120"/>
              </a:rPr>
              <a:t>Take a minute to introduce yourself to the class:</a:t>
            </a:r>
            <a:endParaRPr lang="en-US" sz="1700" dirty="0"/>
          </a:p>
        </p:txBody>
      </p:sp>
      <p:sp>
        <p:nvSpPr>
          <p:cNvPr id="6" name="Shape 4"/>
          <p:cNvSpPr/>
          <p:nvPr/>
        </p:nvSpPr>
        <p:spPr>
          <a:xfrm>
            <a:off x="822960"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7" name="Shape 5"/>
          <p:cNvSpPr/>
          <p:nvPr/>
        </p:nvSpPr>
        <p:spPr>
          <a:xfrm>
            <a:off x="1851660"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8" name="Image 0" descr="preencoded.png">    </p:cNvPr>
          <p:cNvPicPr>
            <a:picLocks noChangeAspect="1"/>
          </p:cNvPicPr>
          <p:nvPr/>
        </p:nvPicPr>
        <p:blipFill>
          <a:blip r:embed="rId1"/>
          <a:stretch>
            <a:fillRect/>
          </a:stretch>
        </p:blipFill>
        <p:spPr>
          <a:xfrm>
            <a:off x="1988820" y="4023360"/>
            <a:ext cx="274320" cy="274320"/>
          </a:xfrm>
          <a:prstGeom prst="rect">
            <a:avLst/>
          </a:prstGeom>
        </p:spPr>
      </p:pic>
      <p:sp>
        <p:nvSpPr>
          <p:cNvPr id="9" name="Text 6"/>
          <p:cNvSpPr/>
          <p:nvPr/>
        </p:nvSpPr>
        <p:spPr>
          <a:xfrm>
            <a:off x="960120"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Your name &amp; role</a:t>
            </a:r>
            <a:endParaRPr lang="en-US" sz="1400" dirty="0"/>
          </a:p>
        </p:txBody>
      </p:sp>
      <p:sp>
        <p:nvSpPr>
          <p:cNvPr id="10" name="Shape 7"/>
          <p:cNvSpPr/>
          <p:nvPr/>
        </p:nvSpPr>
        <p:spPr>
          <a:xfrm>
            <a:off x="3593592"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1" name="Shape 8"/>
          <p:cNvSpPr/>
          <p:nvPr/>
        </p:nvSpPr>
        <p:spPr>
          <a:xfrm>
            <a:off x="4622292"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2" name="Image 1" descr="preencoded.png">    </p:cNvPr>
          <p:cNvPicPr>
            <a:picLocks noChangeAspect="1"/>
          </p:cNvPicPr>
          <p:nvPr/>
        </p:nvPicPr>
        <p:blipFill>
          <a:blip r:embed="rId2"/>
          <a:stretch>
            <a:fillRect/>
          </a:stretch>
        </p:blipFill>
        <p:spPr>
          <a:xfrm>
            <a:off x="4759452" y="4023360"/>
            <a:ext cx="274320" cy="274320"/>
          </a:xfrm>
          <a:prstGeom prst="rect">
            <a:avLst/>
          </a:prstGeom>
        </p:spPr>
      </p:pic>
      <p:sp>
        <p:nvSpPr>
          <p:cNvPr id="13" name="Text 9"/>
          <p:cNvSpPr/>
          <p:nvPr/>
        </p:nvSpPr>
        <p:spPr>
          <a:xfrm>
            <a:off x="3730752"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you do day to day</a:t>
            </a:r>
            <a:endParaRPr lang="en-US" sz="1400" dirty="0"/>
          </a:p>
        </p:txBody>
      </p:sp>
      <p:sp>
        <p:nvSpPr>
          <p:cNvPr id="14" name="Shape 10"/>
          <p:cNvSpPr/>
          <p:nvPr/>
        </p:nvSpPr>
        <p:spPr>
          <a:xfrm>
            <a:off x="6364224"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7392924"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7530084" y="4023360"/>
            <a:ext cx="274320" cy="274320"/>
          </a:xfrm>
          <a:prstGeom prst="rect">
            <a:avLst/>
          </a:prstGeom>
        </p:spPr>
      </p:pic>
      <p:sp>
        <p:nvSpPr>
          <p:cNvPr id="17" name="Text 12"/>
          <p:cNvSpPr/>
          <p:nvPr/>
        </p:nvSpPr>
        <p:spPr>
          <a:xfrm>
            <a:off x="6501384"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Your marketing tools today</a:t>
            </a:r>
            <a:endParaRPr lang="en-US" sz="1400" dirty="0"/>
          </a:p>
        </p:txBody>
      </p:sp>
      <p:sp>
        <p:nvSpPr>
          <p:cNvPr id="18" name="Shape 13"/>
          <p:cNvSpPr/>
          <p:nvPr/>
        </p:nvSpPr>
        <p:spPr>
          <a:xfrm>
            <a:off x="9134856" y="3657600"/>
            <a:ext cx="2606040" cy="1554480"/>
          </a:xfrm>
          <a:prstGeom prst="roundRect">
            <a:avLst>
              <a:gd name="adj" fmla="val 5882"/>
            </a:avLst>
          </a:prstGeom>
          <a:solidFill>
            <a:srgbClr val="2E2C26"/>
          </a:solidFill>
          <a:ln/>
          <a:effectLst>
            <a:outerShdw sx="100000" sy="100000" kx="0" ky="0" algn="bl" rotWithShape="0" blurRad="101600" dist="38100" dir="5400000">
              <a:srgbClr val="000000">
                <a:alpha val="16000"/>
              </a:srgbClr>
            </a:outerShdw>
          </a:effectLst>
        </p:spPr>
        <p:txBody>
          <a:bodyPr/>
          <a:p/>
        </p:txBody>
      </p:sp>
      <p:sp>
        <p:nvSpPr>
          <p:cNvPr id="19" name="Shape 14"/>
          <p:cNvSpPr/>
          <p:nvPr/>
        </p:nvSpPr>
        <p:spPr>
          <a:xfrm>
            <a:off x="10163556" y="3886200"/>
            <a:ext cx="548640" cy="54864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0" name="Image 3" descr="preencoded.png">    </p:cNvPr>
          <p:cNvPicPr>
            <a:picLocks noChangeAspect="1"/>
          </p:cNvPicPr>
          <p:nvPr/>
        </p:nvPicPr>
        <p:blipFill>
          <a:blip r:embed="rId4"/>
          <a:stretch>
            <a:fillRect/>
          </a:stretch>
        </p:blipFill>
        <p:spPr>
          <a:xfrm>
            <a:off x="10300716" y="4023360"/>
            <a:ext cx="274320" cy="274320"/>
          </a:xfrm>
          <a:prstGeom prst="rect">
            <a:avLst/>
          </a:prstGeom>
        </p:spPr>
      </p:pic>
      <p:sp>
        <p:nvSpPr>
          <p:cNvPr id="21" name="Text 15"/>
          <p:cNvSpPr/>
          <p:nvPr/>
        </p:nvSpPr>
        <p:spPr>
          <a:xfrm>
            <a:off x="9272016" y="4572000"/>
            <a:ext cx="2331720" cy="5486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What you want from this course</a:t>
            </a:r>
            <a:endParaRPr lang="en-US" sz="1400" dirty="0"/>
          </a:p>
        </p:txBody>
      </p:sp>
      <p:sp>
        <p:nvSpPr>
          <p:cNvPr id="22" name="Text 1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8A867D"/>
                </a:solidFill>
                <a:latin typeface="Calibri" pitchFamily="34" charset="0"/>
                <a:ea typeface="Calibri" pitchFamily="34" charset="-122"/>
                <a:cs typeface="Calibri" pitchFamily="34" charset="-120"/>
              </a:rPr>
              <a:t>© Tertiary Infotech Academy Pte Ltd</a:t>
            </a:r>
            <a:endParaRPr lang="en-US" sz="900" dirty="0"/>
          </a:p>
        </p:txBody>
      </p:sp>
      <p:sp>
        <p:nvSpPr>
          <p:cNvPr id="23" name="Text 1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C141 · Claude AI for Digital Marketing</a:t>
            </a:r>
            <a:endParaRPr lang="en-US" sz="900" dirty="0"/>
          </a:p>
        </p:txBody>
      </p:sp>
      <p:sp>
        <p:nvSpPr>
          <p:cNvPr id="24" name="Text 1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8A867D"/>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HOUSEKEEPING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Ground Rules</a:t>
            </a:r>
            <a:endParaRPr lang="en-US" sz="3000" dirty="0"/>
          </a:p>
        </p:txBody>
      </p:sp>
      <p:sp>
        <p:nvSpPr>
          <p:cNvPr id="4" name="Shape 2"/>
          <p:cNvSpPr/>
          <p:nvPr/>
        </p:nvSpPr>
        <p:spPr>
          <a:xfrm>
            <a:off x="548640"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777240"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1"/>
          <a:stretch>
            <a:fillRect/>
          </a:stretch>
        </p:blipFill>
        <p:spPr>
          <a:xfrm>
            <a:off x="900684" y="2180844"/>
            <a:ext cx="256032" cy="256032"/>
          </a:xfrm>
          <a:prstGeom prst="rect">
            <a:avLst/>
          </a:prstGeom>
        </p:spPr>
      </p:pic>
      <p:sp>
        <p:nvSpPr>
          <p:cNvPr id="7" name="Text 4"/>
          <p:cNvSpPr/>
          <p:nvPr/>
        </p:nvSpPr>
        <p:spPr>
          <a:xfrm>
            <a:off x="1417320"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Phones on silent</a:t>
            </a:r>
            <a:endParaRPr lang="en-US" sz="1500" dirty="0"/>
          </a:p>
        </p:txBody>
      </p:sp>
      <p:sp>
        <p:nvSpPr>
          <p:cNvPr id="8" name="Text 5"/>
          <p:cNvSpPr/>
          <p:nvPr/>
        </p:nvSpPr>
        <p:spPr>
          <a:xfrm>
            <a:off x="777240"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Step out quietly for calls or breaks.</a:t>
            </a:r>
            <a:endParaRPr lang="en-US" sz="1200" dirty="0"/>
          </a:p>
        </p:txBody>
      </p:sp>
      <p:sp>
        <p:nvSpPr>
          <p:cNvPr id="9" name="Shape 6"/>
          <p:cNvSpPr/>
          <p:nvPr/>
        </p:nvSpPr>
        <p:spPr>
          <a:xfrm>
            <a:off x="4325112"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4553712"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2"/>
          <a:stretch>
            <a:fillRect/>
          </a:stretch>
        </p:blipFill>
        <p:spPr>
          <a:xfrm>
            <a:off x="4677156" y="2180844"/>
            <a:ext cx="256032" cy="256032"/>
          </a:xfrm>
          <a:prstGeom prst="rect">
            <a:avLst/>
          </a:prstGeom>
        </p:spPr>
      </p:pic>
      <p:sp>
        <p:nvSpPr>
          <p:cNvPr id="12" name="Text 8"/>
          <p:cNvSpPr/>
          <p:nvPr/>
        </p:nvSpPr>
        <p:spPr>
          <a:xfrm>
            <a:off x="5193792"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Participate actively</a:t>
            </a:r>
            <a:endParaRPr lang="en-US" sz="1500" dirty="0"/>
          </a:p>
        </p:txBody>
      </p:sp>
      <p:sp>
        <p:nvSpPr>
          <p:cNvPr id="13" name="Text 9"/>
          <p:cNvSpPr/>
          <p:nvPr/>
        </p:nvSpPr>
        <p:spPr>
          <a:xfrm>
            <a:off x="4553712"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No question is stupid — ask freely.</a:t>
            </a:r>
            <a:endParaRPr lang="en-US" sz="1200" dirty="0"/>
          </a:p>
        </p:txBody>
      </p:sp>
      <p:sp>
        <p:nvSpPr>
          <p:cNvPr id="14" name="Shape 10"/>
          <p:cNvSpPr/>
          <p:nvPr/>
        </p:nvSpPr>
        <p:spPr>
          <a:xfrm>
            <a:off x="8101584" y="18288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5" name="Shape 11"/>
          <p:cNvSpPr/>
          <p:nvPr/>
        </p:nvSpPr>
        <p:spPr>
          <a:xfrm>
            <a:off x="8330184" y="20574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6" name="Image 2" descr="preencoded.png">    </p:cNvPr>
          <p:cNvPicPr>
            <a:picLocks noChangeAspect="1"/>
          </p:cNvPicPr>
          <p:nvPr/>
        </p:nvPicPr>
        <p:blipFill>
          <a:blip r:embed="rId3"/>
          <a:stretch>
            <a:fillRect/>
          </a:stretch>
        </p:blipFill>
        <p:spPr>
          <a:xfrm>
            <a:off x="8453628" y="2180844"/>
            <a:ext cx="256032" cy="256032"/>
          </a:xfrm>
          <a:prstGeom prst="rect">
            <a:avLst/>
          </a:prstGeom>
        </p:spPr>
      </p:pic>
      <p:sp>
        <p:nvSpPr>
          <p:cNvPr id="17" name="Text 12"/>
          <p:cNvSpPr/>
          <p:nvPr/>
        </p:nvSpPr>
        <p:spPr>
          <a:xfrm>
            <a:off x="8970264" y="20299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Mutual respect</a:t>
            </a:r>
            <a:endParaRPr lang="en-US" sz="1500" dirty="0"/>
          </a:p>
        </p:txBody>
      </p:sp>
      <p:sp>
        <p:nvSpPr>
          <p:cNvPr id="18" name="Text 13"/>
          <p:cNvSpPr/>
          <p:nvPr/>
        </p:nvSpPr>
        <p:spPr>
          <a:xfrm>
            <a:off x="8330184" y="25420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Agree to disagree; one conversation at a time.</a:t>
            </a:r>
            <a:endParaRPr lang="en-US" sz="1200" dirty="0"/>
          </a:p>
        </p:txBody>
      </p:sp>
      <p:sp>
        <p:nvSpPr>
          <p:cNvPr id="19" name="Shape 14"/>
          <p:cNvSpPr/>
          <p:nvPr/>
        </p:nvSpPr>
        <p:spPr>
          <a:xfrm>
            <a:off x="548640"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0" name="Shape 15"/>
          <p:cNvSpPr/>
          <p:nvPr/>
        </p:nvSpPr>
        <p:spPr>
          <a:xfrm>
            <a:off x="777240"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1" name="Image 3" descr="preencoded.png">    </p:cNvPr>
          <p:cNvPicPr>
            <a:picLocks noChangeAspect="1"/>
          </p:cNvPicPr>
          <p:nvPr/>
        </p:nvPicPr>
        <p:blipFill>
          <a:blip r:embed="rId4"/>
          <a:stretch>
            <a:fillRect/>
          </a:stretch>
        </p:blipFill>
        <p:spPr>
          <a:xfrm>
            <a:off x="900684" y="3781044"/>
            <a:ext cx="256032" cy="256032"/>
          </a:xfrm>
          <a:prstGeom prst="rect">
            <a:avLst/>
          </a:prstGeom>
        </p:spPr>
      </p:pic>
      <p:sp>
        <p:nvSpPr>
          <p:cNvPr id="22" name="Text 16"/>
          <p:cNvSpPr/>
          <p:nvPr/>
        </p:nvSpPr>
        <p:spPr>
          <a:xfrm>
            <a:off x="1417320"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Be punctual</a:t>
            </a:r>
            <a:endParaRPr lang="en-US" sz="1500" dirty="0"/>
          </a:p>
        </p:txBody>
      </p:sp>
      <p:sp>
        <p:nvSpPr>
          <p:cNvPr id="23" name="Text 17"/>
          <p:cNvSpPr/>
          <p:nvPr/>
        </p:nvSpPr>
        <p:spPr>
          <a:xfrm>
            <a:off x="777240"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Return from breaks on time.</a:t>
            </a:r>
            <a:endParaRPr lang="en-US" sz="1200" dirty="0"/>
          </a:p>
        </p:txBody>
      </p:sp>
      <p:sp>
        <p:nvSpPr>
          <p:cNvPr id="24" name="Shape 18"/>
          <p:cNvSpPr/>
          <p:nvPr/>
        </p:nvSpPr>
        <p:spPr>
          <a:xfrm>
            <a:off x="4325112"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5" name="Shape 19"/>
          <p:cNvSpPr/>
          <p:nvPr/>
        </p:nvSpPr>
        <p:spPr>
          <a:xfrm>
            <a:off x="4553712"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6" name="Image 4" descr="preencoded.png">    </p:cNvPr>
          <p:cNvPicPr>
            <a:picLocks noChangeAspect="1"/>
          </p:cNvPicPr>
          <p:nvPr/>
        </p:nvPicPr>
        <p:blipFill>
          <a:blip r:embed="rId5"/>
          <a:stretch>
            <a:fillRect/>
          </a:stretch>
        </p:blipFill>
        <p:spPr>
          <a:xfrm>
            <a:off x="4677156" y="3781044"/>
            <a:ext cx="256032" cy="256032"/>
          </a:xfrm>
          <a:prstGeom prst="rect">
            <a:avLst/>
          </a:prstGeom>
        </p:spPr>
      </p:pic>
      <p:sp>
        <p:nvSpPr>
          <p:cNvPr id="27" name="Text 20"/>
          <p:cNvSpPr/>
          <p:nvPr/>
        </p:nvSpPr>
        <p:spPr>
          <a:xfrm>
            <a:off x="5193792"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Full attendance</a:t>
            </a:r>
            <a:endParaRPr lang="en-US" sz="1500" dirty="0"/>
          </a:p>
        </p:txBody>
      </p:sp>
      <p:sp>
        <p:nvSpPr>
          <p:cNvPr id="28" name="Text 21"/>
          <p:cNvSpPr/>
          <p:nvPr/>
        </p:nvSpPr>
        <p:spPr>
          <a:xfrm>
            <a:off x="4553712"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Attend both days to get the most from it.</a:t>
            </a:r>
            <a:endParaRPr lang="en-US" sz="1200" dirty="0"/>
          </a:p>
        </p:txBody>
      </p:sp>
      <p:sp>
        <p:nvSpPr>
          <p:cNvPr id="29" name="Shape 22"/>
          <p:cNvSpPr/>
          <p:nvPr/>
        </p:nvSpPr>
        <p:spPr>
          <a:xfrm>
            <a:off x="8101584" y="3429000"/>
            <a:ext cx="3593592" cy="1371600"/>
          </a:xfrm>
          <a:prstGeom prst="roundRect">
            <a:avLst>
              <a:gd name="adj" fmla="val 533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30" name="Shape 23"/>
          <p:cNvSpPr/>
          <p:nvPr/>
        </p:nvSpPr>
        <p:spPr>
          <a:xfrm>
            <a:off x="8330184" y="3657600"/>
            <a:ext cx="502920" cy="502920"/>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31" name="Image 5" descr="preencoded.png">    </p:cNvPr>
          <p:cNvPicPr>
            <a:picLocks noChangeAspect="1"/>
          </p:cNvPicPr>
          <p:nvPr/>
        </p:nvPicPr>
        <p:blipFill>
          <a:blip r:embed="rId6"/>
          <a:stretch>
            <a:fillRect/>
          </a:stretch>
        </p:blipFill>
        <p:spPr>
          <a:xfrm>
            <a:off x="8453628" y="3781044"/>
            <a:ext cx="256032" cy="256032"/>
          </a:xfrm>
          <a:prstGeom prst="rect">
            <a:avLst/>
          </a:prstGeom>
        </p:spPr>
      </p:pic>
      <p:sp>
        <p:nvSpPr>
          <p:cNvPr id="32" name="Text 24"/>
          <p:cNvSpPr/>
          <p:nvPr/>
        </p:nvSpPr>
        <p:spPr>
          <a:xfrm>
            <a:off x="8970264" y="3630168"/>
            <a:ext cx="2587752" cy="365760"/>
          </a:xfrm>
          <a:prstGeom prst="rect">
            <a:avLst/>
          </a:prstGeom>
          <a:noFill/>
          <a:ln/>
        </p:spPr>
        <p:txBody>
          <a:bodyPr wrap="square" rtlCol="0" anchor="ctr"/>
          <a:lstStyle/>
          <a:p>
            <a:pPr indent="0" marL="0">
              <a:buNone/>
            </a:pPr>
            <a:r>
              <a:rPr lang="en-US" sz="1500" b="1" dirty="0">
                <a:solidFill>
                  <a:srgbClr val="21201C"/>
                </a:solidFill>
                <a:latin typeface="Cambria" pitchFamily="34" charset="0"/>
                <a:ea typeface="Cambria" pitchFamily="34" charset="-122"/>
                <a:cs typeface="Cambria" pitchFamily="34" charset="-120"/>
              </a:rPr>
              <a:t>Stay hands-on</a:t>
            </a:r>
            <a:endParaRPr lang="en-US" sz="1500" dirty="0"/>
          </a:p>
        </p:txBody>
      </p:sp>
      <p:sp>
        <p:nvSpPr>
          <p:cNvPr id="33" name="Text 25"/>
          <p:cNvSpPr/>
          <p:nvPr/>
        </p:nvSpPr>
        <p:spPr>
          <a:xfrm>
            <a:off x="8330184" y="4142232"/>
            <a:ext cx="3136392" cy="548640"/>
          </a:xfrm>
          <a:prstGeom prst="rect">
            <a:avLst/>
          </a:prstGeom>
          <a:noFill/>
          <a:ln/>
        </p:spPr>
        <p:txBody>
          <a:bodyPr wrap="square" rtlCol="0" anchor="ctr"/>
          <a:lstStyle/>
          <a:p>
            <a:pPr indent="0" marL="0">
              <a:buNone/>
            </a:pPr>
            <a:r>
              <a:rPr lang="en-US" sz="1200" dirty="0">
                <a:solidFill>
                  <a:srgbClr val="6B6862"/>
                </a:solidFill>
                <a:latin typeface="Calibri" pitchFamily="34" charset="0"/>
                <a:ea typeface="Calibri" pitchFamily="34" charset="-122"/>
                <a:cs typeface="Calibri" pitchFamily="34" charset="-120"/>
              </a:rPr>
              <a:t>Follow along with every activity.</a:t>
            </a:r>
            <a:endParaRPr lang="en-US" sz="1200" dirty="0"/>
          </a:p>
        </p:txBody>
      </p:sp>
      <p:sp>
        <p:nvSpPr>
          <p:cNvPr id="34" name="Text 26"/>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35" name="Text 27"/>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C141 · Claude AI for Digital Marketing</a:t>
            </a:r>
            <a:endParaRPr lang="en-US" sz="900" dirty="0"/>
          </a:p>
        </p:txBody>
      </p:sp>
      <p:sp>
        <p:nvSpPr>
          <p:cNvPr id="36" name="Text 28"/>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Course Outline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Three topics over two days, one business: Horizon Wealth Planning and the AI marketing team you build for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a:t>
            </a:r>
          </a:p>
        </p:txBody>
      </p:sp>
      <p:sp>
        <p:nvSpPr>
          <p:cNvPr id="8" name="Pentagon 7"/>
          <p:cNvSpPr/>
          <p:nvPr/>
        </p:nvSpPr>
        <p:spPr>
          <a:xfrm>
            <a:off x="548640" y="2084831"/>
            <a:ext cx="3749039"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360273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3602735"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334670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T1 · Components, Compatibility, Integration</a:t>
            </a:r>
          </a:p>
        </p:txBody>
      </p:sp>
      <p:sp>
        <p:nvSpPr>
          <p:cNvPr id="12" name="TextBox 11"/>
          <p:cNvSpPr txBox="1"/>
          <p:nvPr/>
        </p:nvSpPr>
        <p:spPr>
          <a:xfrm>
            <a:off x="676656" y="3694176"/>
            <a:ext cx="334670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studio, the team's instructions, skills and connectors, checked for compatibility; Campaign 1. Labs 1–5.</a:t>
            </a:r>
          </a:p>
        </p:txBody>
      </p:sp>
      <p:sp>
        <p:nvSpPr>
          <p:cNvPr id="13" name="Chevron 12"/>
          <p:cNvSpPr/>
          <p:nvPr/>
        </p:nvSpPr>
        <p:spPr>
          <a:xfrm>
            <a:off x="4206240" y="2084831"/>
            <a:ext cx="3749039"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4297679" y="2962656"/>
            <a:ext cx="35112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79" y="2962656"/>
            <a:ext cx="351129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5695" y="3127248"/>
            <a:ext cx="32552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T2 · Testing and Troubleshooting</a:t>
            </a:r>
          </a:p>
        </p:txBody>
      </p:sp>
      <p:sp>
        <p:nvSpPr>
          <p:cNvPr id="17" name="TextBox 16"/>
          <p:cNvSpPr txBox="1"/>
          <p:nvPr/>
        </p:nvSpPr>
        <p:spPr>
          <a:xfrm>
            <a:off x="4425695" y="3694176"/>
            <a:ext cx="32552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Personas, cadence, blog, lead magnet, social, newsletter + landing page, video — each one an integration test. Labs 6–12.</a:t>
            </a:r>
          </a:p>
        </p:txBody>
      </p:sp>
      <p:sp>
        <p:nvSpPr>
          <p:cNvPr id="18" name="Chevron 17"/>
          <p:cNvSpPr/>
          <p:nvPr/>
        </p:nvSpPr>
        <p:spPr>
          <a:xfrm>
            <a:off x="7863840" y="2084831"/>
            <a:ext cx="3749039"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7955279" y="2962656"/>
            <a:ext cx="35112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55279" y="2962656"/>
            <a:ext cx="351129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83296" y="3127248"/>
            <a:ext cx="32552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T3 · Versioning and Best Practices</a:t>
            </a:r>
          </a:p>
        </p:txBody>
      </p:sp>
      <p:sp>
        <p:nvSpPr>
          <p:cNvPr id="22" name="TextBox 21"/>
          <p:cNvSpPr txBox="1"/>
          <p:nvPr/>
        </p:nvSpPr>
        <p:spPr>
          <a:xfrm>
            <a:off x="8083296" y="3694176"/>
            <a:ext cx="32552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weekly report on a schedule; a versioned playbook and a change proposal; agent teams at work. Labs 13–15.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Lab Materials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Fifteen labs, each in its own folder with a README, prompts (MD and PDF), assets, an evidence checklist and, where useful, a solution.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83210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a:t>
            </a:r>
          </a:p>
        </p:txBody>
      </p:sp>
      <p:sp>
        <p:nvSpPr>
          <p:cNvPr id="10" name="TextBox 9"/>
          <p:cNvSpPr txBox="1"/>
          <p:nvPr/>
        </p:nvSpPr>
        <p:spPr>
          <a:xfrm>
            <a:off x="1856232" y="2203703"/>
            <a:ext cx="658550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1" name="TextBox 10"/>
          <p:cNvSpPr txBox="1"/>
          <p:nvPr/>
        </p:nvSpPr>
        <p:spPr>
          <a:xfrm>
            <a:off x="8716060" y="2203703"/>
            <a:ext cx="282366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TOPIC</a:t>
            </a:r>
          </a:p>
        </p:txBody>
      </p:sp>
      <p:sp>
        <p:nvSpPr>
          <p:cNvPr id="12" name="Rectangle 11"/>
          <p:cNvSpPr/>
          <p:nvPr/>
        </p:nvSpPr>
        <p:spPr>
          <a:xfrm>
            <a:off x="548640" y="2560320"/>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14" name="TextBox 13"/>
          <p:cNvSpPr txBox="1"/>
          <p:nvPr/>
        </p:nvSpPr>
        <p:spPr>
          <a:xfrm>
            <a:off x="1856232" y="2560320"/>
            <a:ext cx="658550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 Studio · 2 Instructions · 3 Skills · 4 Connectors</a:t>
            </a:r>
          </a:p>
        </p:txBody>
      </p:sp>
      <p:sp>
        <p:nvSpPr>
          <p:cNvPr id="15" name="TextBox 14"/>
          <p:cNvSpPr txBox="1"/>
          <p:nvPr/>
        </p:nvSpPr>
        <p:spPr>
          <a:xfrm>
            <a:off x="8716060" y="2560320"/>
            <a:ext cx="282366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T1 · assess and integrate</a:t>
            </a:r>
          </a:p>
        </p:txBody>
      </p:sp>
      <p:sp>
        <p:nvSpPr>
          <p:cNvPr id="16" name="TextBox 15"/>
          <p:cNvSpPr txBox="1"/>
          <p:nvPr/>
        </p:nvSpPr>
        <p:spPr>
          <a:xfrm>
            <a:off x="749808" y="3189427"/>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17" name="TextBox 16"/>
          <p:cNvSpPr txBox="1"/>
          <p:nvPr/>
        </p:nvSpPr>
        <p:spPr>
          <a:xfrm>
            <a:off x="1856232" y="3189427"/>
            <a:ext cx="658550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5 Campaign 1: research to storyboard</a:t>
            </a:r>
          </a:p>
        </p:txBody>
      </p:sp>
      <p:sp>
        <p:nvSpPr>
          <p:cNvPr id="18" name="TextBox 17"/>
          <p:cNvSpPr txBox="1"/>
          <p:nvPr/>
        </p:nvSpPr>
        <p:spPr>
          <a:xfrm>
            <a:off x="8716060" y="3189427"/>
            <a:ext cx="282366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T1 · first integrated run</a:t>
            </a:r>
          </a:p>
        </p:txBody>
      </p:sp>
      <p:sp>
        <p:nvSpPr>
          <p:cNvPr id="19" name="Rectangle 18"/>
          <p:cNvSpPr/>
          <p:nvPr/>
        </p:nvSpPr>
        <p:spPr>
          <a:xfrm>
            <a:off x="548640" y="3818534"/>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18534"/>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a:t>
            </a:r>
          </a:p>
        </p:txBody>
      </p:sp>
      <p:sp>
        <p:nvSpPr>
          <p:cNvPr id="21" name="TextBox 20"/>
          <p:cNvSpPr txBox="1"/>
          <p:nvPr/>
        </p:nvSpPr>
        <p:spPr>
          <a:xfrm>
            <a:off x="1856232" y="3818534"/>
            <a:ext cx="658550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6 Personas · 7 Cadence and calendar · 8 Blog article</a:t>
            </a:r>
          </a:p>
        </p:txBody>
      </p:sp>
      <p:sp>
        <p:nvSpPr>
          <p:cNvPr id="22" name="TextBox 21"/>
          <p:cNvSpPr txBox="1"/>
          <p:nvPr/>
        </p:nvSpPr>
        <p:spPr>
          <a:xfrm>
            <a:off x="8716060" y="3818534"/>
            <a:ext cx="282366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T2 · test the data paths</a:t>
            </a:r>
          </a:p>
        </p:txBody>
      </p:sp>
      <p:sp>
        <p:nvSpPr>
          <p:cNvPr id="23" name="TextBox 22"/>
          <p:cNvSpPr txBox="1"/>
          <p:nvPr/>
        </p:nvSpPr>
        <p:spPr>
          <a:xfrm>
            <a:off x="749808" y="4447641"/>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2</a:t>
            </a:r>
          </a:p>
        </p:txBody>
      </p:sp>
      <p:sp>
        <p:nvSpPr>
          <p:cNvPr id="24" name="TextBox 23"/>
          <p:cNvSpPr txBox="1"/>
          <p:nvPr/>
        </p:nvSpPr>
        <p:spPr>
          <a:xfrm>
            <a:off x="1856232" y="4447641"/>
            <a:ext cx="658550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 Lead magnet · 10 Social posts · 11 Newsletter + landing page · 12 Video</a:t>
            </a:r>
          </a:p>
        </p:txBody>
      </p:sp>
      <p:sp>
        <p:nvSpPr>
          <p:cNvPr id="25" name="TextBox 24"/>
          <p:cNvSpPr txBox="1"/>
          <p:nvPr/>
        </p:nvSpPr>
        <p:spPr>
          <a:xfrm>
            <a:off x="8716060" y="4447641"/>
            <a:ext cx="282366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T2 · test and troubleshoot</a:t>
            </a:r>
          </a:p>
        </p:txBody>
      </p:sp>
      <p:sp>
        <p:nvSpPr>
          <p:cNvPr id="26" name="Rectangle 25"/>
          <p:cNvSpPr/>
          <p:nvPr/>
        </p:nvSpPr>
        <p:spPr>
          <a:xfrm>
            <a:off x="548640" y="5076748"/>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076748"/>
            <a:ext cx="832103"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2</a:t>
            </a:r>
          </a:p>
        </p:txBody>
      </p:sp>
      <p:sp>
        <p:nvSpPr>
          <p:cNvPr id="28" name="TextBox 27"/>
          <p:cNvSpPr txBox="1"/>
          <p:nvPr/>
        </p:nvSpPr>
        <p:spPr>
          <a:xfrm>
            <a:off x="1856232" y="5076748"/>
            <a:ext cx="658550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 Weekly report · 14 Versioned playbook · 15 Agent teams: debate + QA loop</a:t>
            </a:r>
          </a:p>
        </p:txBody>
      </p:sp>
      <p:sp>
        <p:nvSpPr>
          <p:cNvPr id="29" name="TextBox 28"/>
          <p:cNvSpPr txBox="1"/>
          <p:nvPr/>
        </p:nvSpPr>
        <p:spPr>
          <a:xfrm>
            <a:off x="8716060" y="5076748"/>
            <a:ext cx="2823667"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T3 · version and improve</a:t>
            </a:r>
          </a:p>
        </p:txBody>
      </p:sp>
      <p:sp>
        <p:nvSpPr>
          <p:cNvPr id="30" name="Rounded Rectangle 2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One horizon-studio folder from Lab 1 to Lab 15 — the team keeps what it learns.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ROADMAP · WHICH APP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One App, Code Mode, Every Lab</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Claude desktop app in Code mode (&lt;/&gt;), in your horizon-studio folder — every lab. You type plain English, never code.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USE</a:t>
            </a:r>
          </a:p>
        </p:txBody>
      </p:sp>
      <p:sp>
        <p:nvSpPr>
          <p:cNvPr id="10" name="TextBox 9"/>
          <p:cNvSpPr txBox="1"/>
          <p:nvPr/>
        </p:nvSpPr>
        <p:spPr>
          <a:xfrm>
            <a:off x="3183940"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1" name="TextBox 10"/>
          <p:cNvSpPr txBox="1"/>
          <p:nvPr/>
        </p:nvSpPr>
        <p:spPr>
          <a:xfrm>
            <a:off x="6060643" y="2203703"/>
            <a:ext cx="5479084"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IS FOR</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Code</a:t>
            </a:r>
          </a:p>
        </p:txBody>
      </p:sp>
      <p:sp>
        <p:nvSpPr>
          <p:cNvPr id="14" name="TextBox 13"/>
          <p:cNvSpPr txBox="1"/>
          <p:nvPr/>
        </p:nvSpPr>
        <p:spPr>
          <a:xfrm>
            <a:off x="3183940" y="2560320"/>
            <a:ext cx="260238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1, 2, 3, 4, 5, 6, 7, 8, 9, 10, 11, 12, 13, 14, 15</a:t>
            </a:r>
          </a:p>
        </p:txBody>
      </p:sp>
      <p:sp>
        <p:nvSpPr>
          <p:cNvPr id="15" name="TextBox 14"/>
          <p:cNvSpPr txBox="1"/>
          <p:nvPr/>
        </p:nvSpPr>
        <p:spPr>
          <a:xfrm>
            <a:off x="6060643" y="2560320"/>
            <a:ext cx="5479084"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Everything: the team's folder, agents, skills, connectors, artifacts and routines. Each lab starts a new session named after the lab.</a:t>
            </a:r>
          </a:p>
        </p:txBody>
      </p:sp>
      <p:sp>
        <p:nvSpPr>
          <p:cNvPr id="16" name="Rounded Rectangle 1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Everything the team makes is saved in horizon-studio, so the next lab's session picks up where the last one stopped.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SCHEDULE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Lesson Plan (9:30 AM – 5:30 PM)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One 30-minute lunch, no separate tea breaks. Full timings and slide numbers are in the Lesson Plan.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49595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BLOCK</a:t>
            </a:r>
          </a:p>
        </p:txBody>
      </p:sp>
      <p:sp>
        <p:nvSpPr>
          <p:cNvPr id="10" name="TextBox 9"/>
          <p:cNvSpPr txBox="1"/>
          <p:nvPr/>
        </p:nvSpPr>
        <p:spPr>
          <a:xfrm>
            <a:off x="2520086" y="2203703"/>
            <a:ext cx="437266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 1 — FORM AND INTEGRATE</a:t>
            </a:r>
          </a:p>
        </p:txBody>
      </p:sp>
      <p:sp>
        <p:nvSpPr>
          <p:cNvPr id="11" name="TextBox 10"/>
          <p:cNvSpPr txBox="1"/>
          <p:nvPr/>
        </p:nvSpPr>
        <p:spPr>
          <a:xfrm>
            <a:off x="7167067" y="2203703"/>
            <a:ext cx="437266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DAY 2 — TEST, TROUBLESHOOT, VERSION</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Morning 1</a:t>
            </a:r>
          </a:p>
        </p:txBody>
      </p:sp>
      <p:sp>
        <p:nvSpPr>
          <p:cNvPr id="14" name="TextBox 13"/>
          <p:cNvSpPr txBox="1"/>
          <p:nvPr/>
        </p:nvSpPr>
        <p:spPr>
          <a:xfrm>
            <a:off x="2520086" y="2560320"/>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9:30–11:00  Welcome · Topic 1 · Lab 1</a:t>
            </a:r>
          </a:p>
        </p:txBody>
      </p:sp>
      <p:sp>
        <p:nvSpPr>
          <p:cNvPr id="15" name="TextBox 14"/>
          <p:cNvSpPr txBox="1"/>
          <p:nvPr/>
        </p:nvSpPr>
        <p:spPr>
          <a:xfrm>
            <a:off x="7167067" y="2560320"/>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9:30–11:45  Labs 9–10</a:t>
            </a:r>
          </a:p>
        </p:txBody>
      </p:sp>
      <p:sp>
        <p:nvSpPr>
          <p:cNvPr id="16" name="TextBox 15"/>
          <p:cNvSpPr txBox="1"/>
          <p:nvPr/>
        </p:nvSpPr>
        <p:spPr>
          <a:xfrm>
            <a:off x="749808" y="3273552"/>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Morning 2</a:t>
            </a:r>
          </a:p>
        </p:txBody>
      </p:sp>
      <p:sp>
        <p:nvSpPr>
          <p:cNvPr id="17" name="TextBox 16"/>
          <p:cNvSpPr txBox="1"/>
          <p:nvPr/>
        </p:nvSpPr>
        <p:spPr>
          <a:xfrm>
            <a:off x="2520086" y="3273552"/>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11:00–12:45  Labs 2–3</a:t>
            </a:r>
          </a:p>
        </p:txBody>
      </p:sp>
      <p:sp>
        <p:nvSpPr>
          <p:cNvPr id="18" name="TextBox 17"/>
          <p:cNvSpPr txBox="1"/>
          <p:nvPr/>
        </p:nvSpPr>
        <p:spPr>
          <a:xfrm>
            <a:off x="7167067" y="3273552"/>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11:45–12:50  Lab 11</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Afternoon 1</a:t>
            </a:r>
          </a:p>
        </p:txBody>
      </p:sp>
      <p:sp>
        <p:nvSpPr>
          <p:cNvPr id="21" name="TextBox 20"/>
          <p:cNvSpPr txBox="1"/>
          <p:nvPr/>
        </p:nvSpPr>
        <p:spPr>
          <a:xfrm>
            <a:off x="2520086" y="3986784"/>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13:15–15:05  Labs 4–5</a:t>
            </a:r>
          </a:p>
        </p:txBody>
      </p:sp>
      <p:sp>
        <p:nvSpPr>
          <p:cNvPr id="22" name="TextBox 21"/>
          <p:cNvSpPr txBox="1"/>
          <p:nvPr/>
        </p:nvSpPr>
        <p:spPr>
          <a:xfrm>
            <a:off x="7167067" y="3986784"/>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13:20–15:20  Lab 12 · recap · Topic 3 · Lab 13</a:t>
            </a:r>
          </a:p>
        </p:txBody>
      </p:sp>
      <p:sp>
        <p:nvSpPr>
          <p:cNvPr id="23" name="TextBox 22"/>
          <p:cNvSpPr txBox="1"/>
          <p:nvPr/>
        </p:nvSpPr>
        <p:spPr>
          <a:xfrm>
            <a:off x="749808" y="4700016"/>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Afternoon 2</a:t>
            </a:r>
          </a:p>
        </p:txBody>
      </p:sp>
      <p:sp>
        <p:nvSpPr>
          <p:cNvPr id="24" name="TextBox 23"/>
          <p:cNvSpPr txBox="1"/>
          <p:nvPr/>
        </p:nvSpPr>
        <p:spPr>
          <a:xfrm>
            <a:off x="2520086" y="4700016"/>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15:05–17:30  Topic 2 · Labs 6–8 · review</a:t>
            </a:r>
          </a:p>
        </p:txBody>
      </p:sp>
      <p:sp>
        <p:nvSpPr>
          <p:cNvPr id="25" name="TextBox 24"/>
          <p:cNvSpPr txBox="1"/>
          <p:nvPr/>
        </p:nvSpPr>
        <p:spPr>
          <a:xfrm>
            <a:off x="7167067" y="4700016"/>
            <a:ext cx="437266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15:20–17:30  Labs 14–15 · summary</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Lunch is 12:45–1:15 PM on Day 1 and 12:50–1:20 PM on Day 2. Both days end at 5:30 PM.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CLAUDE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Claude Suite of Products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Anthropic's products all run on the same Claude models — they differ in where they run and who they are for.</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a:t>
            </a:r>
          </a:p>
        </p:txBody>
      </p:sp>
      <p:sp>
        <p:nvSpPr>
          <p:cNvPr id="8" name="Rounded Rectangle 7"/>
          <p:cNvSpPr/>
          <p:nvPr/>
        </p:nvSpPr>
        <p:spPr>
          <a:xfrm>
            <a:off x="548640"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a:t>
            </a:r>
          </a:p>
        </p:txBody>
      </p:sp>
      <p:sp>
        <p:nvSpPr>
          <p:cNvPr id="11" name="TextBox 10"/>
          <p:cNvSpPr txBox="1"/>
          <p:nvPr/>
        </p:nvSpPr>
        <p:spPr>
          <a:xfrm>
            <a:off x="786384"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Chat and Cowork, now one app — web, desktop and mobile. Ask, write, analyse; work on a folder of files.</a:t>
            </a:r>
          </a:p>
        </p:txBody>
      </p:sp>
      <p:sp>
        <p:nvSpPr>
          <p:cNvPr id="12" name="Rounded Rectangle 11"/>
          <p:cNvSpPr/>
          <p:nvPr/>
        </p:nvSpPr>
        <p:spPr>
          <a:xfrm>
            <a:off x="4309872"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Code</a:t>
            </a:r>
          </a:p>
        </p:txBody>
      </p:sp>
      <p:sp>
        <p:nvSpPr>
          <p:cNvPr id="15" name="TextBox 14"/>
          <p:cNvSpPr txBox="1"/>
          <p:nvPr/>
        </p:nvSpPr>
        <p:spPr>
          <a:xfrm>
            <a:off x="4547615"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agentic tool for building: terminal, VS Code, the desktop Code tab and the web.</a:t>
            </a:r>
          </a:p>
        </p:txBody>
      </p:sp>
      <p:sp>
        <p:nvSpPr>
          <p:cNvPr id="16" name="Rounded Rectangle 15"/>
          <p:cNvSpPr/>
          <p:nvPr/>
        </p:nvSpPr>
        <p:spPr>
          <a:xfrm>
            <a:off x="8071104"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Design</a:t>
            </a:r>
          </a:p>
        </p:txBody>
      </p:sp>
      <p:sp>
        <p:nvSpPr>
          <p:cNvPr id="19" name="TextBox 18"/>
          <p:cNvSpPr txBox="1"/>
          <p:nvPr/>
        </p:nvSpPr>
        <p:spPr>
          <a:xfrm>
            <a:off x="8308847"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Polished UI, prototypes and front-end designs from a prompt.</a:t>
            </a:r>
          </a:p>
        </p:txBody>
      </p:sp>
      <p:sp>
        <p:nvSpPr>
          <p:cNvPr id="20" name="Rounded Rectangle 19"/>
          <p:cNvSpPr/>
          <p:nvPr/>
        </p:nvSpPr>
        <p:spPr>
          <a:xfrm>
            <a:off x="548640"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Microsoft</a:t>
            </a:r>
          </a:p>
        </p:txBody>
      </p:sp>
      <p:sp>
        <p:nvSpPr>
          <p:cNvPr id="23" name="TextBox 22"/>
          <p:cNvSpPr txBox="1"/>
          <p:nvPr/>
        </p:nvSpPr>
        <p:spPr>
          <a:xfrm>
            <a:off x="786384"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Claude inside Microsoft 365 apps such as Excel, PowerPoint and Outlook.</a:t>
            </a:r>
          </a:p>
        </p:txBody>
      </p:sp>
      <p:sp>
        <p:nvSpPr>
          <p:cNvPr id="24" name="Rounded Rectangle 23"/>
          <p:cNvSpPr/>
          <p:nvPr/>
        </p:nvSpPr>
        <p:spPr>
          <a:xfrm>
            <a:off x="4309872"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09872"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7615"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Chrome</a:t>
            </a:r>
          </a:p>
        </p:txBody>
      </p:sp>
      <p:sp>
        <p:nvSpPr>
          <p:cNvPr id="27" name="TextBox 26"/>
          <p:cNvSpPr txBox="1"/>
          <p:nvPr/>
        </p:nvSpPr>
        <p:spPr>
          <a:xfrm>
            <a:off x="4547615"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browser agent that reads pages, clicks and fills forms in your own Chrome.</a:t>
            </a:r>
          </a:p>
        </p:txBody>
      </p:sp>
      <p:sp>
        <p:nvSpPr>
          <p:cNvPr id="28" name="Rounded Rectangle 27"/>
          <p:cNvSpPr/>
          <p:nvPr/>
        </p:nvSpPr>
        <p:spPr>
          <a:xfrm>
            <a:off x="8071104"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71104"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08847"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Science</a:t>
            </a:r>
          </a:p>
        </p:txBody>
      </p:sp>
      <p:sp>
        <p:nvSpPr>
          <p:cNvPr id="31" name="TextBox 30"/>
          <p:cNvSpPr txBox="1"/>
          <p:nvPr/>
        </p:nvSpPr>
        <p:spPr>
          <a:xfrm>
            <a:off x="8308847"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Speeds up research workflows for scientists and labs.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CLAUDE COWORK</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Claude Cowork?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Chat and Cowork are now one product: Claude, in the desktop app on a paid plan. Cowork is Claude working on a folder of your files. In class you use the same app in Code mode, so every file is in view.</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Chat</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Ask, draft, analyse and research with web search; projects keep shared files and instructions.</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Cowork</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Works on a folder on your computer: plans and runs multi-step tasks, and runs sub-agents in parallel when asked.</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Connectors and skills</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Google Drive, Gmail, Calendar, Microsoft 365; build your own skills with /skill-creator.</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Artifacts and scheduled tasks</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Pages and documents shared by link; tasks that run on a schedule from an Instructions field.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CLAUDE CODE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Claude Code?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An agentic tool: describe a goal in plain English and Claude plans, writes, runs and checks the work — editing files, running commands and using tools for you.</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Runs where you work</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terminal, VS Code, the Claude desktop Code tab and the web.</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Agentic</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Plans multi-step tasks and acts on them — not just answers or autocompletes.</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Tool-using</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Reads and writes files, runs commands, calls MCP connectors and publishes artifacts.</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Extensible — the team's home</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CLAUDE.md, subagents, agent teams, skills and hooks. You build and integrate Horizon's team here, in every lab.</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CLAUDE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Claude for Microsoft, Chrome and Science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same Claude models, working inside the apps you already use. Not needed for the labs — good to know.</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Microsoft</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Claude inside Microsoft 365 — Excel, PowerPoint, Word and Outlook — working on the file you have open.</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Chrome</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extension that lets Claude navigate, click, type and fill forms in your browser, with your sign-ins. You approve sensitive actions.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 for Science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Claude for researchers and labs: literature review, data analysis and connections to scientific tools and databases.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9">
    <p:bg>
      <p:bgPr>
        <a:solidFill>
          <a:srgbClr val="FAF9F5"/>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OVERVIEW · PRICING</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Claude Plans and Pricing</a:t>
            </a:r>
            <a:endParaRPr lang="en-US" sz="3000" dirty="0"/>
          </a:p>
        </p:txBody>
      </p:sp>
      <p:sp>
        <p:nvSpPr>
          <p:cNvPr id="4" name="Text 2"/>
          <p:cNvSpPr/>
          <p:nvPr/>
        </p:nvSpPr>
        <p:spPr>
          <a:xfrm>
            <a:off x="548640" y="1645920"/>
            <a:ext cx="11064240" cy="457200"/>
          </a:xfrm>
          <a:prstGeom prst="rect">
            <a:avLst/>
          </a:prstGeom>
          <a:noFill/>
          <a:ln/>
        </p:spPr>
        <p:txBody>
          <a:bodyPr wrap="square" rtlCol="0" anchor="ctr"/>
          <a:lstStyle/>
          <a:p>
            <a:pPr indent="0" marL="0">
              <a:buNone/>
            </a:pPr>
            <a:r>
              <a:rPr lang="en-US" sz="1500" dirty="0">
                <a:solidFill>
                  <a:srgbClr val="21201C"/>
                </a:solidFill>
                <a:latin typeface="Calibri" pitchFamily="34" charset="0"/>
                <a:ea typeface="Calibri" pitchFamily="34" charset="-122"/>
                <a:cs typeface="Calibri" pitchFamily="34" charset="-120"/>
              </a:rPr>
              <a:t>Claude and Claude Code are included in every paid plan (from Pro up). The API is pay-as-you-go. Prices in US dollars.</a:t>
            </a:r>
            <a:endParaRPr lang="en-US" sz="1500" dirty="0"/>
          </a:p>
        </p:txBody>
      </p:sp>
      <p:sp>
        <p:nvSpPr>
          <p:cNvPr id="5" name="Shape 3"/>
          <p:cNvSpPr/>
          <p:nvPr/>
        </p:nvSpPr>
        <p:spPr>
          <a:xfrm>
            <a:off x="548640" y="2194560"/>
            <a:ext cx="2635758" cy="2514600"/>
          </a:xfrm>
          <a:prstGeom prst="roundRect">
            <a:avLst>
              <a:gd name="adj" fmla="val 2909"/>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6" name="Shape 4"/>
          <p:cNvSpPr/>
          <p:nvPr/>
        </p:nvSpPr>
        <p:spPr>
          <a:xfrm>
            <a:off x="822960" y="246888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7" name="Image 0" descr="preencoded.png">    </p:cNvPr>
          <p:cNvPicPr>
            <a:picLocks noChangeAspect="1"/>
          </p:cNvPicPr>
          <p:nvPr/>
        </p:nvPicPr>
        <p:blipFill>
          <a:blip r:embed="rId1"/>
          <a:stretch>
            <a:fillRect/>
          </a:stretch>
        </p:blipFill>
        <p:spPr>
          <a:xfrm>
            <a:off x="960120" y="2606040"/>
            <a:ext cx="292608" cy="292608"/>
          </a:xfrm>
          <a:prstGeom prst="rect">
            <a:avLst/>
          </a:prstGeom>
        </p:spPr>
      </p:pic>
      <p:sp>
        <p:nvSpPr>
          <p:cNvPr id="8" name="Text 5"/>
          <p:cNvSpPr/>
          <p:nvPr/>
        </p:nvSpPr>
        <p:spPr>
          <a:xfrm>
            <a:off x="822960" y="3154680"/>
            <a:ext cx="2132838" cy="457200"/>
          </a:xfrm>
          <a:prstGeom prst="rect">
            <a:avLst/>
          </a:prstGeom>
          <a:noFill/>
          <a:ln/>
        </p:spPr>
        <p:txBody>
          <a:bodyPr wrap="square" rtlCol="0" anchor="ctr"/>
          <a:lstStyle/>
          <a:p>
            <a:pPr indent="0" marL="0">
              <a:buNone/>
            </a:pPr>
            <a:r>
              <a:rPr lang="en-US" sz="1600" b="1" dirty="0">
                <a:solidFill>
                  <a:srgbClr val="21201C"/>
                </a:solidFill>
                <a:latin typeface="Cambria" pitchFamily="34" charset="0"/>
                <a:ea typeface="Cambria" pitchFamily="34" charset="-122"/>
                <a:cs typeface="Cambria" pitchFamily="34" charset="-120"/>
              </a:rPr>
              <a:t>Pro</a:t>
            </a:r>
            <a:endParaRPr lang="en-US" sz="1600" dirty="0"/>
          </a:p>
        </p:txBody>
      </p:sp>
      <p:sp>
        <p:nvSpPr>
          <p:cNvPr id="9" name="Text 6"/>
          <p:cNvSpPr/>
          <p:nvPr/>
        </p:nvSpPr>
        <p:spPr>
          <a:xfrm>
            <a:off x="822960" y="3639312"/>
            <a:ext cx="2178558" cy="978408"/>
          </a:xfrm>
          <a:prstGeom prst="rect">
            <a:avLst/>
          </a:prstGeom>
          <a:noFill/>
          <a:ln/>
        </p:spPr>
        <p:txBody>
          <a:bodyPr wrap="square" rtlCol="0" anchor="ctr"/>
          <a:lstStyle/>
          <a:p>
            <a:pPr indent="0" marL="0">
              <a:buNone/>
            </a:pPr>
            <a:r>
              <a:rPr lang="en-US" sz="1250" dirty="0">
                <a:solidFill>
                  <a:srgbClr val="6B6862"/>
                </a:solidFill>
                <a:latin typeface="Calibri" pitchFamily="34" charset="0"/>
                <a:ea typeface="Calibri" pitchFamily="34" charset="-122"/>
                <a:cs typeface="Calibri" pitchFamily="34" charset="-120"/>
              </a:rPr>
              <a:t>$17/mo (annual) · $20 monthly. Enough for every lab.</a:t>
            </a:r>
            <a:endParaRPr lang="en-US" sz="1250" dirty="0"/>
          </a:p>
        </p:txBody>
      </p:sp>
      <p:sp>
        <p:nvSpPr>
          <p:cNvPr id="10" name="Shape 7"/>
          <p:cNvSpPr/>
          <p:nvPr/>
        </p:nvSpPr>
        <p:spPr>
          <a:xfrm>
            <a:off x="3367278" y="2194560"/>
            <a:ext cx="2635758" cy="2514600"/>
          </a:xfrm>
          <a:prstGeom prst="roundRect">
            <a:avLst>
              <a:gd name="adj" fmla="val 2909"/>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1" name="Shape 8"/>
          <p:cNvSpPr/>
          <p:nvPr/>
        </p:nvSpPr>
        <p:spPr>
          <a:xfrm>
            <a:off x="3641598" y="246888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2" name="Image 1" descr="preencoded.png">    </p:cNvPr>
          <p:cNvPicPr>
            <a:picLocks noChangeAspect="1"/>
          </p:cNvPicPr>
          <p:nvPr/>
        </p:nvPicPr>
        <p:blipFill>
          <a:blip r:embed="rId2"/>
          <a:stretch>
            <a:fillRect/>
          </a:stretch>
        </p:blipFill>
        <p:spPr>
          <a:xfrm>
            <a:off x="3778758" y="2606040"/>
            <a:ext cx="292608" cy="292608"/>
          </a:xfrm>
          <a:prstGeom prst="rect">
            <a:avLst/>
          </a:prstGeom>
        </p:spPr>
      </p:pic>
      <p:sp>
        <p:nvSpPr>
          <p:cNvPr id="13" name="Text 9"/>
          <p:cNvSpPr/>
          <p:nvPr/>
        </p:nvSpPr>
        <p:spPr>
          <a:xfrm>
            <a:off x="3641598" y="3154680"/>
            <a:ext cx="2132838" cy="457200"/>
          </a:xfrm>
          <a:prstGeom prst="rect">
            <a:avLst/>
          </a:prstGeom>
          <a:noFill/>
          <a:ln/>
        </p:spPr>
        <p:txBody>
          <a:bodyPr wrap="square" rtlCol="0" anchor="ctr"/>
          <a:lstStyle/>
          <a:p>
            <a:pPr indent="0" marL="0">
              <a:buNone/>
            </a:pPr>
            <a:r>
              <a:rPr lang="en-US" sz="1600" b="1" dirty="0">
                <a:solidFill>
                  <a:srgbClr val="21201C"/>
                </a:solidFill>
                <a:latin typeface="Cambria" pitchFamily="34" charset="0"/>
                <a:ea typeface="Cambria" pitchFamily="34" charset="-122"/>
                <a:cs typeface="Cambria" pitchFamily="34" charset="-120"/>
              </a:rPr>
              <a:t>Max</a:t>
            </a:r>
            <a:endParaRPr lang="en-US" sz="1600" dirty="0"/>
          </a:p>
        </p:txBody>
      </p:sp>
      <p:sp>
        <p:nvSpPr>
          <p:cNvPr id="14" name="Text 10"/>
          <p:cNvSpPr/>
          <p:nvPr/>
        </p:nvSpPr>
        <p:spPr>
          <a:xfrm>
            <a:off x="3641598" y="3639312"/>
            <a:ext cx="2178558" cy="978408"/>
          </a:xfrm>
          <a:prstGeom prst="rect">
            <a:avLst/>
          </a:prstGeom>
          <a:noFill/>
          <a:ln/>
        </p:spPr>
        <p:txBody>
          <a:bodyPr wrap="square" rtlCol="0" anchor="ctr"/>
          <a:lstStyle/>
          <a:p>
            <a:pPr indent="0" marL="0">
              <a:buNone/>
            </a:pPr>
            <a:r>
              <a:rPr lang="en-US" sz="1250" dirty="0">
                <a:solidFill>
                  <a:srgbClr val="6B6862"/>
                </a:solidFill>
                <a:latin typeface="Calibri" pitchFamily="34" charset="0"/>
                <a:ea typeface="Calibri" pitchFamily="34" charset="-122"/>
                <a:cs typeface="Calibri" pitchFamily="34" charset="-120"/>
              </a:rPr>
              <a:t>From $100/mo — 5× or 20× more usage than Pro.</a:t>
            </a:r>
            <a:endParaRPr lang="en-US" sz="1250" dirty="0"/>
          </a:p>
        </p:txBody>
      </p:sp>
      <p:sp>
        <p:nvSpPr>
          <p:cNvPr id="15" name="Shape 11"/>
          <p:cNvSpPr/>
          <p:nvPr/>
        </p:nvSpPr>
        <p:spPr>
          <a:xfrm>
            <a:off x="6185916" y="2194560"/>
            <a:ext cx="2635758" cy="2514600"/>
          </a:xfrm>
          <a:prstGeom prst="roundRect">
            <a:avLst>
              <a:gd name="adj" fmla="val 2909"/>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16" name="Shape 12"/>
          <p:cNvSpPr/>
          <p:nvPr/>
        </p:nvSpPr>
        <p:spPr>
          <a:xfrm>
            <a:off x="6460236" y="246888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7" name="Image 2" descr="preencoded.png">    </p:cNvPr>
          <p:cNvPicPr>
            <a:picLocks noChangeAspect="1"/>
          </p:cNvPicPr>
          <p:nvPr/>
        </p:nvPicPr>
        <p:blipFill>
          <a:blip r:embed="rId3"/>
          <a:stretch>
            <a:fillRect/>
          </a:stretch>
        </p:blipFill>
        <p:spPr>
          <a:xfrm>
            <a:off x="6597396" y="2606040"/>
            <a:ext cx="292608" cy="292608"/>
          </a:xfrm>
          <a:prstGeom prst="rect">
            <a:avLst/>
          </a:prstGeom>
        </p:spPr>
      </p:pic>
      <p:sp>
        <p:nvSpPr>
          <p:cNvPr id="18" name="Text 13"/>
          <p:cNvSpPr/>
          <p:nvPr/>
        </p:nvSpPr>
        <p:spPr>
          <a:xfrm>
            <a:off x="6460236" y="3154680"/>
            <a:ext cx="2132838" cy="457200"/>
          </a:xfrm>
          <a:prstGeom prst="rect">
            <a:avLst/>
          </a:prstGeom>
          <a:noFill/>
          <a:ln/>
        </p:spPr>
        <p:txBody>
          <a:bodyPr wrap="square" rtlCol="0" anchor="ctr"/>
          <a:lstStyle/>
          <a:p>
            <a:pPr indent="0" marL="0">
              <a:buNone/>
            </a:pPr>
            <a:r>
              <a:rPr lang="en-US" sz="1600" b="1" dirty="0">
                <a:solidFill>
                  <a:srgbClr val="21201C"/>
                </a:solidFill>
                <a:latin typeface="Cambria" pitchFamily="34" charset="0"/>
                <a:ea typeface="Cambria" pitchFamily="34" charset="-122"/>
                <a:cs typeface="Cambria" pitchFamily="34" charset="-120"/>
              </a:rPr>
              <a:t>Team</a:t>
            </a:r>
            <a:endParaRPr lang="en-US" sz="1600" dirty="0"/>
          </a:p>
        </p:txBody>
      </p:sp>
      <p:sp>
        <p:nvSpPr>
          <p:cNvPr id="19" name="Text 14"/>
          <p:cNvSpPr/>
          <p:nvPr/>
        </p:nvSpPr>
        <p:spPr>
          <a:xfrm>
            <a:off x="6460236" y="3639312"/>
            <a:ext cx="2178558" cy="978408"/>
          </a:xfrm>
          <a:prstGeom prst="rect">
            <a:avLst/>
          </a:prstGeom>
          <a:noFill/>
          <a:ln/>
        </p:spPr>
        <p:txBody>
          <a:bodyPr wrap="square" rtlCol="0" anchor="ctr"/>
          <a:lstStyle/>
          <a:p>
            <a:pPr indent="0" marL="0">
              <a:buNone/>
            </a:pPr>
            <a:r>
              <a:rPr lang="en-US" sz="1250" dirty="0">
                <a:solidFill>
                  <a:srgbClr val="6B6862"/>
                </a:solidFill>
                <a:latin typeface="Calibri" pitchFamily="34" charset="0"/>
                <a:ea typeface="Calibri" pitchFamily="34" charset="-122"/>
                <a:cs typeface="Calibri" pitchFamily="34" charset="-120"/>
              </a:rPr>
              <a:t>$20/seat standard · $100/seat premium (annual; $25 / $125 monthly).</a:t>
            </a:r>
            <a:endParaRPr lang="en-US" sz="1250" dirty="0"/>
          </a:p>
        </p:txBody>
      </p:sp>
      <p:sp>
        <p:nvSpPr>
          <p:cNvPr id="20" name="Shape 15"/>
          <p:cNvSpPr/>
          <p:nvPr/>
        </p:nvSpPr>
        <p:spPr>
          <a:xfrm>
            <a:off x="9004554" y="2194560"/>
            <a:ext cx="2635758" cy="2514600"/>
          </a:xfrm>
          <a:prstGeom prst="roundRect">
            <a:avLst>
              <a:gd name="adj" fmla="val 2909"/>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21" name="Shape 16"/>
          <p:cNvSpPr/>
          <p:nvPr/>
        </p:nvSpPr>
        <p:spPr>
          <a:xfrm>
            <a:off x="9278874" y="246888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22" name="Image 3" descr="preencoded.png">    </p:cNvPr>
          <p:cNvPicPr>
            <a:picLocks noChangeAspect="1"/>
          </p:cNvPicPr>
          <p:nvPr/>
        </p:nvPicPr>
        <p:blipFill>
          <a:blip r:embed="rId4"/>
          <a:stretch>
            <a:fillRect/>
          </a:stretch>
        </p:blipFill>
        <p:spPr>
          <a:xfrm>
            <a:off x="9416034" y="2606040"/>
            <a:ext cx="292608" cy="292608"/>
          </a:xfrm>
          <a:prstGeom prst="rect">
            <a:avLst/>
          </a:prstGeom>
        </p:spPr>
      </p:pic>
      <p:sp>
        <p:nvSpPr>
          <p:cNvPr id="23" name="Text 17"/>
          <p:cNvSpPr/>
          <p:nvPr/>
        </p:nvSpPr>
        <p:spPr>
          <a:xfrm>
            <a:off x="9278874" y="3154680"/>
            <a:ext cx="2132838" cy="457200"/>
          </a:xfrm>
          <a:prstGeom prst="rect">
            <a:avLst/>
          </a:prstGeom>
          <a:noFill/>
          <a:ln/>
        </p:spPr>
        <p:txBody>
          <a:bodyPr wrap="square" rtlCol="0" anchor="ctr"/>
          <a:lstStyle/>
          <a:p>
            <a:pPr indent="0" marL="0">
              <a:buNone/>
            </a:pPr>
            <a:r>
              <a:rPr lang="en-US" sz="1600" b="1" dirty="0">
                <a:solidFill>
                  <a:srgbClr val="21201C"/>
                </a:solidFill>
                <a:latin typeface="Cambria" pitchFamily="34" charset="0"/>
                <a:ea typeface="Cambria" pitchFamily="34" charset="-122"/>
                <a:cs typeface="Cambria" pitchFamily="34" charset="-120"/>
              </a:rPr>
              <a:t>Enterprise</a:t>
            </a:r>
            <a:endParaRPr lang="en-US" sz="1600" dirty="0"/>
          </a:p>
        </p:txBody>
      </p:sp>
      <p:sp>
        <p:nvSpPr>
          <p:cNvPr id="24" name="Text 18"/>
          <p:cNvSpPr/>
          <p:nvPr/>
        </p:nvSpPr>
        <p:spPr>
          <a:xfrm>
            <a:off x="9278874" y="3639312"/>
            <a:ext cx="2178558" cy="978408"/>
          </a:xfrm>
          <a:prstGeom prst="rect">
            <a:avLst/>
          </a:prstGeom>
          <a:noFill/>
          <a:ln/>
        </p:spPr>
        <p:txBody>
          <a:bodyPr wrap="square" rtlCol="0" anchor="ctr"/>
          <a:lstStyle/>
          <a:p>
            <a:pPr indent="0" marL="0">
              <a:buNone/>
            </a:pPr>
            <a:r>
              <a:rPr lang="en-US" sz="1250" dirty="0">
                <a:solidFill>
                  <a:srgbClr val="6B6862"/>
                </a:solidFill>
                <a:latin typeface="Calibri" pitchFamily="34" charset="0"/>
                <a:ea typeface="Calibri" pitchFamily="34" charset="-122"/>
                <a:cs typeface="Calibri" pitchFamily="34" charset="-120"/>
              </a:rPr>
              <a:t>$20/seat + usage at API rates. Contact sales.</a:t>
            </a:r>
            <a:endParaRPr lang="en-US" sz="1250" dirty="0"/>
          </a:p>
        </p:txBody>
      </p:sp>
      <p:sp>
        <p:nvSpPr>
          <p:cNvPr id="25" name="Shape 19"/>
          <p:cNvSpPr/>
          <p:nvPr/>
        </p:nvSpPr>
        <p:spPr>
          <a:xfrm>
            <a:off x="548640" y="4892040"/>
            <a:ext cx="11064240" cy="777240"/>
          </a:xfrm>
          <a:prstGeom prst="roundRect">
            <a:avLst>
              <a:gd name="adj" fmla="val 9412"/>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26" name="Text 20"/>
          <p:cNvSpPr/>
          <p:nvPr/>
        </p:nvSpPr>
        <p:spPr>
          <a:xfrm>
            <a:off x="822960" y="4892040"/>
            <a:ext cx="10515600" cy="7772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API per million tokens (in/out):  </a:t>
            </a:r>
            <a:pPr indent="0" marL="0">
              <a:buNone/>
            </a:pPr>
            <a:r>
              <a:rPr lang="en-US" sz="1400" dirty="0">
                <a:solidFill>
                  <a:srgbClr val="E8E5DE"/>
                </a:solidFill>
                <a:latin typeface="Calibri" pitchFamily="34" charset="0"/>
                <a:ea typeface="Calibri" pitchFamily="34" charset="-122"/>
                <a:cs typeface="Calibri" pitchFamily="34" charset="-120"/>
              </a:rPr>
              <a:t>Fable 5.1 $10/$50  ·  Opus 5.5 $4/$20  ·  Sonnet 5.5 $2/$10  ·  Haiku 5.5 from $0.10/$0.50</a:t>
            </a:r>
            <a:endParaRPr lang="en-US" sz="1400" dirty="0"/>
          </a:p>
        </p:txBody>
      </p:sp>
      <p:sp>
        <p:nvSpPr>
          <p:cNvPr id="27" name="Text 21"/>
          <p:cNvSpPr/>
          <p:nvPr/>
        </p:nvSpPr>
        <p:spPr>
          <a:xfrm>
            <a:off x="548640" y="5806440"/>
            <a:ext cx="11064240" cy="320040"/>
          </a:xfrm>
          <a:prstGeom prst="rect">
            <a:avLst/>
          </a:prstGeom>
          <a:noFill/>
          <a:ln/>
        </p:spPr>
        <p:txBody>
          <a:bodyPr wrap="square" rtlCol="0" anchor="ctr"/>
          <a:lstStyle/>
          <a:p>
            <a:pPr indent="0" marL="0">
              <a:buNone/>
            </a:pPr>
            <a:r>
              <a:rPr lang="en-US" sz="1300" b="1" i="1" dirty="0">
                <a:solidFill>
                  <a:srgbClr val="D97757"/>
                </a:solidFill>
                <a:latin typeface="Calibri" pitchFamily="34" charset="0"/>
                <a:ea typeface="Calibri" pitchFamily="34" charset="-122"/>
                <a:cs typeface="Calibri" pitchFamily="34" charset="-120"/>
              </a:rPr>
              <a:t>TIP  </a:t>
            </a:r>
            <a:pPr indent="0" marL="0">
              <a:buNone/>
            </a:pPr>
            <a:r>
              <a:rPr lang="en-US" sz="1300" i="1" dirty="0">
                <a:solidFill>
                  <a:srgbClr val="6B6862"/>
                </a:solidFill>
                <a:latin typeface="Calibri" pitchFamily="34" charset="0"/>
                <a:ea typeface="Calibri" pitchFamily="34" charset="-122"/>
                <a:cs typeface="Calibri" pitchFamily="34" charset="-120"/>
              </a:rPr>
              <a:t>Free plan: chat only, no Claude Code. Prices as of 8 Oct 2026 — verify at claude.com/pricing.</a:t>
            </a:r>
            <a:endParaRPr lang="en-US" sz="1300" dirty="0"/>
          </a:p>
        </p:txBody>
      </p:sp>
      <p:sp>
        <p:nvSpPr>
          <p:cNvPr id="28" name="Text 22"/>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29" name="Text 23"/>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C141 · Claude AI for Digital Marketing</a:t>
            </a:r>
            <a:endParaRPr lang="en-US" sz="900" dirty="0"/>
          </a:p>
        </p:txBody>
      </p:sp>
      <p:sp>
        <p:nvSpPr>
          <p:cNvPr id="30" name="Text 24"/>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HISTORY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Brief History of AI, 2023–2026</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a:t>
            </a:r>
          </a:p>
        </p:txBody>
      </p:sp>
      <p:sp>
        <p:nvSpPr>
          <p:cNvPr id="7" name="Rectangle 6"/>
          <p:cNvSpPr/>
          <p:nvPr/>
        </p:nvSpPr>
        <p:spPr>
          <a:xfrm>
            <a:off x="1931669" y="3657600"/>
            <a:ext cx="8298179" cy="18288"/>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Prompt Engineering</a:t>
            </a:r>
          </a:p>
        </p:txBody>
      </p:sp>
      <p:sp>
        <p:nvSpPr>
          <p:cNvPr id="9" name="Oval 8"/>
          <p:cNvSpPr/>
          <p:nvPr/>
        </p:nvSpPr>
        <p:spPr>
          <a:xfrm>
            <a:off x="1520190"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2023</a:t>
            </a:r>
          </a:p>
        </p:txBody>
      </p:sp>
      <p:sp>
        <p:nvSpPr>
          <p:cNvPr id="10" name="TextBox 9"/>
          <p:cNvSpPr txBox="1"/>
          <p:nvPr/>
        </p:nvSpPr>
        <p:spPr>
          <a:xfrm>
            <a:off x="62179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ChatGPT goes mainstream; Anthropic launches Claude (March). Results depend on how you word the prompt.</a:t>
            </a:r>
          </a:p>
        </p:txBody>
      </p:sp>
      <p:sp>
        <p:nvSpPr>
          <p:cNvPr id="11" name="TextBox 10"/>
          <p:cNvSpPr txBox="1"/>
          <p:nvPr/>
        </p:nvSpPr>
        <p:spPr>
          <a:xfrm>
            <a:off x="3360420"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Context Engineering</a:t>
            </a:r>
          </a:p>
        </p:txBody>
      </p:sp>
      <p:sp>
        <p:nvSpPr>
          <p:cNvPr id="12" name="Oval 11"/>
          <p:cNvSpPr/>
          <p:nvPr/>
        </p:nvSpPr>
        <p:spPr>
          <a:xfrm>
            <a:off x="4286250"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2024</a:t>
            </a:r>
          </a:p>
        </p:txBody>
      </p:sp>
      <p:sp>
        <p:nvSpPr>
          <p:cNvPr id="13" name="TextBox 12"/>
          <p:cNvSpPr txBox="1"/>
          <p:nvPr/>
        </p:nvSpPr>
        <p:spPr>
          <a:xfrm>
            <a:off x="338785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Models call tools. Anthropic open-sources the Model Context Protocol (Nov). Results depend on what the model can see.</a:t>
            </a:r>
          </a:p>
        </p:txBody>
      </p:sp>
      <p:sp>
        <p:nvSpPr>
          <p:cNvPr id="14" name="TextBox 13"/>
          <p:cNvSpPr txBox="1"/>
          <p:nvPr/>
        </p:nvSpPr>
        <p:spPr>
          <a:xfrm>
            <a:off x="6126479"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Harness Engineering</a:t>
            </a:r>
          </a:p>
        </p:txBody>
      </p:sp>
      <p:sp>
        <p:nvSpPr>
          <p:cNvPr id="15" name="Oval 14"/>
          <p:cNvSpPr/>
          <p:nvPr/>
        </p:nvSpPr>
        <p:spPr>
          <a:xfrm>
            <a:off x="7052309"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2025</a:t>
            </a:r>
          </a:p>
        </p:txBody>
      </p:sp>
      <p:sp>
        <p:nvSpPr>
          <p:cNvPr id="16" name="TextBox 15"/>
          <p:cNvSpPr txBox="1"/>
          <p:nvPr/>
        </p:nvSpPr>
        <p:spPr>
          <a:xfrm>
            <a:off x="615391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E.g. Claude Code and Codex. The system around the model gives rise to agentic AI: task-oriented agents that plan, act and check their work.</a:t>
            </a:r>
          </a:p>
        </p:txBody>
      </p:sp>
      <p:sp>
        <p:nvSpPr>
          <p:cNvPr id="17" name="TextBox 16"/>
          <p:cNvSpPr txBox="1"/>
          <p:nvPr/>
        </p:nvSpPr>
        <p:spPr>
          <a:xfrm>
            <a:off x="8892540" y="2148840"/>
            <a:ext cx="2674620" cy="640080"/>
          </a:xfrm>
          <a:prstGeom prst="rect">
            <a:avLst/>
          </a:prstGeom>
          <a:noFill/>
        </p:spPr>
        <p:txBody>
          <a:bodyPr wrap="square" lIns="18288" rIns="18288" tIns="9144" bIns="9144">
            <a:spAutoFit/>
          </a:bodyPr>
          <a:lstStyle/>
          <a:p>
            <a:pPr algn="ctr">
              <a:lnSpc>
                <a:spcPct val="100000"/>
              </a:lnSpc>
              <a:defRPr sz="1700" b="1">
                <a:solidFill>
                  <a:srgbClr val="21201C"/>
                </a:solidFill>
                <a:latin typeface="Cambria"/>
              </a:defRPr>
            </a:pPr>
            <a:r>
              <a:t>AI Agents</a:t>
            </a:r>
          </a:p>
        </p:txBody>
      </p:sp>
      <p:sp>
        <p:nvSpPr>
          <p:cNvPr id="18" name="Oval 17"/>
          <p:cNvSpPr/>
          <p:nvPr/>
        </p:nvSpPr>
        <p:spPr>
          <a:xfrm>
            <a:off x="9818369" y="3255263"/>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libri"/>
              </a:defRPr>
            </a:pPr>
            <a:r>
              <a:t>2026</a:t>
            </a:r>
          </a:p>
        </p:txBody>
      </p:sp>
      <p:sp>
        <p:nvSpPr>
          <p:cNvPr id="19" name="TextBox 18"/>
          <p:cNvSpPr txBox="1"/>
          <p:nvPr/>
        </p:nvSpPr>
        <p:spPr>
          <a:xfrm>
            <a:off x="8919972" y="4251960"/>
            <a:ext cx="2619756" cy="1463040"/>
          </a:xfrm>
          <a:prstGeom prst="rect">
            <a:avLst/>
          </a:prstGeom>
          <a:noFill/>
        </p:spPr>
        <p:txBody>
          <a:bodyPr wrap="square" lIns="18288" rIns="18288" tIns="9144" bIns="9144">
            <a:spAutoFit/>
          </a:bodyPr>
          <a:lstStyle/>
          <a:p>
            <a:pPr algn="ctr">
              <a:lnSpc>
                <a:spcPct val="110000"/>
              </a:lnSpc>
              <a:defRPr sz="1150" b="0">
                <a:solidFill>
                  <a:srgbClr val="6B6862"/>
                </a:solidFill>
                <a:latin typeface="Calibri"/>
              </a:defRPr>
            </a:pPr>
            <a:r>
              <a:t>Always-on agents that work 24/7 on their own, e.g. OpenClaw and Hermes Agent; Claude Code agent teams talk to each other.</a:t>
            </a:r>
          </a:p>
        </p:txBody>
      </p:sp>
      <p:sp>
        <p:nvSpPr>
          <p:cNvPr id="20" name="TextBox 19"/>
          <p:cNvSpPr txBox="1"/>
          <p:nvPr/>
        </p:nvSpPr>
        <p:spPr>
          <a:xfrm>
            <a:off x="548640" y="5897880"/>
            <a:ext cx="11064240" cy="365760"/>
          </a:xfrm>
          <a:prstGeom prst="rect">
            <a:avLst/>
          </a:prstGeom>
          <a:noFill/>
        </p:spPr>
        <p:txBody>
          <a:bodyPr wrap="square" lIns="18288" rIns="18288" tIns="9144" bIns="9144">
            <a:spAutoFit/>
          </a:bodyPr>
          <a:lstStyle/>
          <a:p>
            <a:pPr algn="ctr">
              <a:lnSpc>
                <a:spcPct val="100000"/>
              </a:lnSpc>
              <a:defRPr sz="1100" b="0">
                <a:solidFill>
                  <a:srgbClr val="6B6862"/>
                </a:solidFill>
                <a:latin typeface="Calibri"/>
              </a:defRPr>
            </a:pPr>
            <a:r>
              <a:t>From wording one prompt, to curating context, to engineering the system around the model — and now, agents that work around the clock.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HARNESS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a Harness?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model is the brain. The harness is everything built around it that turns a model into an agent able to finish long tasks.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agentic loop</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Plans, acts, checks the result and repeats until the goal is met.</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Tools and context</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Files, commands, search and connectors (MCP); instructions, memory and skills loaded at the right moment.</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Guardrails and checks</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Permission modes, approvals, hooks and tests — what it must ask before it acts.</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Harnesses you will meet</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Claude Code and Claude in class; also Codex, Gemini CLI and OpenClaw.</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AGENTIC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Agentic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agent runs the same repeating cycle. A team is several loops, side by side.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17</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Gather context</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prompt, CLAUDE.md, its instructions, files and skills.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Plan</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Decides the next step — or proposes a plan for you to approve.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Take action</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Calls a tool: writes a file, searches, uses a connector, starts a subagent.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Verify</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Checks the result: a count, a test, the Lead's review.</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Repeat</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Loops until the goal is met — then reports what it did.</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Goal in → context → action → verification → repeat → goal met.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AGENTIC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Why the Loop Matters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Running a team of agents is steering loops, not typing commands.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18</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Give direction, not micro-steps</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State the goal, the inputs and "done when". Let each loop work out the steps.</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Verification is everything</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agent is only as good as its checks: a facts sheet, a test, the Lead's review.</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Steer mid-loop</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Read the plan, interrupt, correct the course — do not wait for a wrong final answer.</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Context is the fuel</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What an agent can see decides what it can do: the brief, the data, the skills.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AGENTS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Agentic AI vs AI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Both use tools, skills and memory. The difference is how long they live and what starts them.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19</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71724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FEATURE</a:t>
            </a:r>
          </a:p>
        </p:txBody>
      </p:sp>
      <p:sp>
        <p:nvSpPr>
          <p:cNvPr id="10" name="TextBox 9"/>
          <p:cNvSpPr txBox="1"/>
          <p:nvPr/>
        </p:nvSpPr>
        <p:spPr>
          <a:xfrm>
            <a:off x="2741371" y="2203703"/>
            <a:ext cx="426201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AGENTIC AI — TASK-ORIENTED</a:t>
            </a:r>
          </a:p>
        </p:txBody>
      </p:sp>
      <p:sp>
        <p:nvSpPr>
          <p:cNvPr id="11" name="TextBox 10"/>
          <p:cNvSpPr txBox="1"/>
          <p:nvPr/>
        </p:nvSpPr>
        <p:spPr>
          <a:xfrm>
            <a:off x="7277709" y="2203703"/>
            <a:ext cx="426201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AI AGENTS — ALWAYS ON, 24/7</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Tool calling</a:t>
            </a:r>
          </a:p>
        </p:txBody>
      </p:sp>
      <p:sp>
        <p:nvSpPr>
          <p:cNvPr id="14" name="TextBox 13"/>
          <p:cNvSpPr txBox="1"/>
          <p:nvPr/>
        </p:nvSpPr>
        <p:spPr>
          <a:xfrm>
            <a:off x="2741371" y="2560320"/>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files, search, connectors, subagents.</a:t>
            </a:r>
          </a:p>
        </p:txBody>
      </p:sp>
      <p:sp>
        <p:nvSpPr>
          <p:cNvPr id="15" name="TextBox 14"/>
          <p:cNvSpPr txBox="1"/>
          <p:nvPr/>
        </p:nvSpPr>
        <p:spPr>
          <a:xfrm>
            <a:off x="7277709" y="2560320"/>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plus chat apps, the browser and other agents.</a:t>
            </a:r>
          </a:p>
        </p:txBody>
      </p:sp>
      <p:sp>
        <p:nvSpPr>
          <p:cNvPr id="16" name="TextBox 15"/>
          <p:cNvSpPr txBox="1"/>
          <p:nvPr/>
        </p:nvSpPr>
        <p:spPr>
          <a:xfrm>
            <a:off x="749808" y="3084575"/>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Skills</a:t>
            </a:r>
          </a:p>
        </p:txBody>
      </p:sp>
      <p:sp>
        <p:nvSpPr>
          <p:cNvPr id="17" name="TextBox 16"/>
          <p:cNvSpPr txBox="1"/>
          <p:nvPr/>
        </p:nvSpPr>
        <p:spPr>
          <a:xfrm>
            <a:off x="2741371" y="3084575"/>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loads SKILL.md procedures when the task matches.</a:t>
            </a:r>
          </a:p>
        </p:txBody>
      </p:sp>
      <p:sp>
        <p:nvSpPr>
          <p:cNvPr id="18" name="TextBox 17"/>
          <p:cNvSpPr txBox="1"/>
          <p:nvPr/>
        </p:nvSpPr>
        <p:spPr>
          <a:xfrm>
            <a:off x="7277709" y="3084575"/>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Yes — and can write and improve its own skills.</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Memory</a:t>
            </a:r>
          </a:p>
        </p:txBody>
      </p:sp>
      <p:sp>
        <p:nvSpPr>
          <p:cNvPr id="21" name="TextBox 20"/>
          <p:cNvSpPr txBox="1"/>
          <p:nvPr/>
        </p:nvSpPr>
        <p:spPr>
          <a:xfrm>
            <a:off x="2741371" y="3608831"/>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Within the task, plus project memory across sessions.</a:t>
            </a:r>
          </a:p>
        </p:txBody>
      </p:sp>
      <p:sp>
        <p:nvSpPr>
          <p:cNvPr id="22" name="TextBox 21"/>
          <p:cNvSpPr txBox="1"/>
          <p:nvPr/>
        </p:nvSpPr>
        <p:spPr>
          <a:xfrm>
            <a:off x="7277709" y="3608831"/>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Long-term memory about you and your work.</a:t>
            </a:r>
          </a:p>
        </p:txBody>
      </p:sp>
      <p:sp>
        <p:nvSpPr>
          <p:cNvPr id="23" name="TextBox 22"/>
          <p:cNvSpPr txBox="1"/>
          <p:nvPr/>
        </p:nvSpPr>
        <p:spPr>
          <a:xfrm>
            <a:off x="749808" y="4133087"/>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Availability</a:t>
            </a:r>
          </a:p>
        </p:txBody>
      </p:sp>
      <p:sp>
        <p:nvSpPr>
          <p:cNvPr id="24" name="TextBox 23"/>
          <p:cNvSpPr txBox="1"/>
          <p:nvPr/>
        </p:nvSpPr>
        <p:spPr>
          <a:xfrm>
            <a:off x="2741371" y="4133087"/>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Starts when you give it a task; stops when done.</a:t>
            </a:r>
          </a:p>
        </p:txBody>
      </p:sp>
      <p:sp>
        <p:nvSpPr>
          <p:cNvPr id="25" name="TextBox 24"/>
          <p:cNvSpPr txBox="1"/>
          <p:nvPr/>
        </p:nvSpPr>
        <p:spPr>
          <a:xfrm>
            <a:off x="7277709" y="4133087"/>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Runs 24/7 on a computer or server.</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Started by</a:t>
            </a:r>
          </a:p>
        </p:txBody>
      </p:sp>
      <p:sp>
        <p:nvSpPr>
          <p:cNvPr id="28" name="TextBox 27"/>
          <p:cNvSpPr txBox="1"/>
          <p:nvPr/>
        </p:nvSpPr>
        <p:spPr>
          <a:xfrm>
            <a:off x="2741371" y="4657344"/>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 with a task.</a:t>
            </a:r>
          </a:p>
        </p:txBody>
      </p:sp>
      <p:sp>
        <p:nvSpPr>
          <p:cNvPr id="29" name="TextBox 28"/>
          <p:cNvSpPr txBox="1"/>
          <p:nvPr/>
        </p:nvSpPr>
        <p:spPr>
          <a:xfrm>
            <a:off x="7277709" y="4657344"/>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 a schedule, a message or another agent.</a:t>
            </a:r>
          </a:p>
        </p:txBody>
      </p:sp>
      <p:sp>
        <p:nvSpPr>
          <p:cNvPr id="30" name="TextBox 29"/>
          <p:cNvSpPr txBox="1"/>
          <p:nvPr/>
        </p:nvSpPr>
        <p:spPr>
          <a:xfrm>
            <a:off x="749808" y="5181599"/>
            <a:ext cx="1717243"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In this course</a:t>
            </a:r>
          </a:p>
        </p:txBody>
      </p:sp>
      <p:sp>
        <p:nvSpPr>
          <p:cNvPr id="31" name="TextBox 30"/>
          <p:cNvSpPr txBox="1"/>
          <p:nvPr/>
        </p:nvSpPr>
        <p:spPr>
          <a:xfrm>
            <a:off x="2741371" y="5181599"/>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 Claude Code session running a campaign (Labs 1–5, 10–12).</a:t>
            </a:r>
          </a:p>
        </p:txBody>
      </p:sp>
      <p:sp>
        <p:nvSpPr>
          <p:cNvPr id="32" name="TextBox 31"/>
          <p:cNvSpPr txBox="1"/>
          <p:nvPr/>
        </p:nvSpPr>
        <p:spPr>
          <a:xfrm>
            <a:off x="7277709" y="5181599"/>
            <a:ext cx="426201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scheduled weekly report (Lab 13).</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Rule of thumb: a job with an end → agentic AI; a job that recurs → an always-on agent.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OVERVIEW · ANATOMY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What Is an Agent Made Of?</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model on its own can only answer. Wrap it with these parts and it can act — and check what it did.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20</a:t>
            </a:r>
          </a:p>
        </p:txBody>
      </p:sp>
      <p:sp>
        <p:nvSpPr>
          <p:cNvPr id="8" name="Rounded Rectangle 7"/>
          <p:cNvSpPr/>
          <p:nvPr/>
        </p:nvSpPr>
        <p:spPr>
          <a:xfrm>
            <a:off x="548640" y="2157984"/>
            <a:ext cx="11064240" cy="3383280"/>
          </a:xfrm>
          <a:prstGeom prst="roundRect">
            <a:avLst>
              <a:gd name="adj" fmla="val 4000"/>
            </a:avLst>
          </a:prstGeom>
          <a:noFill/>
          <a:ln w="222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002536"/>
            <a:ext cx="3749039" cy="310896"/>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THE AGENT</a:t>
            </a:r>
          </a:p>
        </p:txBody>
      </p:sp>
      <p:sp>
        <p:nvSpPr>
          <p:cNvPr id="10" name="Rounded Rectangle 9"/>
          <p:cNvSpPr/>
          <p:nvPr/>
        </p:nvSpPr>
        <p:spPr>
          <a:xfrm>
            <a:off x="4754879" y="3003804"/>
            <a:ext cx="2651760" cy="178308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79" y="3150108"/>
            <a:ext cx="2651760" cy="237744"/>
          </a:xfrm>
          <a:prstGeom prst="rect">
            <a:avLst/>
          </a:prstGeom>
          <a:noFill/>
        </p:spPr>
        <p:txBody>
          <a:bodyPr wrap="square" lIns="18288" rIns="18288" tIns="9144" bIns="9144">
            <a:spAutoFit/>
          </a:bodyPr>
          <a:lstStyle/>
          <a:p>
            <a:pPr algn="ctr">
              <a:lnSpc>
                <a:spcPct val="100000"/>
              </a:lnSpc>
              <a:defRPr sz="1050" b="1">
                <a:solidFill>
                  <a:srgbClr val="D97757"/>
                </a:solidFill>
                <a:latin typeface="Calibri"/>
              </a:defRPr>
            </a:pPr>
            <a:r>
              <a:t>THE BRAIN</a:t>
            </a:r>
          </a:p>
        </p:txBody>
      </p:sp>
      <p:sp>
        <p:nvSpPr>
          <p:cNvPr id="12" name="TextBox 11"/>
          <p:cNvSpPr txBox="1"/>
          <p:nvPr/>
        </p:nvSpPr>
        <p:spPr>
          <a:xfrm>
            <a:off x="4754879" y="3406140"/>
            <a:ext cx="2651760" cy="420624"/>
          </a:xfrm>
          <a:prstGeom prst="rect">
            <a:avLst/>
          </a:prstGeom>
          <a:noFill/>
        </p:spPr>
        <p:txBody>
          <a:bodyPr wrap="square" lIns="18288" rIns="18288" tIns="9144" bIns="9144">
            <a:spAutoFit/>
          </a:bodyPr>
          <a:lstStyle/>
          <a:p>
            <a:pPr algn="ctr">
              <a:lnSpc>
                <a:spcPct val="100000"/>
              </a:lnSpc>
              <a:defRPr sz="2200" b="1">
                <a:solidFill>
                  <a:srgbClr val="FFFFFF"/>
                </a:solidFill>
                <a:latin typeface="Cambria"/>
              </a:defRPr>
            </a:pPr>
            <a:r>
              <a:t>Claude</a:t>
            </a:r>
          </a:p>
        </p:txBody>
      </p:sp>
      <p:sp>
        <p:nvSpPr>
          <p:cNvPr id="13" name="TextBox 12"/>
          <p:cNvSpPr txBox="1"/>
          <p:nvPr/>
        </p:nvSpPr>
        <p:spPr>
          <a:xfrm>
            <a:off x="4892040" y="3899916"/>
            <a:ext cx="2377440" cy="274320"/>
          </a:xfrm>
          <a:prstGeom prst="rect">
            <a:avLst/>
          </a:prstGeom>
          <a:noFill/>
        </p:spPr>
        <p:txBody>
          <a:bodyPr wrap="square" lIns="18288" rIns="18288" tIns="9144" bIns="9144">
            <a:spAutoFit/>
          </a:bodyPr>
          <a:lstStyle/>
          <a:p>
            <a:pPr algn="ctr">
              <a:lnSpc>
                <a:spcPct val="100000"/>
              </a:lnSpc>
              <a:defRPr sz="1100" b="0">
                <a:solidFill>
                  <a:srgbClr val="C9C4B9"/>
                </a:solidFill>
                <a:latin typeface="Calibri"/>
              </a:defRPr>
            </a:pPr>
            <a:r>
              <a:t>the model</a:t>
            </a:r>
          </a:p>
        </p:txBody>
      </p:sp>
      <p:sp>
        <p:nvSpPr>
          <p:cNvPr id="14" name="TextBox 13"/>
          <p:cNvSpPr txBox="1"/>
          <p:nvPr/>
        </p:nvSpPr>
        <p:spPr>
          <a:xfrm>
            <a:off x="4892040" y="4192524"/>
            <a:ext cx="2377440" cy="502920"/>
          </a:xfrm>
          <a:prstGeom prst="rect">
            <a:avLst/>
          </a:prstGeom>
          <a:noFill/>
        </p:spPr>
        <p:txBody>
          <a:bodyPr wrap="square" lIns="18288" rIns="18288" tIns="9144" bIns="9144">
            <a:spAutoFit/>
          </a:bodyPr>
          <a:lstStyle/>
          <a:p>
            <a:pPr algn="ctr">
              <a:lnSpc>
                <a:spcPct val="100000"/>
              </a:lnSpc>
              <a:defRPr sz="1050" b="0">
                <a:solidFill>
                  <a:srgbClr val="E8E5DE"/>
                </a:solidFill>
                <a:latin typeface="Calibri"/>
              </a:defRPr>
            </a:pPr>
            <a:r>
              <a:t>Reads the goal, plans the next step and picks the part to use.</a:t>
            </a:r>
          </a:p>
        </p:txBody>
      </p:sp>
      <p:sp>
        <p:nvSpPr>
          <p:cNvPr id="15" name="Rounded Rectangle 14"/>
          <p:cNvSpPr/>
          <p:nvPr/>
        </p:nvSpPr>
        <p:spPr>
          <a:xfrm>
            <a:off x="777240" y="243230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2505456"/>
            <a:ext cx="64008" cy="78333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 y="249631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Instructions</a:t>
            </a:r>
          </a:p>
        </p:txBody>
      </p:sp>
      <p:sp>
        <p:nvSpPr>
          <p:cNvPr id="18" name="TextBox 17"/>
          <p:cNvSpPr txBox="1"/>
          <p:nvPr/>
        </p:nvSpPr>
        <p:spPr>
          <a:xfrm>
            <a:off x="978408" y="277063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Its job and rules — CLAUDE.md and an agent file.</a:t>
            </a:r>
          </a:p>
        </p:txBody>
      </p:sp>
      <p:cxnSp>
        <p:nvCxnSpPr>
          <p:cNvPr id="19" name="Connector 18"/>
          <p:cNvCxnSpPr/>
          <p:nvPr/>
        </p:nvCxnSpPr>
        <p:spPr>
          <a:xfrm flipH="1" flipV="1">
            <a:off x="4480559" y="2897123"/>
            <a:ext cx="274320" cy="998221"/>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77240" y="345338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526536"/>
            <a:ext cx="64008" cy="783336"/>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8408" y="351739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Tools</a:t>
            </a:r>
          </a:p>
        </p:txBody>
      </p:sp>
      <p:sp>
        <p:nvSpPr>
          <p:cNvPr id="23" name="TextBox 22"/>
          <p:cNvSpPr txBox="1"/>
          <p:nvPr/>
        </p:nvSpPr>
        <p:spPr>
          <a:xfrm>
            <a:off x="978408" y="379171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Actions: read and write files, search, run code, use a connector.</a:t>
            </a:r>
          </a:p>
        </p:txBody>
      </p:sp>
      <p:cxnSp>
        <p:nvCxnSpPr>
          <p:cNvPr id="24" name="Connector 23"/>
          <p:cNvCxnSpPr/>
          <p:nvPr/>
        </p:nvCxnSpPr>
        <p:spPr>
          <a:xfrm flipH="1">
            <a:off x="4480559" y="3895344"/>
            <a:ext cx="274320" cy="22860"/>
          </a:xfrm>
          <a:prstGeom prst="line">
            <a:avLst/>
          </a:prstGeom>
          <a:ln w="19050">
            <a:solidFill>
              <a:srgbClr val="C2603F"/>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 y="4474464"/>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547616"/>
            <a:ext cx="64008" cy="78333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8408" y="4538472"/>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Skills</a:t>
            </a:r>
          </a:p>
        </p:txBody>
      </p:sp>
      <p:sp>
        <p:nvSpPr>
          <p:cNvPr id="28" name="TextBox 27"/>
          <p:cNvSpPr txBox="1"/>
          <p:nvPr/>
        </p:nvSpPr>
        <p:spPr>
          <a:xfrm>
            <a:off x="978408" y="481279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Saved procedures it loads when the task matches — SKILL.md.</a:t>
            </a:r>
          </a:p>
        </p:txBody>
      </p:sp>
      <p:cxnSp>
        <p:nvCxnSpPr>
          <p:cNvPr id="29" name="Connector 28"/>
          <p:cNvCxnSpPr/>
          <p:nvPr/>
        </p:nvCxnSpPr>
        <p:spPr>
          <a:xfrm flipH="1">
            <a:off x="4480559" y="3895344"/>
            <a:ext cx="274320" cy="104394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680959" y="243230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680959" y="2505456"/>
            <a:ext cx="64008" cy="783336"/>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82127" y="249631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Memory</a:t>
            </a:r>
          </a:p>
        </p:txBody>
      </p:sp>
      <p:sp>
        <p:nvSpPr>
          <p:cNvPr id="33" name="TextBox 32"/>
          <p:cNvSpPr txBox="1"/>
          <p:nvPr/>
        </p:nvSpPr>
        <p:spPr>
          <a:xfrm>
            <a:off x="7882127" y="277063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What it keeps between sessions: preferences, past fixes.</a:t>
            </a:r>
          </a:p>
        </p:txBody>
      </p:sp>
      <p:cxnSp>
        <p:nvCxnSpPr>
          <p:cNvPr id="34" name="Connector 33"/>
          <p:cNvCxnSpPr/>
          <p:nvPr/>
        </p:nvCxnSpPr>
        <p:spPr>
          <a:xfrm flipV="1">
            <a:off x="7406640" y="2897123"/>
            <a:ext cx="274319" cy="998221"/>
          </a:xfrm>
          <a:prstGeom prst="line">
            <a:avLst/>
          </a:prstGeom>
          <a:ln w="19050">
            <a:solidFill>
              <a:srgbClr val="5B4B8A"/>
            </a:solidFill>
            <a:tailEnd type="triangle"/>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7680959" y="3453383"/>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680959" y="3526536"/>
            <a:ext cx="64008" cy="783336"/>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82127" y="3517391"/>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Knowledge base</a:t>
            </a:r>
          </a:p>
        </p:txBody>
      </p:sp>
      <p:sp>
        <p:nvSpPr>
          <p:cNvPr id="38" name="TextBox 37"/>
          <p:cNvSpPr txBox="1"/>
          <p:nvPr/>
        </p:nvSpPr>
        <p:spPr>
          <a:xfrm>
            <a:off x="7882127" y="379171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Trusted sources only: Horizon's facts sheet, brand and compliance rules.</a:t>
            </a:r>
          </a:p>
        </p:txBody>
      </p:sp>
      <p:cxnSp>
        <p:nvCxnSpPr>
          <p:cNvPr id="39" name="Connector 38"/>
          <p:cNvCxnSpPr/>
          <p:nvPr/>
        </p:nvCxnSpPr>
        <p:spPr>
          <a:xfrm>
            <a:off x="7406640" y="3895344"/>
            <a:ext cx="274319" cy="22860"/>
          </a:xfrm>
          <a:prstGeom prst="line">
            <a:avLst/>
          </a:prstGeom>
          <a:ln w="19050">
            <a:solidFill>
              <a:srgbClr val="26405A"/>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7680959" y="4474464"/>
            <a:ext cx="3703320" cy="92964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680959" y="4547616"/>
            <a:ext cx="64008" cy="783336"/>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882127" y="4538472"/>
            <a:ext cx="3410712"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Guardrails</a:t>
            </a:r>
          </a:p>
        </p:txBody>
      </p:sp>
      <p:sp>
        <p:nvSpPr>
          <p:cNvPr id="43" name="TextBox 42"/>
          <p:cNvSpPr txBox="1"/>
          <p:nvPr/>
        </p:nvSpPr>
        <p:spPr>
          <a:xfrm>
            <a:off x="7882127" y="4812792"/>
            <a:ext cx="3410712" cy="563880"/>
          </a:xfrm>
          <a:prstGeom prst="rect">
            <a:avLst/>
          </a:prstGeom>
          <a:noFill/>
        </p:spPr>
        <p:txBody>
          <a:bodyPr wrap="square" lIns="18288" rIns="18288" tIns="9144" bIns="9144">
            <a:spAutoFit/>
          </a:bodyPr>
          <a:lstStyle/>
          <a:p>
            <a:pPr>
              <a:lnSpc>
                <a:spcPct val="100000"/>
              </a:lnSpc>
              <a:defRPr sz="1000" b="0">
                <a:solidFill>
                  <a:srgbClr val="6B6862"/>
                </a:solidFill>
                <a:latin typeface="Calibri"/>
              </a:defRPr>
            </a:pPr>
            <a:r>
              <a:t>Permissions, approvals and hooks — what it must ask first.</a:t>
            </a:r>
          </a:p>
        </p:txBody>
      </p:sp>
      <p:cxnSp>
        <p:nvCxnSpPr>
          <p:cNvPr id="44" name="Connector 43"/>
          <p:cNvCxnSpPr/>
          <p:nvPr/>
        </p:nvCxnSpPr>
        <p:spPr>
          <a:xfrm>
            <a:off x="7406640" y="3895344"/>
            <a:ext cx="274319" cy="1043940"/>
          </a:xfrm>
          <a:prstGeom prst="line">
            <a:avLst/>
          </a:prstGeom>
          <a:ln w="19050">
            <a:solidFill>
              <a:srgbClr val="2E2C26"/>
            </a:solidFill>
            <a:tailEnd type="triangle"/>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548640" y="5632704"/>
            <a:ext cx="11064240" cy="512064"/>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 y="5696712"/>
            <a:ext cx="10607040" cy="384048"/>
          </a:xfrm>
          <a:prstGeom prst="rect">
            <a:avLst/>
          </a:prstGeom>
          <a:noFill/>
        </p:spPr>
        <p:txBody>
          <a:bodyPr wrap="square" lIns="18288" rIns="18288" tIns="9144" bIns="9144" anchor="ctr">
            <a:spAutoFit/>
          </a:bodyPr>
          <a:lstStyle/>
          <a:p>
            <a:pPr algn="ctr">
              <a:lnSpc>
                <a:spcPct val="100000"/>
              </a:lnSpc>
              <a:defRPr sz="1200" b="0">
                <a:solidFill>
                  <a:srgbClr val="FFFFFF"/>
                </a:solidFill>
                <a:latin typeface="Calibri"/>
              </a:defRPr>
            </a:pPr>
            <a:r>
              <a:t>You build every one of these for Horizon's six agents in Labs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a Marketing Team, Then Run Campaigns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Horizon Wealth Planning has a website, a goal of 40 booked chats a month — and no marketing team. You build one, made of AI agents.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21</a:t>
            </a:r>
          </a:p>
        </p:txBody>
      </p:sp>
      <p:sp>
        <p:nvSpPr>
          <p:cNvPr id="8" name="Pentagon 7"/>
          <p:cNvSpPr/>
          <p:nvPr/>
        </p:nvSpPr>
        <p:spPr>
          <a:xfrm>
            <a:off x="548640" y="2084831"/>
            <a:ext cx="19202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000" b="1">
                <a:solidFill>
                  <a:srgbClr val="FFFFFF"/>
                </a:solidFill>
                <a:latin typeface="Calibri"/>
              </a:defRPr>
            </a:pPr>
            <a:r>
              <a:t>01</a:t>
            </a:r>
          </a:p>
        </p:txBody>
      </p:sp>
      <p:sp>
        <p:nvSpPr>
          <p:cNvPr id="9" name="Rounded Rectangle 8"/>
          <p:cNvSpPr/>
          <p:nvPr/>
        </p:nvSpPr>
        <p:spPr>
          <a:xfrm>
            <a:off x="548640" y="2962656"/>
            <a:ext cx="17739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17739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517904"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Form the team</a:t>
            </a:r>
          </a:p>
        </p:txBody>
      </p:sp>
      <p:sp>
        <p:nvSpPr>
          <p:cNvPr id="12" name="TextBox 11"/>
          <p:cNvSpPr txBox="1"/>
          <p:nvPr/>
        </p:nvSpPr>
        <p:spPr>
          <a:xfrm>
            <a:off x="676656" y="3730752"/>
            <a:ext cx="1517904"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 Lead and five specialists: instructions, skills, connectors (Labs 1–4).</a:t>
            </a:r>
          </a:p>
        </p:txBody>
      </p:sp>
      <p:sp>
        <p:nvSpPr>
          <p:cNvPr id="13" name="Chevron 12"/>
          <p:cNvSpPr/>
          <p:nvPr/>
        </p:nvSpPr>
        <p:spPr>
          <a:xfrm>
            <a:off x="2377440" y="2084831"/>
            <a:ext cx="19202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02</a:t>
            </a:r>
          </a:p>
        </p:txBody>
      </p:sp>
      <p:sp>
        <p:nvSpPr>
          <p:cNvPr id="14" name="Rounded Rectangle 13"/>
          <p:cNvSpPr/>
          <p:nvPr/>
        </p:nvSpPr>
        <p:spPr>
          <a:xfrm>
            <a:off x="24688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68880" y="2962656"/>
            <a:ext cx="168249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 1</a:t>
            </a:r>
          </a:p>
        </p:txBody>
      </p:sp>
      <p:sp>
        <p:nvSpPr>
          <p:cNvPr id="17" name="TextBox 16"/>
          <p:cNvSpPr txBox="1"/>
          <p:nvPr/>
        </p:nvSpPr>
        <p:spPr>
          <a:xfrm>
            <a:off x="25968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Research, ideas and a storyboard (Lab 5).</a:t>
            </a:r>
          </a:p>
        </p:txBody>
      </p:sp>
      <p:sp>
        <p:nvSpPr>
          <p:cNvPr id="18" name="Chevron 17"/>
          <p:cNvSpPr/>
          <p:nvPr/>
        </p:nvSpPr>
        <p:spPr>
          <a:xfrm>
            <a:off x="4206240" y="2084831"/>
            <a:ext cx="19202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03</a:t>
            </a:r>
          </a:p>
        </p:txBody>
      </p:sp>
      <p:sp>
        <p:nvSpPr>
          <p:cNvPr id="19" name="Rounded Rectangle 18"/>
          <p:cNvSpPr/>
          <p:nvPr/>
        </p:nvSpPr>
        <p:spPr>
          <a:xfrm>
            <a:off x="42976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79" y="2962656"/>
            <a:ext cx="168249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56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Know the audience</a:t>
            </a:r>
          </a:p>
        </p:txBody>
      </p:sp>
      <p:sp>
        <p:nvSpPr>
          <p:cNvPr id="22" name="TextBox 21"/>
          <p:cNvSpPr txBox="1"/>
          <p:nvPr/>
        </p:nvSpPr>
        <p:spPr>
          <a:xfrm>
            <a:off x="44256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Personas, requirements, cadence (Labs 6–7).</a:t>
            </a:r>
          </a:p>
        </p:txBody>
      </p:sp>
      <p:sp>
        <p:nvSpPr>
          <p:cNvPr id="23" name="Chevron 22"/>
          <p:cNvSpPr/>
          <p:nvPr/>
        </p:nvSpPr>
        <p:spPr>
          <a:xfrm>
            <a:off x="6035040" y="2084831"/>
            <a:ext cx="19202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04</a:t>
            </a:r>
          </a:p>
        </p:txBody>
      </p:sp>
      <p:sp>
        <p:nvSpPr>
          <p:cNvPr id="24" name="Rounded Rectangle 23"/>
          <p:cNvSpPr/>
          <p:nvPr/>
        </p:nvSpPr>
        <p:spPr>
          <a:xfrm>
            <a:off x="61264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79" y="2962656"/>
            <a:ext cx="168249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First content</a:t>
            </a:r>
          </a:p>
        </p:txBody>
      </p:sp>
      <p:sp>
        <p:nvSpPr>
          <p:cNvPr id="27" name="TextBox 26"/>
          <p:cNvSpPr txBox="1"/>
          <p:nvPr/>
        </p:nvSpPr>
        <p:spPr>
          <a:xfrm>
            <a:off x="62544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 blog article and the lead magnet (Labs 8–9).</a:t>
            </a:r>
          </a:p>
        </p:txBody>
      </p:sp>
      <p:sp>
        <p:nvSpPr>
          <p:cNvPr id="28" name="Chevron 27"/>
          <p:cNvSpPr/>
          <p:nvPr/>
        </p:nvSpPr>
        <p:spPr>
          <a:xfrm>
            <a:off x="7863840" y="2084831"/>
            <a:ext cx="192024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05</a:t>
            </a:r>
          </a:p>
        </p:txBody>
      </p:sp>
      <p:sp>
        <p:nvSpPr>
          <p:cNvPr id="29" name="Rounded Rectangle 28"/>
          <p:cNvSpPr/>
          <p:nvPr/>
        </p:nvSpPr>
        <p:spPr>
          <a:xfrm>
            <a:off x="79552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55279" y="2962656"/>
            <a:ext cx="168249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832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Campaigns 2–4</a:t>
            </a:r>
          </a:p>
        </p:txBody>
      </p:sp>
      <p:sp>
        <p:nvSpPr>
          <p:cNvPr id="32" name="TextBox 31"/>
          <p:cNvSpPr txBox="1"/>
          <p:nvPr/>
        </p:nvSpPr>
        <p:spPr>
          <a:xfrm>
            <a:off x="80832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Social week, newsletter + landing page, video (Labs 10–12).</a:t>
            </a:r>
          </a:p>
        </p:txBody>
      </p:sp>
      <p:sp>
        <p:nvSpPr>
          <p:cNvPr id="33" name="Chevron 32"/>
          <p:cNvSpPr/>
          <p:nvPr/>
        </p:nvSpPr>
        <p:spPr>
          <a:xfrm>
            <a:off x="9692640" y="2084831"/>
            <a:ext cx="1920240" cy="731520"/>
          </a:xfrm>
          <a:prstGeom prst="chevron">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06</a:t>
            </a:r>
          </a:p>
        </p:txBody>
      </p:sp>
      <p:sp>
        <p:nvSpPr>
          <p:cNvPr id="34" name="Rounded Rectangle 33"/>
          <p:cNvSpPr/>
          <p:nvPr/>
        </p:nvSpPr>
        <p:spPr>
          <a:xfrm>
            <a:off x="97840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784080" y="2962656"/>
            <a:ext cx="1682495" cy="54864"/>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120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 5</a:t>
            </a:r>
          </a:p>
        </p:txBody>
      </p:sp>
      <p:sp>
        <p:nvSpPr>
          <p:cNvPr id="37" name="TextBox 36"/>
          <p:cNvSpPr txBox="1"/>
          <p:nvPr/>
        </p:nvSpPr>
        <p:spPr>
          <a:xfrm>
            <a:off x="99120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Always on: the weekly report; the playbook (13–14).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Meet Horizon Wealth Planning</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firm's public website — the same link for every learner. You do not build it; every campaign points back here.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22</a:t>
            </a:r>
          </a:p>
        </p:txBody>
      </p:sp>
      <p:sp>
        <p:nvSpPr>
          <p:cNvPr id="8" name="Rectangle 7"/>
          <p:cNvSpPr/>
          <p:nvPr/>
        </p:nvSpPr>
        <p:spPr>
          <a:xfrm>
            <a:off x="512064" y="2048255"/>
            <a:ext cx="5705855" cy="3593591"/>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ite-home.png">
            <a:hlinkClick r:id="rId3"/>
          </p:cNvPr>
          <p:cNvPicPr>
            <a:picLocks noChangeAspect="1"/>
          </p:cNvPicPr>
          <p:nvPr/>
        </p:nvPicPr>
        <p:blipFill>
          <a:blip r:embed="rId2"/>
          <a:stretch>
            <a:fillRect/>
          </a:stretch>
        </p:blipFill>
        <p:spPr>
          <a:xfrm>
            <a:off x="548640" y="2084831"/>
            <a:ext cx="5632703" cy="3520439"/>
          </a:xfrm>
          <a:prstGeom prst="rect">
            <a:avLst/>
          </a:prstGeom>
        </p:spPr>
      </p:pic>
      <p:sp>
        <p:nvSpPr>
          <p:cNvPr id="10" name="TextBox 9"/>
          <p:cNvSpPr txBox="1"/>
          <p:nvPr/>
        </p:nvSpPr>
        <p:spPr>
          <a:xfrm>
            <a:off x="548640" y="5751575"/>
            <a:ext cx="7223760" cy="256032"/>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rPr sz="1000" b="1">
                <a:solidFill>
                  <a:srgbClr val="D97757"/>
                </a:solidFill>
                <a:latin typeface="Calibri"/>
              </a:rPr>
              <a:t>WEBSITE   </a:t>
            </a:r>
            <a:r>
              <a:rPr sz="1000" b="0">
                <a:solidFill>
                  <a:srgbClr val="21201C"/>
                </a:solidFill>
                <a:latin typeface="Calibri"/>
                <a:hlinkClick r:id="rId3"/>
              </a:rPr>
              <a:t>tertiarycourses.github.io/C141-Claude-AI-for-Digital-Marketing</a:t>
            </a:r>
          </a:p>
        </p:txBody>
      </p:sp>
      <p:sp>
        <p:nvSpPr>
          <p:cNvPr id="11" name="Rectangle 10"/>
          <p:cNvSpPr/>
          <p:nvPr/>
        </p:nvSpPr>
        <p:spPr>
          <a:xfrm>
            <a:off x="6547103" y="2203703"/>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48271" y="2130551"/>
            <a:ext cx="4864608"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Plain English</a:t>
            </a:r>
          </a:p>
        </p:txBody>
      </p:sp>
      <p:sp>
        <p:nvSpPr>
          <p:cNvPr id="13" name="TextBox 12"/>
          <p:cNvSpPr txBox="1"/>
          <p:nvPr/>
        </p:nvSpPr>
        <p:spPr>
          <a:xfrm>
            <a:off x="6748271" y="2459735"/>
            <a:ext cx="4864608"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Retirement, CPF, insurance and investing — no jargon, no hard sell.</a:t>
            </a:r>
          </a:p>
        </p:txBody>
      </p:sp>
      <p:sp>
        <p:nvSpPr>
          <p:cNvPr id="14" name="Rectangle 13"/>
          <p:cNvSpPr/>
          <p:nvPr/>
        </p:nvSpPr>
        <p:spPr>
          <a:xfrm>
            <a:off x="6547103" y="3374135"/>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48271" y="3300983"/>
            <a:ext cx="4864608"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One goal</a:t>
            </a:r>
          </a:p>
        </p:txBody>
      </p:sp>
      <p:sp>
        <p:nvSpPr>
          <p:cNvPr id="16" name="TextBox 15"/>
          <p:cNvSpPr txBox="1"/>
          <p:nvPr/>
        </p:nvSpPr>
        <p:spPr>
          <a:xfrm>
            <a:off x="6748271" y="3630167"/>
            <a:ext cx="4864608"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Turn visitors into booked free 30-minute chats.</a:t>
            </a:r>
          </a:p>
        </p:txBody>
      </p:sp>
      <p:sp>
        <p:nvSpPr>
          <p:cNvPr id="17" name="Rectangle 16"/>
          <p:cNvSpPr/>
          <p:nvPr/>
        </p:nvSpPr>
        <p:spPr>
          <a:xfrm>
            <a:off x="6547103" y="4544568"/>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48271" y="4471416"/>
            <a:ext cx="4864608"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Regulated</a:t>
            </a:r>
          </a:p>
        </p:txBody>
      </p:sp>
      <p:sp>
        <p:nvSpPr>
          <p:cNvPr id="19" name="TextBox 18"/>
          <p:cNvSpPr txBox="1"/>
          <p:nvPr/>
        </p:nvSpPr>
        <p:spPr>
          <a:xfrm>
            <a:off x="6748271" y="4800600"/>
            <a:ext cx="4864608"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Financial content: general information only, never a promised return.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Your AI Marketing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One Lead and five specialists — each with instructions, its own skills and connectors.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23</a:t>
            </a:r>
          </a:p>
        </p:txBody>
      </p:sp>
      <p:sp>
        <p:nvSpPr>
          <p:cNvPr id="8" name="Rounded Rectangle 7"/>
          <p:cNvSpPr/>
          <p:nvPr/>
        </p:nvSpPr>
        <p:spPr>
          <a:xfrm>
            <a:off x="4069079" y="2130551"/>
            <a:ext cx="4023360" cy="73152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69079" y="2176272"/>
            <a:ext cx="4023360" cy="365760"/>
          </a:xfrm>
          <a:prstGeom prst="rect">
            <a:avLst/>
          </a:prstGeom>
          <a:noFill/>
        </p:spPr>
        <p:txBody>
          <a:bodyPr wrap="square" lIns="18288" rIns="18288" tIns="9144" bIns="9144">
            <a:spAutoFit/>
          </a:bodyPr>
          <a:lstStyle/>
          <a:p>
            <a:pPr algn="ctr">
              <a:lnSpc>
                <a:spcPct val="100000"/>
              </a:lnSpc>
              <a:defRPr sz="1800" b="1">
                <a:solidFill>
                  <a:srgbClr val="FFFFFF"/>
                </a:solidFill>
                <a:latin typeface="Cambria"/>
              </a:defRPr>
            </a:pPr>
            <a:r>
              <a:t>Marketing Team Lead</a:t>
            </a:r>
          </a:p>
        </p:txBody>
      </p:sp>
      <p:sp>
        <p:nvSpPr>
          <p:cNvPr id="10" name="TextBox 9"/>
          <p:cNvSpPr txBox="1"/>
          <p:nvPr/>
        </p:nvSpPr>
        <p:spPr>
          <a:xfrm>
            <a:off x="4251959" y="2523744"/>
            <a:ext cx="3657600" cy="274320"/>
          </a:xfrm>
          <a:prstGeom prst="rect">
            <a:avLst/>
          </a:prstGeom>
          <a:noFill/>
        </p:spPr>
        <p:txBody>
          <a:bodyPr wrap="square" lIns="18288" rIns="18288" tIns="9144" bIns="9144">
            <a:spAutoFit/>
          </a:bodyPr>
          <a:lstStyle/>
          <a:p>
            <a:pPr algn="ctr">
              <a:lnSpc>
                <a:spcPct val="100000"/>
              </a:lnSpc>
              <a:defRPr sz="1100" b="0">
                <a:solidFill>
                  <a:srgbClr val="C9C4B9"/>
                </a:solidFill>
                <a:latin typeface="Calibri"/>
              </a:defRPr>
            </a:pPr>
            <a:r>
              <a:t>plans · assigns · checks · hands to a person</a:t>
            </a:r>
          </a:p>
        </p:txBody>
      </p:sp>
      <p:cxnSp>
        <p:nvCxnSpPr>
          <p:cNvPr id="11" name="Connector 10"/>
          <p:cNvCxnSpPr/>
          <p:nvPr/>
        </p:nvCxnSpPr>
        <p:spPr>
          <a:xfrm>
            <a:off x="6080759" y="2862072"/>
            <a:ext cx="0" cy="173736"/>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589227" y="3035808"/>
            <a:ext cx="8983065" cy="0"/>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589227"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48640" y="3200400"/>
            <a:ext cx="2081174" cy="2304287"/>
          </a:xfrm>
          <a:prstGeom prst="roundRect">
            <a:avLst>
              <a:gd name="adj" fmla="val 6000"/>
            </a:avLst>
          </a:prstGeom>
          <a:noFill/>
          <a:ln w="15875">
            <a:solidFill>
              <a:srgbClr val="5B6CF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8368"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333195" y="3456432"/>
            <a:ext cx="512064" cy="512064"/>
          </a:xfrm>
          <a:prstGeom prst="roundRect">
            <a:avLst/>
          </a:prstGeom>
          <a:solidFill>
            <a:srgbClr val="5B6CF0"/>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17" name="TextBox 16"/>
          <p:cNvSpPr txBox="1"/>
          <p:nvPr/>
        </p:nvSpPr>
        <p:spPr>
          <a:xfrm>
            <a:off x="731520"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Growth Strategist</a:t>
            </a:r>
          </a:p>
        </p:txBody>
      </p:sp>
      <p:sp>
        <p:nvSpPr>
          <p:cNvPr id="18" name="TextBox 17"/>
          <p:cNvSpPr txBox="1"/>
          <p:nvPr/>
        </p:nvSpPr>
        <p:spPr>
          <a:xfrm>
            <a:off x="749808"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Research, positioning, briefs, storyboards</a:t>
            </a:r>
          </a:p>
        </p:txBody>
      </p:sp>
      <p:cxnSp>
        <p:nvCxnSpPr>
          <p:cNvPr id="19" name="Connector 18"/>
          <p:cNvCxnSpPr/>
          <p:nvPr/>
        </p:nvCxnSpPr>
        <p:spPr>
          <a:xfrm>
            <a:off x="3834993"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794406" y="3200400"/>
            <a:ext cx="2081174" cy="2304287"/>
          </a:xfrm>
          <a:prstGeom prst="roundRect">
            <a:avLst>
              <a:gd name="adj" fmla="val 6000"/>
            </a:avLst>
          </a:prstGeom>
          <a:noFill/>
          <a:ln w="15875">
            <a:solidFill>
              <a:srgbClr val="E881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04134"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578961" y="3456432"/>
            <a:ext cx="512064" cy="512064"/>
          </a:xfrm>
          <a:prstGeom prst="roundRect">
            <a:avLst/>
          </a:prstGeom>
          <a:solidFill>
            <a:srgbClr val="E8813C"/>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23" name="TextBox 22"/>
          <p:cNvSpPr txBox="1"/>
          <p:nvPr/>
        </p:nvSpPr>
        <p:spPr>
          <a:xfrm>
            <a:off x="2977286"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Content Creator</a:t>
            </a:r>
          </a:p>
        </p:txBody>
      </p:sp>
      <p:sp>
        <p:nvSpPr>
          <p:cNvPr id="24" name="TextBox 23"/>
          <p:cNvSpPr txBox="1"/>
          <p:nvPr/>
        </p:nvSpPr>
        <p:spPr>
          <a:xfrm>
            <a:off x="2995574"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Posts, newsletter, scripts, page copy</a:t>
            </a:r>
          </a:p>
        </p:txBody>
      </p:sp>
      <p:cxnSp>
        <p:nvCxnSpPr>
          <p:cNvPr id="25" name="Connector 24"/>
          <p:cNvCxnSpPr/>
          <p:nvPr/>
        </p:nvCxnSpPr>
        <p:spPr>
          <a:xfrm>
            <a:off x="6080759"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040172" y="3200400"/>
            <a:ext cx="2081174" cy="2304287"/>
          </a:xfrm>
          <a:prstGeom prst="roundRect">
            <a:avLst>
              <a:gd name="adj" fmla="val 6000"/>
            </a:avLst>
          </a:prstGeom>
          <a:noFill/>
          <a:ln w="15875">
            <a:solidFill>
              <a:srgbClr val="E77F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149900"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824727" y="3456432"/>
            <a:ext cx="512064" cy="512064"/>
          </a:xfrm>
          <a:prstGeom prst="roundRect">
            <a:avLst/>
          </a:prstGeom>
          <a:solidFill>
            <a:srgbClr val="E77FA6"/>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29" name="TextBox 28"/>
          <p:cNvSpPr txBox="1"/>
          <p:nvPr/>
        </p:nvSpPr>
        <p:spPr>
          <a:xfrm>
            <a:off x="5223052"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Creative Designer</a:t>
            </a:r>
          </a:p>
        </p:txBody>
      </p:sp>
      <p:sp>
        <p:nvSpPr>
          <p:cNvPr id="30" name="TextBox 29"/>
          <p:cNvSpPr txBox="1"/>
          <p:nvPr/>
        </p:nvSpPr>
        <p:spPr>
          <a:xfrm>
            <a:off x="5241340"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Images, thumbnails, the video</a:t>
            </a:r>
          </a:p>
        </p:txBody>
      </p:sp>
      <p:cxnSp>
        <p:nvCxnSpPr>
          <p:cNvPr id="31" name="Connector 30"/>
          <p:cNvCxnSpPr/>
          <p:nvPr/>
        </p:nvCxnSpPr>
        <p:spPr>
          <a:xfrm>
            <a:off x="8326526"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285939" y="3200400"/>
            <a:ext cx="2081174" cy="2304287"/>
          </a:xfrm>
          <a:prstGeom prst="roundRect">
            <a:avLst>
              <a:gd name="adj" fmla="val 6000"/>
            </a:avLst>
          </a:prstGeom>
          <a:noFill/>
          <a:ln w="15875">
            <a:solidFill>
              <a:srgbClr val="3A9A8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395667"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070494" y="3456432"/>
            <a:ext cx="512064" cy="512064"/>
          </a:xfrm>
          <a:prstGeom prst="roundRect">
            <a:avLst/>
          </a:prstGeom>
          <a:solidFill>
            <a:srgbClr val="3A9A8F"/>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35" name="TextBox 34"/>
          <p:cNvSpPr txBox="1"/>
          <p:nvPr/>
        </p:nvSpPr>
        <p:spPr>
          <a:xfrm>
            <a:off x="7468819"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Website Designer</a:t>
            </a:r>
          </a:p>
        </p:txBody>
      </p:sp>
      <p:sp>
        <p:nvSpPr>
          <p:cNvPr id="36" name="TextBox 35"/>
          <p:cNvSpPr txBox="1"/>
          <p:nvPr/>
        </p:nvSpPr>
        <p:spPr>
          <a:xfrm>
            <a:off x="7487107"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Landing pages, published and checked</a:t>
            </a:r>
          </a:p>
        </p:txBody>
      </p:sp>
      <p:cxnSp>
        <p:nvCxnSpPr>
          <p:cNvPr id="37" name="Connector 36"/>
          <p:cNvCxnSpPr/>
          <p:nvPr/>
        </p:nvCxnSpPr>
        <p:spPr>
          <a:xfrm>
            <a:off x="10572292" y="3035808"/>
            <a:ext cx="0" cy="164592"/>
          </a:xfrm>
          <a:prstGeom prst="line">
            <a:avLst/>
          </a:prstGeom>
          <a:ln w="22225">
            <a:solidFill>
              <a:srgbClr val="21201C"/>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531705" y="3200400"/>
            <a:ext cx="2081174" cy="2304287"/>
          </a:xfrm>
          <a:prstGeom prst="roundRect">
            <a:avLst>
              <a:gd name="adj" fmla="val 6000"/>
            </a:avLst>
          </a:prstGeom>
          <a:noFill/>
          <a:ln w="15875">
            <a:solidFill>
              <a:srgbClr val="E2A9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641433" y="3328416"/>
            <a:ext cx="1861718" cy="204825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0316260" y="3456432"/>
            <a:ext cx="512064" cy="512064"/>
          </a:xfrm>
          <a:prstGeom prst="roundRect">
            <a:avLst/>
          </a:prstGeom>
          <a:solidFill>
            <a:srgbClr val="E2A93B"/>
          </a:solidFill>
          <a:ln w="1587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500" b="1">
                <a:solidFill>
                  <a:srgbClr val="FFFFFF"/>
                </a:solidFill>
                <a:latin typeface="Cambria"/>
              </a:defRPr>
            </a:pPr>
            <a:r>
              <a:t>▤</a:t>
            </a:r>
          </a:p>
        </p:txBody>
      </p:sp>
      <p:sp>
        <p:nvSpPr>
          <p:cNvPr id="41" name="TextBox 40"/>
          <p:cNvSpPr txBox="1"/>
          <p:nvPr/>
        </p:nvSpPr>
        <p:spPr>
          <a:xfrm>
            <a:off x="9714585" y="4078224"/>
            <a:ext cx="1715414" cy="566928"/>
          </a:xfrm>
          <a:prstGeom prst="rect">
            <a:avLst/>
          </a:prstGeom>
          <a:noFill/>
        </p:spPr>
        <p:txBody>
          <a:bodyPr wrap="square" lIns="18288" rIns="18288" tIns="9144" bIns="9144">
            <a:spAutoFit/>
          </a:bodyPr>
          <a:lstStyle/>
          <a:p>
            <a:pPr algn="ctr">
              <a:lnSpc>
                <a:spcPct val="95000"/>
              </a:lnSpc>
              <a:defRPr sz="1450" b="1">
                <a:solidFill>
                  <a:srgbClr val="21201C"/>
                </a:solidFill>
                <a:latin typeface="Cambria"/>
              </a:defRPr>
            </a:pPr>
            <a:r>
              <a:t>Growth Analyst</a:t>
            </a:r>
          </a:p>
        </p:txBody>
      </p:sp>
      <p:sp>
        <p:nvSpPr>
          <p:cNvPr id="42" name="TextBox 41"/>
          <p:cNvSpPr txBox="1"/>
          <p:nvPr/>
        </p:nvSpPr>
        <p:spPr>
          <a:xfrm>
            <a:off x="9732873" y="4681728"/>
            <a:ext cx="1678838" cy="658367"/>
          </a:xfrm>
          <a:prstGeom prst="rect">
            <a:avLst/>
          </a:prstGeom>
          <a:noFill/>
        </p:spPr>
        <p:txBody>
          <a:bodyPr wrap="square" lIns="18288" rIns="18288" tIns="9144" bIns="9144">
            <a:spAutoFit/>
          </a:bodyPr>
          <a:lstStyle/>
          <a:p>
            <a:pPr algn="ctr">
              <a:lnSpc>
                <a:spcPct val="105000"/>
              </a:lnSpc>
              <a:defRPr sz="1100" b="0">
                <a:solidFill>
                  <a:srgbClr val="6B6862"/>
                </a:solidFill>
                <a:latin typeface="Calibri"/>
              </a:defRPr>
            </a:pPr>
            <a:r>
              <a:t>Personas, cadence, results, reports</a:t>
            </a:r>
          </a:p>
        </p:txBody>
      </p:sp>
      <p:sp>
        <p:nvSpPr>
          <p:cNvPr id="43" name="Rounded Rectangle 42"/>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Nothing reaches a customer unless a person approved that exact version.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Who Does What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Each agent's job, the skills it owns and the connectors it may use.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24</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38531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2409444"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JOB</a:t>
            </a:r>
          </a:p>
        </p:txBody>
      </p:sp>
      <p:sp>
        <p:nvSpPr>
          <p:cNvPr id="11" name="TextBox 10"/>
          <p:cNvSpPr txBox="1"/>
          <p:nvPr/>
        </p:nvSpPr>
        <p:spPr>
          <a:xfrm>
            <a:off x="4622292"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SKILLS</a:t>
            </a:r>
          </a:p>
        </p:txBody>
      </p:sp>
      <p:sp>
        <p:nvSpPr>
          <p:cNvPr id="12" name="TextBox 11"/>
          <p:cNvSpPr txBox="1"/>
          <p:nvPr/>
        </p:nvSpPr>
        <p:spPr>
          <a:xfrm>
            <a:off x="9047988" y="2203703"/>
            <a:ext cx="249174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CONNECTORS</a:t>
            </a:r>
          </a:p>
        </p:txBody>
      </p:sp>
      <p:sp>
        <p:nvSpPr>
          <p:cNvPr id="13" name="Rectangle 12"/>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560320"/>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5" name="TextBox 14"/>
          <p:cNvSpPr txBox="1"/>
          <p:nvPr/>
        </p:nvSpPr>
        <p:spPr>
          <a:xfrm>
            <a:off x="2409444" y="2560320"/>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Plans, assigns, checks, hands to a person</a:t>
            </a:r>
          </a:p>
        </p:txBody>
      </p:sp>
      <p:sp>
        <p:nvSpPr>
          <p:cNvPr id="16" name="TextBox 15"/>
          <p:cNvSpPr txBox="1"/>
          <p:nvPr/>
        </p:nvSpPr>
        <p:spPr>
          <a:xfrm>
            <a:off x="4622292" y="2560320"/>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fin-compliance</a:t>
            </a:r>
          </a:p>
        </p:txBody>
      </p:sp>
      <p:sp>
        <p:nvSpPr>
          <p:cNvPr id="17" name="TextBox 16"/>
          <p:cNvSpPr txBox="1"/>
          <p:nvPr/>
        </p:nvSpPr>
        <p:spPr>
          <a:xfrm>
            <a:off x="9047988" y="2560320"/>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(read), Gmail (drafts only)</a:t>
            </a:r>
          </a:p>
        </p:txBody>
      </p:sp>
      <p:sp>
        <p:nvSpPr>
          <p:cNvPr id="18" name="TextBox 17"/>
          <p:cNvSpPr txBox="1"/>
          <p:nvPr/>
        </p:nvSpPr>
        <p:spPr>
          <a:xfrm>
            <a:off x="749808" y="3084575"/>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9" name="TextBox 18"/>
          <p:cNvSpPr txBox="1"/>
          <p:nvPr/>
        </p:nvSpPr>
        <p:spPr>
          <a:xfrm>
            <a:off x="2409444" y="3084575"/>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Research, positioning, briefs, storyboards</a:t>
            </a:r>
          </a:p>
        </p:txBody>
      </p:sp>
      <p:sp>
        <p:nvSpPr>
          <p:cNvPr id="20" name="TextBox 19"/>
          <p:cNvSpPr txBox="1"/>
          <p:nvPr/>
        </p:nvSpPr>
        <p:spPr>
          <a:xfrm>
            <a:off x="4622292" y="3084575"/>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competitor-scan, campaign-brief, content-marketing</a:t>
            </a:r>
          </a:p>
        </p:txBody>
      </p:sp>
      <p:sp>
        <p:nvSpPr>
          <p:cNvPr id="21" name="TextBox 20"/>
          <p:cNvSpPr txBox="1"/>
          <p:nvPr/>
        </p:nvSpPr>
        <p:spPr>
          <a:xfrm>
            <a:off x="9047988" y="3084575"/>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 search, Firecrawl (search, scrape), Google Drive (read)</a:t>
            </a:r>
          </a:p>
        </p:txBody>
      </p:sp>
      <p:sp>
        <p:nvSpPr>
          <p:cNvPr id="22" name="Rectangle 21"/>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3608831"/>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24" name="TextBox 23"/>
          <p:cNvSpPr txBox="1"/>
          <p:nvPr/>
        </p:nvSpPr>
        <p:spPr>
          <a:xfrm>
            <a:off x="2409444" y="3608831"/>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Posts, newsletter, scripts, page copy</a:t>
            </a:r>
          </a:p>
        </p:txBody>
      </p:sp>
      <p:sp>
        <p:nvSpPr>
          <p:cNvPr id="25" name="TextBox 24"/>
          <p:cNvSpPr txBox="1"/>
          <p:nvPr/>
        </p:nvSpPr>
        <p:spPr>
          <a:xfrm>
            <a:off x="4622292" y="3608831"/>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sunny-voice, copywriting, channel-formats, linkedin-post, facebook-post, blog-post, newsletter</a:t>
            </a:r>
          </a:p>
        </p:txBody>
      </p:sp>
      <p:sp>
        <p:nvSpPr>
          <p:cNvPr id="26" name="TextBox 25"/>
          <p:cNvSpPr txBox="1"/>
          <p:nvPr/>
        </p:nvSpPr>
        <p:spPr>
          <a:xfrm>
            <a:off x="9047988" y="3608831"/>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(docs), Gmail (drafts only)</a:t>
            </a:r>
          </a:p>
        </p:txBody>
      </p:sp>
      <p:sp>
        <p:nvSpPr>
          <p:cNvPr id="27" name="TextBox 26"/>
          <p:cNvSpPr txBox="1"/>
          <p:nvPr/>
        </p:nvSpPr>
        <p:spPr>
          <a:xfrm>
            <a:off x="749808" y="4133087"/>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8" name="TextBox 27"/>
          <p:cNvSpPr txBox="1"/>
          <p:nvPr/>
        </p:nvSpPr>
        <p:spPr>
          <a:xfrm>
            <a:off x="2409444" y="4133087"/>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Images, thumbnails, the video</a:t>
            </a:r>
          </a:p>
        </p:txBody>
      </p:sp>
      <p:sp>
        <p:nvSpPr>
          <p:cNvPr id="29" name="TextBox 28"/>
          <p:cNvSpPr txBox="1"/>
          <p:nvPr/>
        </p:nvSpPr>
        <p:spPr>
          <a:xfrm>
            <a:off x="4622292" y="4133087"/>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brand-visuals, video-render</a:t>
            </a:r>
          </a:p>
        </p:txBody>
      </p:sp>
      <p:sp>
        <p:nvSpPr>
          <p:cNvPr id="30" name="TextBox 29"/>
          <p:cNvSpPr txBox="1"/>
          <p:nvPr/>
        </p:nvSpPr>
        <p:spPr>
          <a:xfrm>
            <a:off x="9047988" y="4133087"/>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Bash for Pillow (images) and ffmpeg (video)</a:t>
            </a:r>
          </a:p>
        </p:txBody>
      </p:sp>
      <p:sp>
        <p:nvSpPr>
          <p:cNvPr id="31" name="Rectangle 30"/>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4657344"/>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33" name="TextBox 32"/>
          <p:cNvSpPr txBox="1"/>
          <p:nvPr/>
        </p:nvSpPr>
        <p:spPr>
          <a:xfrm>
            <a:off x="2409444" y="4657344"/>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Landing pages, published and checked</a:t>
            </a:r>
          </a:p>
        </p:txBody>
      </p:sp>
      <p:sp>
        <p:nvSpPr>
          <p:cNvPr id="34" name="TextBox 33"/>
          <p:cNvSpPr txBox="1"/>
          <p:nvPr/>
        </p:nvSpPr>
        <p:spPr>
          <a:xfrm>
            <a:off x="4622292" y="4657344"/>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web-design, landing-page, lead-magnet, page-qa</a:t>
            </a:r>
          </a:p>
        </p:txBody>
      </p:sp>
      <p:sp>
        <p:nvSpPr>
          <p:cNvPr id="35" name="TextBox 34"/>
          <p:cNvSpPr txBox="1"/>
          <p:nvPr/>
        </p:nvSpPr>
        <p:spPr>
          <a:xfrm>
            <a:off x="9047988" y="4657344"/>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artifacts (publish), built-in browser (check)</a:t>
            </a:r>
          </a:p>
        </p:txBody>
      </p:sp>
      <p:sp>
        <p:nvSpPr>
          <p:cNvPr id="36" name="TextBox 35"/>
          <p:cNvSpPr txBox="1"/>
          <p:nvPr/>
        </p:nvSpPr>
        <p:spPr>
          <a:xfrm>
            <a:off x="749808" y="5181599"/>
            <a:ext cx="138531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37" name="TextBox 36"/>
          <p:cNvSpPr txBox="1"/>
          <p:nvPr/>
        </p:nvSpPr>
        <p:spPr>
          <a:xfrm>
            <a:off x="2409444" y="5181599"/>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Personas, cadence, results, reports</a:t>
            </a:r>
          </a:p>
        </p:txBody>
      </p:sp>
      <p:sp>
        <p:nvSpPr>
          <p:cNvPr id="38" name="TextBox 37"/>
          <p:cNvSpPr txBox="1"/>
          <p:nvPr/>
        </p:nvSpPr>
        <p:spPr>
          <a:xfrm>
            <a:off x="4622292" y="5181599"/>
            <a:ext cx="415137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audience-insights, campaign-report</a:t>
            </a:r>
          </a:p>
        </p:txBody>
      </p:sp>
      <p:sp>
        <p:nvSpPr>
          <p:cNvPr id="39" name="TextBox 38"/>
          <p:cNvSpPr txBox="1"/>
          <p:nvPr/>
        </p:nvSpPr>
        <p:spPr>
          <a:xfrm>
            <a:off x="9047988" y="5181599"/>
            <a:ext cx="249174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and Sheets (read), Bash for Python</a:t>
            </a:r>
          </a:p>
        </p:txBody>
      </p:sp>
      <p:sp>
        <p:nvSpPr>
          <p:cNvPr id="40" name="Rounded Rectangle 3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You build every part of this table in Labs 2, 3 and 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THE SCENARIO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Tools in This Course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Two Claude products, one studio folder.</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25</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TOOL</a:t>
            </a:r>
          </a:p>
        </p:txBody>
      </p:sp>
      <p:sp>
        <p:nvSpPr>
          <p:cNvPr id="10" name="TextBox 9"/>
          <p:cNvSpPr txBox="1"/>
          <p:nvPr/>
        </p:nvSpPr>
        <p:spPr>
          <a:xfrm>
            <a:off x="3183940" y="2203703"/>
            <a:ext cx="503651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THE TEAM USES IT FOR</a:t>
            </a:r>
          </a:p>
        </p:txBody>
      </p:sp>
      <p:sp>
        <p:nvSpPr>
          <p:cNvPr id="11" name="TextBox 10"/>
          <p:cNvSpPr txBox="1"/>
          <p:nvPr/>
        </p:nvSpPr>
        <p:spPr>
          <a:xfrm>
            <a:off x="8494776"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LABS</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Code</a:t>
            </a:r>
          </a:p>
        </p:txBody>
      </p:sp>
      <p:sp>
        <p:nvSpPr>
          <p:cNvPr id="14" name="TextBox 13"/>
          <p:cNvSpPr txBox="1"/>
          <p:nvPr/>
        </p:nvSpPr>
        <p:spPr>
          <a:xfrm>
            <a:off x="3183940" y="2560320"/>
            <a:ext cx="5036515"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lab, in Code mode: agent and skill files, subagents, agent teams, the approval gate, routines, the video</a:t>
            </a:r>
          </a:p>
        </p:txBody>
      </p:sp>
      <p:sp>
        <p:nvSpPr>
          <p:cNvPr id="15" name="TextBox 14"/>
          <p:cNvSpPr txBox="1"/>
          <p:nvPr/>
        </p:nvSpPr>
        <p:spPr>
          <a:xfrm>
            <a:off x="8494776" y="2560320"/>
            <a:ext cx="304495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1–15</a:t>
            </a:r>
          </a:p>
        </p:txBody>
      </p:sp>
      <p:sp>
        <p:nvSpPr>
          <p:cNvPr id="16" name="TextBox 15"/>
          <p:cNvSpPr txBox="1"/>
          <p:nvPr/>
        </p:nvSpPr>
        <p:spPr>
          <a:xfrm>
            <a:off x="749808" y="3273552"/>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artifacts</a:t>
            </a:r>
          </a:p>
        </p:txBody>
      </p:sp>
      <p:sp>
        <p:nvSpPr>
          <p:cNvPr id="17" name="TextBox 16"/>
          <p:cNvSpPr txBox="1"/>
          <p:nvPr/>
        </p:nvSpPr>
        <p:spPr>
          <a:xfrm>
            <a:off x="3183940" y="3273552"/>
            <a:ext cx="5036515"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result from Lab 5 on; Horizon's website (given), your blog post and the landing page</a:t>
            </a:r>
          </a:p>
        </p:txBody>
      </p:sp>
      <p:sp>
        <p:nvSpPr>
          <p:cNvPr id="18" name="TextBox 17"/>
          <p:cNvSpPr txBox="1"/>
          <p:nvPr/>
        </p:nvSpPr>
        <p:spPr>
          <a:xfrm>
            <a:off x="8494776" y="3273552"/>
            <a:ext cx="304495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 5–15</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Customize</a:t>
            </a:r>
          </a:p>
        </p:txBody>
      </p:sp>
      <p:sp>
        <p:nvSpPr>
          <p:cNvPr id="21" name="TextBox 20"/>
          <p:cNvSpPr txBox="1"/>
          <p:nvPr/>
        </p:nvSpPr>
        <p:spPr>
          <a:xfrm>
            <a:off x="3183940" y="3986784"/>
            <a:ext cx="5036515"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Connectors (Drive, Gmail, Calendar, Firecrawl) and the Marketing plugin — added once, used by both</a:t>
            </a:r>
          </a:p>
        </p:txBody>
      </p:sp>
      <p:sp>
        <p:nvSpPr>
          <p:cNvPr id="22" name="TextBox 21"/>
          <p:cNvSpPr txBox="1"/>
          <p:nvPr/>
        </p:nvSpPr>
        <p:spPr>
          <a:xfrm>
            <a:off x="8494776" y="3986784"/>
            <a:ext cx="3044952"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4</a:t>
            </a:r>
          </a:p>
        </p:txBody>
      </p:sp>
      <p:sp>
        <p:nvSpPr>
          <p:cNvPr id="23" name="Rounded Rectangle 2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Every external post, email and video passes one gate: a person approves the exact version.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1</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Claude Cowork Components, Compatibility and Integration</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Why a team of agents</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The systems behind the team, their components and interfaces</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 home for the team; Horizon's website</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Form the team: instructions, skills, connectors</a:t>
            </a:r>
          </a:p>
        </p:txBody>
      </p:sp>
      <p:sp>
        <p:nvSpPr>
          <p:cNvPr id="13" name="Oval 12"/>
          <p:cNvSpPr/>
          <p:nvPr/>
        </p:nvSpPr>
        <p:spPr>
          <a:xfrm>
            <a:off x="603504" y="5678424"/>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5</a:t>
            </a:r>
          </a:p>
        </p:txBody>
      </p:sp>
      <p:sp>
        <p:nvSpPr>
          <p:cNvPr id="14" name="TextBox 13"/>
          <p:cNvSpPr txBox="1"/>
          <p:nvPr/>
        </p:nvSpPr>
        <p:spPr>
          <a:xfrm>
            <a:off x="1280160" y="5696712"/>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Assess compatibility, integrate, then run Campaign 1</a:t>
            </a:r>
          </a:p>
        </p:txBody>
      </p:sp>
      <p:sp>
        <p:nvSpPr>
          <p:cNvPr id="15" name="TextBox 1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6" name="TextBox 1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C141 · Claude AI for Digital Marketing</a:t>
            </a:r>
          </a:p>
        </p:txBody>
      </p:sp>
      <p:sp>
        <p:nvSpPr>
          <p:cNvPr id="17" name="TextBox 1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WHY A TEAM</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Why a Team of 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Lead runs specialists in parallel, each in its own context, then combines what they return.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27</a:t>
            </a:r>
          </a:p>
        </p:txBody>
      </p:sp>
      <p:sp>
        <p:nvSpPr>
          <p:cNvPr id="8" name="Rounded Rectangle 7"/>
          <p:cNvSpPr/>
          <p:nvPr/>
        </p:nvSpPr>
        <p:spPr>
          <a:xfrm>
            <a:off x="548640" y="2084831"/>
            <a:ext cx="3886200" cy="25603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21991"/>
            <a:ext cx="3483864" cy="256032"/>
          </a:xfrm>
          <a:prstGeom prst="rect">
            <a:avLst/>
          </a:prstGeom>
          <a:noFill/>
        </p:spPr>
        <p:txBody>
          <a:bodyPr wrap="square" lIns="18288" rIns="18288" tIns="9144" bIns="9144">
            <a:spAutoFit/>
          </a:bodyPr>
          <a:lstStyle/>
          <a:p>
            <a:pPr>
              <a:lnSpc>
                <a:spcPct val="100000"/>
              </a:lnSpc>
              <a:defRPr sz="1100" b="1">
                <a:solidFill>
                  <a:srgbClr val="6B6862"/>
                </a:solidFill>
                <a:latin typeface="Calibri"/>
              </a:defRPr>
            </a:pPr>
            <a:r>
              <a:t>ONE AGENT DOES EVERYTHING</a:t>
            </a:r>
          </a:p>
        </p:txBody>
      </p:sp>
      <p:sp>
        <p:nvSpPr>
          <p:cNvPr id="10" name="Rounded Rectangle 9"/>
          <p:cNvSpPr/>
          <p:nvPr/>
        </p:nvSpPr>
        <p:spPr>
          <a:xfrm>
            <a:off x="822959" y="2587752"/>
            <a:ext cx="1325880" cy="50292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2670048"/>
            <a:ext cx="1325880" cy="329184"/>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One agent</a:t>
            </a:r>
          </a:p>
        </p:txBody>
      </p:sp>
      <p:sp>
        <p:nvSpPr>
          <p:cNvPr id="12" name="TextBox 11"/>
          <p:cNvSpPr txBox="1"/>
          <p:nvPr/>
        </p:nvSpPr>
        <p:spPr>
          <a:xfrm>
            <a:off x="2331720" y="2587752"/>
            <a:ext cx="1920240" cy="548640"/>
          </a:xfrm>
          <a:prstGeom prst="rect">
            <a:avLst/>
          </a:prstGeom>
          <a:noFill/>
        </p:spPr>
        <p:txBody>
          <a:bodyPr wrap="square" lIns="18288" rIns="18288" tIns="9144" bIns="9144">
            <a:spAutoFit/>
          </a:bodyPr>
          <a:lstStyle/>
          <a:p>
            <a:pPr>
              <a:lnSpc>
                <a:spcPct val="100000"/>
              </a:lnSpc>
              <a:defRPr sz="1050" b="0">
                <a:solidFill>
                  <a:srgbClr val="6B6862"/>
                </a:solidFill>
                <a:latin typeface="Calibri"/>
              </a:defRPr>
            </a:pPr>
            <a:r>
              <a:t>One context window,</a:t>
            </a:r>
          </a:p>
          <a:p>
            <a:pPr>
              <a:lnSpc>
                <a:spcPct val="100000"/>
              </a:lnSpc>
              <a:defRPr sz="1050" b="0">
                <a:solidFill>
                  <a:srgbClr val="6B6862"/>
                </a:solidFill>
                <a:latin typeface="Calibri"/>
              </a:defRPr>
            </a:pPr>
            <a:r>
              <a:t>filling up with every job</a:t>
            </a:r>
          </a:p>
        </p:txBody>
      </p:sp>
      <p:sp>
        <p:nvSpPr>
          <p:cNvPr id="13" name="Rectangle 12"/>
          <p:cNvSpPr/>
          <p:nvPr/>
        </p:nvSpPr>
        <p:spPr>
          <a:xfrm>
            <a:off x="822959" y="3319272"/>
            <a:ext cx="640080" cy="475488"/>
          </a:xfrm>
          <a:prstGeom prst="rect">
            <a:avLst/>
          </a:prstGeom>
          <a:solidFill>
            <a:srgbClr val="EAD7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research</a:t>
            </a:r>
          </a:p>
        </p:txBody>
      </p:sp>
      <p:sp>
        <p:nvSpPr>
          <p:cNvPr id="15" name="Rectangle 14"/>
          <p:cNvSpPr/>
          <p:nvPr/>
        </p:nvSpPr>
        <p:spPr>
          <a:xfrm>
            <a:off x="1490472" y="3319272"/>
            <a:ext cx="640080" cy="475488"/>
          </a:xfrm>
          <a:prstGeom prst="rect">
            <a:avLst/>
          </a:prstGeom>
          <a:solidFill>
            <a:srgbClr val="E4C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90472"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copy</a:t>
            </a:r>
          </a:p>
        </p:txBody>
      </p:sp>
      <p:sp>
        <p:nvSpPr>
          <p:cNvPr id="17" name="Rectangle 16"/>
          <p:cNvSpPr/>
          <p:nvPr/>
        </p:nvSpPr>
        <p:spPr>
          <a:xfrm>
            <a:off x="2157984" y="3319272"/>
            <a:ext cx="640080" cy="475488"/>
          </a:xfrm>
          <a:prstGeom prst="rect">
            <a:avLst/>
          </a:prstGeom>
          <a:solidFill>
            <a:srgbClr val="DDB8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57984"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images</a:t>
            </a:r>
          </a:p>
        </p:txBody>
      </p:sp>
      <p:sp>
        <p:nvSpPr>
          <p:cNvPr id="19" name="Rectangle 18"/>
          <p:cNvSpPr/>
          <p:nvPr/>
        </p:nvSpPr>
        <p:spPr>
          <a:xfrm>
            <a:off x="2825496" y="3319272"/>
            <a:ext cx="640080" cy="475488"/>
          </a:xfrm>
          <a:prstGeom prst="rect">
            <a:avLst/>
          </a:prstGeom>
          <a:solidFill>
            <a:srgbClr val="D6A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25496"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pages</a:t>
            </a:r>
          </a:p>
        </p:txBody>
      </p:sp>
      <p:sp>
        <p:nvSpPr>
          <p:cNvPr id="21" name="Rectangle 20"/>
          <p:cNvSpPr/>
          <p:nvPr/>
        </p:nvSpPr>
        <p:spPr>
          <a:xfrm>
            <a:off x="3493008" y="3319272"/>
            <a:ext cx="640080" cy="475488"/>
          </a:xfrm>
          <a:prstGeom prst="rect">
            <a:avLst/>
          </a:prstGeom>
          <a:solidFill>
            <a:srgbClr val="CF94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93008" y="3456432"/>
            <a:ext cx="640080" cy="237744"/>
          </a:xfrm>
          <a:prstGeom prst="rect">
            <a:avLst/>
          </a:prstGeom>
          <a:noFill/>
        </p:spPr>
        <p:txBody>
          <a:bodyPr wrap="square" lIns="18288" rIns="18288" tIns="9144" bIns="9144">
            <a:spAutoFit/>
          </a:bodyPr>
          <a:lstStyle/>
          <a:p>
            <a:pPr algn="ctr">
              <a:lnSpc>
                <a:spcPct val="100000"/>
              </a:lnSpc>
              <a:defRPr sz="950" b="0">
                <a:solidFill>
                  <a:srgbClr val="21201C"/>
                </a:solidFill>
                <a:latin typeface="Calibri"/>
              </a:defRPr>
            </a:pPr>
            <a:r>
              <a:t>data</a:t>
            </a:r>
          </a:p>
        </p:txBody>
      </p:sp>
      <p:sp>
        <p:nvSpPr>
          <p:cNvPr id="23" name="TextBox 22"/>
          <p:cNvSpPr txBox="1"/>
          <p:nvPr/>
        </p:nvSpPr>
        <p:spPr>
          <a:xfrm>
            <a:off x="749808" y="3959352"/>
            <a:ext cx="3483864" cy="54864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One job after another · one voice · marks its own homework</a:t>
            </a:r>
          </a:p>
        </p:txBody>
      </p:sp>
      <p:sp>
        <p:nvSpPr>
          <p:cNvPr id="24" name="Rounded Rectangle 23"/>
          <p:cNvSpPr/>
          <p:nvPr/>
        </p:nvSpPr>
        <p:spPr>
          <a:xfrm>
            <a:off x="4663440" y="2084831"/>
            <a:ext cx="6949440" cy="25603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64607" y="2221991"/>
            <a:ext cx="6547103" cy="256032"/>
          </a:xfrm>
          <a:prstGeom prst="rect">
            <a:avLst/>
          </a:prstGeom>
          <a:noFill/>
        </p:spPr>
        <p:txBody>
          <a:bodyPr wrap="square" lIns="18288" rIns="18288" tIns="9144" bIns="9144">
            <a:spAutoFit/>
          </a:bodyPr>
          <a:lstStyle/>
          <a:p>
            <a:pPr>
              <a:lnSpc>
                <a:spcPct val="100000"/>
              </a:lnSpc>
              <a:defRPr sz="1100" b="1">
                <a:solidFill>
                  <a:srgbClr val="3A7D7B"/>
                </a:solidFill>
                <a:latin typeface="Calibri"/>
              </a:defRPr>
            </a:pPr>
            <a:r>
              <a:t>A MAIN AGENT DELEGATES</a:t>
            </a:r>
          </a:p>
        </p:txBody>
      </p:sp>
      <p:sp>
        <p:nvSpPr>
          <p:cNvPr id="26" name="Rounded Rectangle 25"/>
          <p:cNvSpPr/>
          <p:nvPr/>
        </p:nvSpPr>
        <p:spPr>
          <a:xfrm>
            <a:off x="7040879" y="2496312"/>
            <a:ext cx="2194560" cy="56692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79" y="2532887"/>
            <a:ext cx="2194560" cy="274320"/>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Main agent</a:t>
            </a:r>
          </a:p>
        </p:txBody>
      </p:sp>
      <p:sp>
        <p:nvSpPr>
          <p:cNvPr id="28" name="TextBox 27"/>
          <p:cNvSpPr txBox="1"/>
          <p:nvPr/>
        </p:nvSpPr>
        <p:spPr>
          <a:xfrm>
            <a:off x="7040879" y="2788920"/>
            <a:ext cx="2194560" cy="237744"/>
          </a:xfrm>
          <a:prstGeom prst="rect">
            <a:avLst/>
          </a:prstGeom>
          <a:noFill/>
        </p:spPr>
        <p:txBody>
          <a:bodyPr wrap="square" lIns="18288" rIns="18288" tIns="9144" bIns="9144">
            <a:spAutoFit/>
          </a:bodyPr>
          <a:lstStyle/>
          <a:p>
            <a:pPr algn="ctr">
              <a:lnSpc>
                <a:spcPct val="100000"/>
              </a:lnSpc>
              <a:defRPr sz="950" b="0">
                <a:solidFill>
                  <a:srgbClr val="C9C4B9"/>
                </a:solidFill>
                <a:latin typeface="Calibri"/>
              </a:defRPr>
            </a:pPr>
            <a:r>
              <a:t>plans · delegates · combines</a:t>
            </a:r>
          </a:p>
        </p:txBody>
      </p:sp>
      <p:cxnSp>
        <p:nvCxnSpPr>
          <p:cNvPr id="29" name="Connector 28"/>
          <p:cNvCxnSpPr/>
          <p:nvPr/>
        </p:nvCxnSpPr>
        <p:spPr>
          <a:xfrm flipH="1">
            <a:off x="5641848" y="3063239"/>
            <a:ext cx="2496311"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882896"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82896"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Strategist</a:t>
            </a:r>
          </a:p>
        </p:txBody>
      </p:sp>
      <p:sp>
        <p:nvSpPr>
          <p:cNvPr id="32" name="TextBox 31"/>
          <p:cNvSpPr txBox="1"/>
          <p:nvPr/>
        </p:nvSpPr>
        <p:spPr>
          <a:xfrm>
            <a:off x="4882896"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33" name="Connector 32"/>
          <p:cNvCxnSpPr/>
          <p:nvPr/>
        </p:nvCxnSpPr>
        <p:spPr>
          <a:xfrm flipH="1">
            <a:off x="7306056" y="3063239"/>
            <a:ext cx="832103"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547104"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47104"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Creator</a:t>
            </a:r>
          </a:p>
        </p:txBody>
      </p:sp>
      <p:sp>
        <p:nvSpPr>
          <p:cNvPr id="36" name="TextBox 35"/>
          <p:cNvSpPr txBox="1"/>
          <p:nvPr/>
        </p:nvSpPr>
        <p:spPr>
          <a:xfrm>
            <a:off x="6547104"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37" name="Connector 36"/>
          <p:cNvCxnSpPr/>
          <p:nvPr/>
        </p:nvCxnSpPr>
        <p:spPr>
          <a:xfrm>
            <a:off x="8138159" y="3063239"/>
            <a:ext cx="832105"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8211312" y="3410711"/>
            <a:ext cx="1517904" cy="62179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11312"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Designer</a:t>
            </a:r>
          </a:p>
        </p:txBody>
      </p:sp>
      <p:sp>
        <p:nvSpPr>
          <p:cNvPr id="40" name="TextBox 39"/>
          <p:cNvSpPr txBox="1"/>
          <p:nvPr/>
        </p:nvSpPr>
        <p:spPr>
          <a:xfrm>
            <a:off x="8211312"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own context</a:t>
            </a:r>
          </a:p>
        </p:txBody>
      </p:sp>
      <p:cxnSp>
        <p:nvCxnSpPr>
          <p:cNvPr id="41" name="Connector 40"/>
          <p:cNvCxnSpPr/>
          <p:nvPr/>
        </p:nvCxnSpPr>
        <p:spPr>
          <a:xfrm>
            <a:off x="8138159" y="3063239"/>
            <a:ext cx="2496313" cy="3291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875519" y="3410711"/>
            <a:ext cx="1517904" cy="621792"/>
          </a:xfrm>
          <a:prstGeom prst="roundRect">
            <a:avLst>
              <a:gd name="adj" fmla="val 6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875519" y="3483863"/>
            <a:ext cx="1517904"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Analyst</a:t>
            </a:r>
          </a:p>
        </p:txBody>
      </p:sp>
      <p:sp>
        <p:nvSpPr>
          <p:cNvPr id="44" name="TextBox 43"/>
          <p:cNvSpPr txBox="1"/>
          <p:nvPr/>
        </p:nvSpPr>
        <p:spPr>
          <a:xfrm>
            <a:off x="9875519" y="3758183"/>
            <a:ext cx="1517904" cy="237744"/>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reports back</a:t>
            </a:r>
          </a:p>
        </p:txBody>
      </p:sp>
      <p:sp>
        <p:nvSpPr>
          <p:cNvPr id="45" name="TextBox 44"/>
          <p:cNvSpPr txBox="1"/>
          <p:nvPr/>
        </p:nvSpPr>
        <p:spPr>
          <a:xfrm>
            <a:off x="4864607" y="4187952"/>
            <a:ext cx="6547103" cy="274320"/>
          </a:xfrm>
          <a:prstGeom prst="rect">
            <a:avLst/>
          </a:prstGeom>
          <a:noFill/>
        </p:spPr>
        <p:txBody>
          <a:bodyPr wrap="square" lIns="18288" rIns="18288" tIns="9144" bIns="9144">
            <a:spAutoFit/>
          </a:bodyPr>
          <a:lstStyle/>
          <a:p>
            <a:pPr algn="ctr">
              <a:lnSpc>
                <a:spcPct val="100000"/>
              </a:lnSpc>
              <a:defRPr sz="1100" b="1">
                <a:solidFill>
                  <a:srgbClr val="3A7D7B"/>
                </a:solidFill>
                <a:latin typeface="Calibri"/>
              </a:defRPr>
            </a:pPr>
            <a:r>
              <a:t>In parallel · each with a fresh, focused context · only the results come back</a:t>
            </a:r>
          </a:p>
        </p:txBody>
      </p:sp>
      <p:sp>
        <p:nvSpPr>
          <p:cNvPr id="46" name="Rounded Rectangle 45"/>
          <p:cNvSpPr/>
          <p:nvPr/>
        </p:nvSpPr>
        <p:spPr>
          <a:xfrm>
            <a:off x="548640"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48640"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4944"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Faster</a:t>
            </a:r>
          </a:p>
        </p:txBody>
      </p:sp>
      <p:sp>
        <p:nvSpPr>
          <p:cNvPr id="49" name="TextBox 48"/>
          <p:cNvSpPr txBox="1"/>
          <p:nvPr/>
        </p:nvSpPr>
        <p:spPr>
          <a:xfrm>
            <a:off x="694944"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Research, copy and design run at the same time.</a:t>
            </a:r>
          </a:p>
        </p:txBody>
      </p:sp>
      <p:sp>
        <p:nvSpPr>
          <p:cNvPr id="50" name="Rounded Rectangle 49"/>
          <p:cNvSpPr/>
          <p:nvPr/>
        </p:nvSpPr>
        <p:spPr>
          <a:xfrm>
            <a:off x="2790748"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790748"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937052"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Focused</a:t>
            </a:r>
          </a:p>
        </p:txBody>
      </p:sp>
      <p:sp>
        <p:nvSpPr>
          <p:cNvPr id="53" name="TextBox 52"/>
          <p:cNvSpPr txBox="1"/>
          <p:nvPr/>
        </p:nvSpPr>
        <p:spPr>
          <a:xfrm>
            <a:off x="2937052"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Each agent holds only its own job and its own skills.</a:t>
            </a:r>
          </a:p>
        </p:txBody>
      </p:sp>
      <p:sp>
        <p:nvSpPr>
          <p:cNvPr id="54" name="Rounded Rectangle 53"/>
          <p:cNvSpPr/>
          <p:nvPr/>
        </p:nvSpPr>
        <p:spPr>
          <a:xfrm>
            <a:off x="5032857"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32857"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179161"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Specialised</a:t>
            </a:r>
          </a:p>
        </p:txBody>
      </p:sp>
      <p:sp>
        <p:nvSpPr>
          <p:cNvPr id="57" name="TextBox 56"/>
          <p:cNvSpPr txBox="1"/>
          <p:nvPr/>
        </p:nvSpPr>
        <p:spPr>
          <a:xfrm>
            <a:off x="5179161"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Its own instructions, tools, connectors and model.</a:t>
            </a:r>
          </a:p>
        </p:txBody>
      </p:sp>
      <p:sp>
        <p:nvSpPr>
          <p:cNvPr id="58" name="Rounded Rectangle 57"/>
          <p:cNvSpPr/>
          <p:nvPr/>
        </p:nvSpPr>
        <p:spPr>
          <a:xfrm>
            <a:off x="7274966"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274966" y="4809744"/>
            <a:ext cx="209580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421270"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Second opinion</a:t>
            </a:r>
          </a:p>
        </p:txBody>
      </p:sp>
      <p:sp>
        <p:nvSpPr>
          <p:cNvPr id="61" name="TextBox 60"/>
          <p:cNvSpPr txBox="1"/>
          <p:nvPr/>
        </p:nvSpPr>
        <p:spPr>
          <a:xfrm>
            <a:off x="7421270"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The Lead checks work it did not write.</a:t>
            </a:r>
          </a:p>
        </p:txBody>
      </p:sp>
      <p:sp>
        <p:nvSpPr>
          <p:cNvPr id="62" name="Rounded Rectangle 61"/>
          <p:cNvSpPr/>
          <p:nvPr/>
        </p:nvSpPr>
        <p:spPr>
          <a:xfrm>
            <a:off x="9517075" y="4809744"/>
            <a:ext cx="2095804" cy="1243584"/>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517075" y="4809744"/>
            <a:ext cx="2095804" cy="54864"/>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663379" y="4919472"/>
            <a:ext cx="1803196" cy="274320"/>
          </a:xfrm>
          <a:prstGeom prst="rect">
            <a:avLst/>
          </a:prstGeom>
          <a:noFill/>
        </p:spPr>
        <p:txBody>
          <a:bodyPr wrap="square" lIns="18288" rIns="18288" tIns="9144" bIns="9144">
            <a:spAutoFit/>
          </a:bodyPr>
          <a:lstStyle/>
          <a:p>
            <a:pPr>
              <a:lnSpc>
                <a:spcPct val="100000"/>
              </a:lnSpc>
              <a:defRPr sz="1250" b="1">
                <a:solidFill>
                  <a:srgbClr val="21201C"/>
                </a:solidFill>
                <a:latin typeface="Cambria"/>
              </a:defRPr>
            </a:pPr>
            <a:r>
              <a:t>The cost</a:t>
            </a:r>
          </a:p>
        </p:txBody>
      </p:sp>
      <p:sp>
        <p:nvSpPr>
          <p:cNvPr id="65" name="TextBox 64"/>
          <p:cNvSpPr txBox="1"/>
          <p:nvPr/>
        </p:nvSpPr>
        <p:spPr>
          <a:xfrm>
            <a:off x="9663379" y="5230368"/>
            <a:ext cx="1803196" cy="749808"/>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More tokens and more to review. Split only work that is truly independent.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SYSTEMS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Systems Behind the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Your AI marketing team is an integration of several kinds of ICT system. Each works differently — and each can fail differently.</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28</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SYSTEM</a:t>
            </a:r>
          </a:p>
        </p:txBody>
      </p:sp>
      <p:sp>
        <p:nvSpPr>
          <p:cNvPr id="10" name="TextBox 9"/>
          <p:cNvSpPr txBox="1"/>
          <p:nvPr/>
        </p:nvSpPr>
        <p:spPr>
          <a:xfrm>
            <a:off x="3405225"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TYPE</a:t>
            </a:r>
          </a:p>
        </p:txBody>
      </p:sp>
      <p:sp>
        <p:nvSpPr>
          <p:cNvPr id="11" name="TextBox 10"/>
          <p:cNvSpPr txBox="1"/>
          <p:nvPr/>
        </p:nvSpPr>
        <p:spPr>
          <a:xfrm>
            <a:off x="6060643" y="2203703"/>
            <a:ext cx="5479084"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HOW IT WORKS</a:t>
            </a:r>
          </a:p>
        </p:txBody>
      </p:sp>
      <p:sp>
        <p:nvSpPr>
          <p:cNvPr id="12" name="Rectangle 11"/>
          <p:cNvSpPr/>
          <p:nvPr/>
        </p:nvSpPr>
        <p:spPr>
          <a:xfrm>
            <a:off x="548640" y="2560320"/>
            <a:ext cx="11064240" cy="4493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381097"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desktop app</a:t>
            </a:r>
          </a:p>
        </p:txBody>
      </p:sp>
      <p:sp>
        <p:nvSpPr>
          <p:cNvPr id="14" name="TextBox 13"/>
          <p:cNvSpPr txBox="1"/>
          <p:nvPr/>
        </p:nvSpPr>
        <p:spPr>
          <a:xfrm>
            <a:off x="3405225" y="2560320"/>
            <a:ext cx="2381097"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Agent harness</a:t>
            </a:r>
          </a:p>
        </p:txBody>
      </p:sp>
      <p:sp>
        <p:nvSpPr>
          <p:cNvPr id="15" name="TextBox 14"/>
          <p:cNvSpPr txBox="1"/>
          <p:nvPr/>
        </p:nvSpPr>
        <p:spPr>
          <a:xfrm>
            <a:off x="6060643" y="2560320"/>
            <a:ext cx="5479084"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Runs the agentic loop on your computer; reads and writes your folder.</a:t>
            </a:r>
          </a:p>
        </p:txBody>
      </p:sp>
      <p:sp>
        <p:nvSpPr>
          <p:cNvPr id="16" name="TextBox 15"/>
          <p:cNvSpPr txBox="1"/>
          <p:nvPr/>
        </p:nvSpPr>
        <p:spPr>
          <a:xfrm>
            <a:off x="749808" y="3009682"/>
            <a:ext cx="2381097"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models</a:t>
            </a:r>
          </a:p>
        </p:txBody>
      </p:sp>
      <p:sp>
        <p:nvSpPr>
          <p:cNvPr id="17" name="TextBox 16"/>
          <p:cNvSpPr txBox="1"/>
          <p:nvPr/>
        </p:nvSpPr>
        <p:spPr>
          <a:xfrm>
            <a:off x="3405225" y="3009682"/>
            <a:ext cx="2381097"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Cloud AI service</a:t>
            </a:r>
          </a:p>
        </p:txBody>
      </p:sp>
      <p:sp>
        <p:nvSpPr>
          <p:cNvPr id="18" name="TextBox 17"/>
          <p:cNvSpPr txBox="1"/>
          <p:nvPr/>
        </p:nvSpPr>
        <p:spPr>
          <a:xfrm>
            <a:off x="6060643" y="3009682"/>
            <a:ext cx="5479084"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Anthropic's servers answer each step; billed by plan or by token.</a:t>
            </a:r>
          </a:p>
        </p:txBody>
      </p:sp>
      <p:sp>
        <p:nvSpPr>
          <p:cNvPr id="19" name="Rectangle 18"/>
          <p:cNvSpPr/>
          <p:nvPr/>
        </p:nvSpPr>
        <p:spPr>
          <a:xfrm>
            <a:off x="548640" y="3459044"/>
            <a:ext cx="11064240" cy="4493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459044"/>
            <a:ext cx="2381097"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Drive, Gmail, Calendar</a:t>
            </a:r>
          </a:p>
        </p:txBody>
      </p:sp>
      <p:sp>
        <p:nvSpPr>
          <p:cNvPr id="21" name="TextBox 20"/>
          <p:cNvSpPr txBox="1"/>
          <p:nvPr/>
        </p:nvSpPr>
        <p:spPr>
          <a:xfrm>
            <a:off x="3405225" y="3459044"/>
            <a:ext cx="2381097"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Cloud SaaS</a:t>
            </a:r>
          </a:p>
        </p:txBody>
      </p:sp>
      <p:sp>
        <p:nvSpPr>
          <p:cNvPr id="22" name="TextBox 21"/>
          <p:cNvSpPr txBox="1"/>
          <p:nvPr/>
        </p:nvSpPr>
        <p:spPr>
          <a:xfrm>
            <a:off x="6060643" y="3459044"/>
            <a:ext cx="5479084"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Reached through connectors, signed in with your own Google account.</a:t>
            </a:r>
          </a:p>
        </p:txBody>
      </p:sp>
      <p:sp>
        <p:nvSpPr>
          <p:cNvPr id="23" name="TextBox 22"/>
          <p:cNvSpPr txBox="1"/>
          <p:nvPr/>
        </p:nvSpPr>
        <p:spPr>
          <a:xfrm>
            <a:off x="749808" y="3908406"/>
            <a:ext cx="2381097"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Firecrawl</a:t>
            </a:r>
          </a:p>
        </p:txBody>
      </p:sp>
      <p:sp>
        <p:nvSpPr>
          <p:cNvPr id="24" name="TextBox 23"/>
          <p:cNvSpPr txBox="1"/>
          <p:nvPr/>
        </p:nvSpPr>
        <p:spPr>
          <a:xfrm>
            <a:off x="3405225" y="3908406"/>
            <a:ext cx="2381097"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 data service</a:t>
            </a:r>
          </a:p>
        </p:txBody>
      </p:sp>
      <p:sp>
        <p:nvSpPr>
          <p:cNvPr id="25" name="TextBox 24"/>
          <p:cNvSpPr txBox="1"/>
          <p:nvPr/>
        </p:nvSpPr>
        <p:spPr>
          <a:xfrm>
            <a:off x="6060643" y="3908406"/>
            <a:ext cx="5479084"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Searches and scrapes public pages for the strategist.</a:t>
            </a:r>
          </a:p>
        </p:txBody>
      </p:sp>
      <p:sp>
        <p:nvSpPr>
          <p:cNvPr id="26" name="Rectangle 25"/>
          <p:cNvSpPr/>
          <p:nvPr/>
        </p:nvSpPr>
        <p:spPr>
          <a:xfrm>
            <a:off x="548640" y="4357769"/>
            <a:ext cx="11064240" cy="4493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357769"/>
            <a:ext cx="2381097"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Horizon's website</a:t>
            </a:r>
          </a:p>
        </p:txBody>
      </p:sp>
      <p:sp>
        <p:nvSpPr>
          <p:cNvPr id="28" name="TextBox 27"/>
          <p:cNvSpPr txBox="1"/>
          <p:nvPr/>
        </p:nvSpPr>
        <p:spPr>
          <a:xfrm>
            <a:off x="3405225" y="4357769"/>
            <a:ext cx="2381097"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 application</a:t>
            </a:r>
          </a:p>
        </p:txBody>
      </p:sp>
      <p:sp>
        <p:nvSpPr>
          <p:cNvPr id="29" name="TextBox 28"/>
          <p:cNvSpPr txBox="1"/>
          <p:nvPr/>
        </p:nvSpPr>
        <p:spPr>
          <a:xfrm>
            <a:off x="6060643" y="4357769"/>
            <a:ext cx="5479084"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Static HTML pages served on localhost; the public copy on GitHub Pages.</a:t>
            </a:r>
          </a:p>
        </p:txBody>
      </p:sp>
      <p:sp>
        <p:nvSpPr>
          <p:cNvPr id="30" name="TextBox 29"/>
          <p:cNvSpPr txBox="1"/>
          <p:nvPr/>
        </p:nvSpPr>
        <p:spPr>
          <a:xfrm>
            <a:off x="749808" y="4807131"/>
            <a:ext cx="2381097"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LinkedIn, Facebook, YouTube</a:t>
            </a:r>
          </a:p>
        </p:txBody>
      </p:sp>
      <p:sp>
        <p:nvSpPr>
          <p:cNvPr id="31" name="TextBox 30"/>
          <p:cNvSpPr txBox="1"/>
          <p:nvPr/>
        </p:nvSpPr>
        <p:spPr>
          <a:xfrm>
            <a:off x="3405225" y="4807131"/>
            <a:ext cx="2381097"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Social platforms</a:t>
            </a:r>
          </a:p>
        </p:txBody>
      </p:sp>
      <p:sp>
        <p:nvSpPr>
          <p:cNvPr id="32" name="TextBox 31"/>
          <p:cNvSpPr txBox="1"/>
          <p:nvPr/>
        </p:nvSpPr>
        <p:spPr>
          <a:xfrm>
            <a:off x="6060643" y="4807131"/>
            <a:ext cx="5479084"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Accept posts and uploads through their HTTPS APIs, with tokens.</a:t>
            </a:r>
          </a:p>
        </p:txBody>
      </p:sp>
      <p:sp>
        <p:nvSpPr>
          <p:cNvPr id="33" name="Rectangle 32"/>
          <p:cNvSpPr/>
          <p:nvPr/>
        </p:nvSpPr>
        <p:spPr>
          <a:xfrm>
            <a:off x="548640" y="5256493"/>
            <a:ext cx="11064240" cy="4493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8" y="5256493"/>
            <a:ext cx="2381097"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horizon-studio/</a:t>
            </a:r>
          </a:p>
        </p:txBody>
      </p:sp>
      <p:sp>
        <p:nvSpPr>
          <p:cNvPr id="35" name="TextBox 34"/>
          <p:cNvSpPr txBox="1"/>
          <p:nvPr/>
        </p:nvSpPr>
        <p:spPr>
          <a:xfrm>
            <a:off x="3405225" y="5256493"/>
            <a:ext cx="2381097"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Local file store</a:t>
            </a:r>
          </a:p>
        </p:txBody>
      </p:sp>
      <p:sp>
        <p:nvSpPr>
          <p:cNvPr id="36" name="TextBox 35"/>
          <p:cNvSpPr txBox="1"/>
          <p:nvPr/>
        </p:nvSpPr>
        <p:spPr>
          <a:xfrm>
            <a:off x="6060643" y="5256493"/>
            <a:ext cx="5479084"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CSV data, Markdown rules and the team's outputs — shared by every agent.</a:t>
            </a:r>
          </a:p>
        </p:txBody>
      </p:sp>
      <p:sp>
        <p:nvSpPr>
          <p:cNvPr id="37" name="Rounded Rectangle 36"/>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The labs integrate these one at a time, and test each join.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INTERFACES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Components and Their Interfaces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component is a part you can change on its own. An interface is how two components exchange work.</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29</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COMPONENT</a:t>
            </a:r>
          </a:p>
        </p:txBody>
      </p:sp>
      <p:sp>
        <p:nvSpPr>
          <p:cNvPr id="10" name="TextBox 9"/>
          <p:cNvSpPr txBox="1"/>
          <p:nvPr/>
        </p:nvSpPr>
        <p:spPr>
          <a:xfrm>
            <a:off x="3626510" y="2203703"/>
            <a:ext cx="393009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IS</a:t>
            </a:r>
          </a:p>
        </p:txBody>
      </p:sp>
      <p:sp>
        <p:nvSpPr>
          <p:cNvPr id="11" name="TextBox 10"/>
          <p:cNvSpPr txBox="1"/>
          <p:nvPr/>
        </p:nvSpPr>
        <p:spPr>
          <a:xfrm>
            <a:off x="7830921" y="2203703"/>
            <a:ext cx="370880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ITS INTERFACE</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CLAUDE.md</a:t>
            </a:r>
          </a:p>
        </p:txBody>
      </p:sp>
      <p:sp>
        <p:nvSpPr>
          <p:cNvPr id="14" name="TextBox 13"/>
          <p:cNvSpPr txBox="1"/>
          <p:nvPr/>
        </p:nvSpPr>
        <p:spPr>
          <a:xfrm>
            <a:off x="3626510" y="2560320"/>
            <a:ext cx="393009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team charter</a:t>
            </a:r>
          </a:p>
        </p:txBody>
      </p:sp>
      <p:sp>
        <p:nvSpPr>
          <p:cNvPr id="15" name="TextBox 14"/>
          <p:cNvSpPr txBox="1"/>
          <p:nvPr/>
        </p:nvSpPr>
        <p:spPr>
          <a:xfrm>
            <a:off x="7830921" y="2560320"/>
            <a:ext cx="370880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Read at the start of every session</a:t>
            </a:r>
          </a:p>
        </p:txBody>
      </p:sp>
      <p:sp>
        <p:nvSpPr>
          <p:cNvPr id="16" name="TextBox 15"/>
          <p:cNvSpPr txBox="1"/>
          <p:nvPr/>
        </p:nvSpPr>
        <p:spPr>
          <a:xfrm>
            <a:off x="749808" y="3084575"/>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Agent files</a:t>
            </a:r>
          </a:p>
        </p:txBody>
      </p:sp>
      <p:sp>
        <p:nvSpPr>
          <p:cNvPr id="17" name="TextBox 16"/>
          <p:cNvSpPr txBox="1"/>
          <p:nvPr/>
        </p:nvSpPr>
        <p:spPr>
          <a:xfrm>
            <a:off x="3626510" y="3084575"/>
            <a:ext cx="393009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.claude/agents/*.md</a:t>
            </a:r>
          </a:p>
        </p:txBody>
      </p:sp>
      <p:sp>
        <p:nvSpPr>
          <p:cNvPr id="18" name="TextBox 17"/>
          <p:cNvSpPr txBox="1"/>
          <p:nvPr/>
        </p:nvSpPr>
        <p:spPr>
          <a:xfrm>
            <a:off x="7830921" y="3084575"/>
            <a:ext cx="370880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YAML frontmatter + instructions</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Skills</a:t>
            </a:r>
          </a:p>
        </p:txBody>
      </p:sp>
      <p:sp>
        <p:nvSpPr>
          <p:cNvPr id="21" name="TextBox 20"/>
          <p:cNvSpPr txBox="1"/>
          <p:nvPr/>
        </p:nvSpPr>
        <p:spPr>
          <a:xfrm>
            <a:off x="3626510" y="3608831"/>
            <a:ext cx="393009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.claude/skills/*/SKILL.md</a:t>
            </a:r>
          </a:p>
        </p:txBody>
      </p:sp>
      <p:sp>
        <p:nvSpPr>
          <p:cNvPr id="22" name="TextBox 21"/>
          <p:cNvSpPr txBox="1"/>
          <p:nvPr/>
        </p:nvSpPr>
        <p:spPr>
          <a:xfrm>
            <a:off x="7830921" y="3608831"/>
            <a:ext cx="370880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Loaded when "Use when…" matches</a:t>
            </a:r>
          </a:p>
        </p:txBody>
      </p:sp>
      <p:sp>
        <p:nvSpPr>
          <p:cNvPr id="23" name="TextBox 22"/>
          <p:cNvSpPr txBox="1"/>
          <p:nvPr/>
        </p:nvSpPr>
        <p:spPr>
          <a:xfrm>
            <a:off x="749808" y="4133087"/>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Connectors</a:t>
            </a:r>
          </a:p>
        </p:txBody>
      </p:sp>
      <p:sp>
        <p:nvSpPr>
          <p:cNvPr id="24" name="TextBox 23"/>
          <p:cNvSpPr txBox="1"/>
          <p:nvPr/>
        </p:nvSpPr>
        <p:spPr>
          <a:xfrm>
            <a:off x="3626510" y="4133087"/>
            <a:ext cx="393009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Drive, Gmail, Calendar, Firecrawl</a:t>
            </a:r>
          </a:p>
        </p:txBody>
      </p:sp>
      <p:sp>
        <p:nvSpPr>
          <p:cNvPr id="25" name="TextBox 24"/>
          <p:cNvSpPr txBox="1"/>
          <p:nvPr/>
        </p:nvSpPr>
        <p:spPr>
          <a:xfrm>
            <a:off x="7830921" y="4133087"/>
            <a:ext cx="370880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MCP, signed in with OAuth</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Hooks and scripts</a:t>
            </a:r>
          </a:p>
        </p:txBody>
      </p:sp>
      <p:sp>
        <p:nvSpPr>
          <p:cNvPr id="28" name="TextBox 27"/>
          <p:cNvSpPr txBox="1"/>
          <p:nvPr/>
        </p:nvSpPr>
        <p:spPr>
          <a:xfrm>
            <a:off x="3626510" y="4657344"/>
            <a:ext cx="393009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approval gate, the publisher</a:t>
            </a:r>
          </a:p>
        </p:txBody>
      </p:sp>
      <p:sp>
        <p:nvSpPr>
          <p:cNvPr id="29" name="TextBox 28"/>
          <p:cNvSpPr txBox="1"/>
          <p:nvPr/>
        </p:nvSpPr>
        <p:spPr>
          <a:xfrm>
            <a:off x="7830921" y="4657344"/>
            <a:ext cx="370880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JSON in, exit code out; HTTPS APIs</a:t>
            </a:r>
          </a:p>
        </p:txBody>
      </p:sp>
      <p:sp>
        <p:nvSpPr>
          <p:cNvPr id="30" name="TextBox 29"/>
          <p:cNvSpPr txBox="1"/>
          <p:nvPr/>
        </p:nvSpPr>
        <p:spPr>
          <a:xfrm>
            <a:off x="749808" y="5181599"/>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Data and outputs</a:t>
            </a:r>
          </a:p>
        </p:txBody>
      </p:sp>
      <p:sp>
        <p:nvSpPr>
          <p:cNvPr id="31" name="TextBox 30"/>
          <p:cNvSpPr txBox="1"/>
          <p:nvPr/>
        </p:nvSpPr>
        <p:spPr>
          <a:xfrm>
            <a:off x="3626510" y="5181599"/>
            <a:ext cx="393009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facts, CSVs, posts, reports</a:t>
            </a:r>
          </a:p>
        </p:txBody>
      </p:sp>
      <p:sp>
        <p:nvSpPr>
          <p:cNvPr id="32" name="TextBox 31"/>
          <p:cNvSpPr txBox="1"/>
          <p:nvPr/>
        </p:nvSpPr>
        <p:spPr>
          <a:xfrm>
            <a:off x="7830921" y="5181599"/>
            <a:ext cx="370880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Files in data/, content/, reports/</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Compatibility is judged at each interface: format, protocol, access.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SETUP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Get the Tools Ready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Install once; every lab says which tool to open.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30</a:t>
            </a:r>
          </a:p>
        </p:txBody>
      </p:sp>
      <p:sp>
        <p:nvSpPr>
          <p:cNvPr id="8" name="Rounded Rectangle 7"/>
          <p:cNvSpPr/>
          <p:nvPr/>
        </p:nvSpPr>
        <p:spPr>
          <a:xfrm>
            <a:off x="548640" y="2084831"/>
            <a:ext cx="4297680" cy="3675887"/>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59151"/>
            <a:ext cx="374904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DOWNLOAD</a:t>
            </a:r>
          </a:p>
        </p:txBody>
      </p:sp>
      <p:sp>
        <p:nvSpPr>
          <p:cNvPr id="10" name="TextBox 9"/>
          <p:cNvSpPr txBox="1"/>
          <p:nvPr/>
        </p:nvSpPr>
        <p:spPr>
          <a:xfrm>
            <a:off x="822960" y="2688336"/>
            <a:ext cx="3749040" cy="548640"/>
          </a:xfrm>
          <a:prstGeom prst="rect">
            <a:avLst/>
          </a:prstGeom>
          <a:noFill/>
        </p:spPr>
        <p:txBody>
          <a:bodyPr wrap="square" lIns="18288" rIns="18288" tIns="9144" bIns="9144">
            <a:spAutoFit/>
          </a:bodyPr>
          <a:lstStyle/>
          <a:p>
            <a:pPr>
              <a:lnSpc>
                <a:spcPct val="100000"/>
              </a:lnSpc>
              <a:defRPr sz="2400" b="1">
                <a:solidFill>
                  <a:srgbClr val="FFFFFF"/>
                </a:solidFill>
                <a:latin typeface="Cambria"/>
              </a:defRPr>
            </a:pPr>
            <a:r>
              <a:rPr sz="2300" b="1">
                <a:solidFill>
                  <a:srgbClr val="FFFFFF"/>
                </a:solidFill>
                <a:latin typeface="Cambria"/>
                <a:hlinkClick r:id="rId2"/>
              </a:rPr>
              <a:t>claude.com/download</a:t>
            </a:r>
          </a:p>
        </p:txBody>
      </p:sp>
      <p:sp>
        <p:nvSpPr>
          <p:cNvPr id="11" name="Rounded Rectangle 10"/>
          <p:cNvSpPr/>
          <p:nvPr/>
        </p:nvSpPr>
        <p:spPr>
          <a:xfrm>
            <a:off x="822960" y="3502152"/>
            <a:ext cx="3749040" cy="713232"/>
          </a:xfrm>
          <a:prstGeom prst="roundRect">
            <a:avLst>
              <a:gd name="adj" fmla="val 6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593592"/>
            <a:ext cx="3383280" cy="292608"/>
          </a:xfrm>
          <a:prstGeom prst="rect">
            <a:avLst/>
          </a:prstGeom>
          <a:noFill/>
        </p:spPr>
        <p:txBody>
          <a:bodyPr wrap="square" lIns="18288" rIns="18288" tIns="9144" bIns="9144">
            <a:spAutoFit/>
          </a:bodyPr>
          <a:lstStyle/>
          <a:p>
            <a:pPr>
              <a:lnSpc>
                <a:spcPct val="100000"/>
              </a:lnSpc>
              <a:defRPr sz="1450" b="1">
                <a:solidFill>
                  <a:srgbClr val="FFFFFF"/>
                </a:solidFill>
                <a:latin typeface="Cambria"/>
              </a:defRPr>
            </a:pPr>
            <a:r>
              <a:t>Claude desktop</a:t>
            </a:r>
          </a:p>
        </p:txBody>
      </p:sp>
      <p:sp>
        <p:nvSpPr>
          <p:cNvPr id="13" name="TextBox 12"/>
          <p:cNvSpPr txBox="1"/>
          <p:nvPr/>
        </p:nvSpPr>
        <p:spPr>
          <a:xfrm>
            <a:off x="1005840" y="3886200"/>
            <a:ext cx="3383280" cy="274320"/>
          </a:xfrm>
          <a:prstGeom prst="rect">
            <a:avLst/>
          </a:prstGeom>
          <a:noFill/>
        </p:spPr>
        <p:txBody>
          <a:bodyPr wrap="square" lIns="18288" rIns="18288" tIns="9144" bIns="9144">
            <a:spAutoFit/>
          </a:bodyPr>
          <a:lstStyle/>
          <a:p>
            <a:pPr>
              <a:lnSpc>
                <a:spcPct val="100000"/>
              </a:lnSpc>
              <a:defRPr sz="1100" b="0">
                <a:solidFill>
                  <a:srgbClr val="C9C4B9"/>
                </a:solidFill>
                <a:latin typeface="Calibri"/>
              </a:defRPr>
            </a:pPr>
            <a:r>
              <a:t>Claude and Claude Code in one app</a:t>
            </a:r>
          </a:p>
        </p:txBody>
      </p:sp>
      <p:sp>
        <p:nvSpPr>
          <p:cNvPr id="14" name="Rounded Rectangle 13"/>
          <p:cNvSpPr/>
          <p:nvPr/>
        </p:nvSpPr>
        <p:spPr>
          <a:xfrm>
            <a:off x="822960" y="4343400"/>
            <a:ext cx="3749040" cy="713232"/>
          </a:xfrm>
          <a:prstGeom prst="roundRect">
            <a:avLst>
              <a:gd name="adj" fmla="val 6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434840"/>
            <a:ext cx="3383280" cy="292608"/>
          </a:xfrm>
          <a:prstGeom prst="rect">
            <a:avLst/>
          </a:prstGeom>
          <a:noFill/>
        </p:spPr>
        <p:txBody>
          <a:bodyPr wrap="square" lIns="18288" rIns="18288" tIns="9144" bIns="9144">
            <a:spAutoFit/>
          </a:bodyPr>
          <a:lstStyle/>
          <a:p>
            <a:pPr>
              <a:lnSpc>
                <a:spcPct val="100000"/>
              </a:lnSpc>
              <a:defRPr sz="1450" b="1">
                <a:solidFill>
                  <a:srgbClr val="FFFFFF"/>
                </a:solidFill>
                <a:latin typeface="Cambria"/>
              </a:defRPr>
            </a:pPr>
            <a:r>
              <a:t>No commands</a:t>
            </a:r>
          </a:p>
        </p:txBody>
      </p:sp>
      <p:sp>
        <p:nvSpPr>
          <p:cNvPr id="16" name="TextBox 15"/>
          <p:cNvSpPr txBox="1"/>
          <p:nvPr/>
        </p:nvSpPr>
        <p:spPr>
          <a:xfrm>
            <a:off x="1005840" y="4727448"/>
            <a:ext cx="3383280" cy="274320"/>
          </a:xfrm>
          <a:prstGeom prst="rect">
            <a:avLst/>
          </a:prstGeom>
          <a:noFill/>
        </p:spPr>
        <p:txBody>
          <a:bodyPr wrap="square" lIns="18288" rIns="18288" tIns="9144" bIns="9144">
            <a:spAutoFit/>
          </a:bodyPr>
          <a:lstStyle/>
          <a:p>
            <a:pPr>
              <a:lnSpc>
                <a:spcPct val="100000"/>
              </a:lnSpc>
              <a:defRPr sz="1100" b="0">
                <a:solidFill>
                  <a:srgbClr val="C9C4B9"/>
                </a:solidFill>
                <a:latin typeface="Calibri"/>
              </a:defRPr>
            </a:pPr>
            <a:r>
              <a:t>The trainer readies Claude Code</a:t>
            </a:r>
          </a:p>
        </p:txBody>
      </p:sp>
      <p:sp>
        <p:nvSpPr>
          <p:cNvPr id="17" name="TextBox 16"/>
          <p:cNvSpPr txBox="1"/>
          <p:nvPr/>
        </p:nvSpPr>
        <p:spPr>
          <a:xfrm>
            <a:off x="822960" y="5047488"/>
            <a:ext cx="3749040" cy="566928"/>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Claude Code and artifacts need a Pro, Max, Team or Enterprise plan.</a:t>
            </a:r>
          </a:p>
        </p:txBody>
      </p:sp>
      <p:sp>
        <p:nvSpPr>
          <p:cNvPr id="18" name="Oval 17"/>
          <p:cNvSpPr/>
          <p:nvPr/>
        </p:nvSpPr>
        <p:spPr>
          <a:xfrm>
            <a:off x="5120640" y="2139696"/>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1</a:t>
            </a:r>
          </a:p>
        </p:txBody>
      </p:sp>
      <p:sp>
        <p:nvSpPr>
          <p:cNvPr id="19" name="TextBox 18"/>
          <p:cNvSpPr txBox="1"/>
          <p:nvPr/>
        </p:nvSpPr>
        <p:spPr>
          <a:xfrm>
            <a:off x="5687568" y="2084831"/>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Claude desktop  </a:t>
            </a:r>
            <a:r>
              <a:rPr sz="1350">
                <a:solidFill>
                  <a:srgbClr val="6B6862"/>
                </a:solidFill>
                <a:latin typeface="Calibri"/>
              </a:rPr>
              <a:t>Install from claude.com/download and sign in on a paid plan.</a:t>
            </a:r>
          </a:p>
        </p:txBody>
      </p:sp>
      <p:sp>
        <p:nvSpPr>
          <p:cNvPr id="20" name="Oval 19"/>
          <p:cNvSpPr/>
          <p:nvPr/>
        </p:nvSpPr>
        <p:spPr>
          <a:xfrm>
            <a:off x="5120640" y="2874873"/>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2</a:t>
            </a:r>
          </a:p>
        </p:txBody>
      </p:sp>
      <p:sp>
        <p:nvSpPr>
          <p:cNvPr id="21" name="TextBox 20"/>
          <p:cNvSpPr txBox="1"/>
          <p:nvPr/>
        </p:nvSpPr>
        <p:spPr>
          <a:xfrm>
            <a:off x="5687568" y="2820009"/>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Claude Code  </a:t>
            </a:r>
            <a:r>
              <a:rPr sz="1350">
                <a:solidFill>
                  <a:srgbClr val="6B6862"/>
                </a:solidFill>
                <a:latin typeface="Calibri"/>
              </a:rPr>
              <a:t>Open it from the desktop app; the trainer has set it up before class.</a:t>
            </a:r>
          </a:p>
        </p:txBody>
      </p:sp>
      <p:sp>
        <p:nvSpPr>
          <p:cNvPr id="22" name="Oval 21"/>
          <p:cNvSpPr/>
          <p:nvPr/>
        </p:nvSpPr>
        <p:spPr>
          <a:xfrm>
            <a:off x="5120640" y="3610051"/>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3</a:t>
            </a:r>
          </a:p>
        </p:txBody>
      </p:sp>
      <p:sp>
        <p:nvSpPr>
          <p:cNvPr id="23" name="TextBox 22"/>
          <p:cNvSpPr txBox="1"/>
          <p:nvPr/>
        </p:nvSpPr>
        <p:spPr>
          <a:xfrm>
            <a:off x="5687568" y="3555187"/>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Sign in with your claude.ai account  </a:t>
            </a:r>
            <a:r>
              <a:rPr sz="1350">
                <a:solidFill>
                  <a:srgbClr val="6B6862"/>
                </a:solidFill>
                <a:latin typeface="Calibri"/>
              </a:rPr>
              <a:t>Connectors, plugins and artifacts need it — not an API key.</a:t>
            </a:r>
          </a:p>
        </p:txBody>
      </p:sp>
      <p:sp>
        <p:nvSpPr>
          <p:cNvPr id="24" name="Oval 23"/>
          <p:cNvSpPr/>
          <p:nvPr/>
        </p:nvSpPr>
        <p:spPr>
          <a:xfrm>
            <a:off x="5120640" y="4345228"/>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4</a:t>
            </a:r>
          </a:p>
        </p:txBody>
      </p:sp>
      <p:sp>
        <p:nvSpPr>
          <p:cNvPr id="25" name="TextBox 24"/>
          <p:cNvSpPr txBox="1"/>
          <p:nvPr/>
        </p:nvSpPr>
        <p:spPr>
          <a:xfrm>
            <a:off x="5687568" y="4290364"/>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Already installed for you  </a:t>
            </a:r>
            <a:r>
              <a:rPr sz="1350">
                <a:solidFill>
                  <a:srgbClr val="6B6862"/>
                </a:solidFill>
                <a:latin typeface="Calibri"/>
              </a:rPr>
              <a:t>The helpers behind the approval gate and the video. You never run them yourself.</a:t>
            </a:r>
          </a:p>
        </p:txBody>
      </p:sp>
      <p:sp>
        <p:nvSpPr>
          <p:cNvPr id="26" name="Oval 25"/>
          <p:cNvSpPr/>
          <p:nvPr/>
        </p:nvSpPr>
        <p:spPr>
          <a:xfrm>
            <a:off x="5120640" y="5080406"/>
            <a:ext cx="402336" cy="402336"/>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300" b="1">
                <a:solidFill>
                  <a:srgbClr val="FFFFFF"/>
                </a:solidFill>
                <a:latin typeface="Cambria"/>
              </a:defRPr>
            </a:pPr>
            <a:r>
              <a:t>5</a:t>
            </a:r>
          </a:p>
        </p:txBody>
      </p:sp>
      <p:sp>
        <p:nvSpPr>
          <p:cNvPr id="27" name="TextBox 26"/>
          <p:cNvSpPr txBox="1"/>
          <p:nvPr/>
        </p:nvSpPr>
        <p:spPr>
          <a:xfrm>
            <a:off x="5687568" y="5025542"/>
            <a:ext cx="5925312" cy="698601"/>
          </a:xfrm>
          <a:prstGeom prst="rect">
            <a:avLst/>
          </a:prstGeom>
          <a:noFill/>
        </p:spPr>
        <p:txBody>
          <a:bodyPr wrap="square" lIns="18288" rIns="18288" tIns="9144" bIns="9144">
            <a:spAutoFit/>
          </a:bodyPr>
          <a:lstStyle/>
          <a:p>
            <a:pPr>
              <a:lnSpc>
                <a:spcPct val="105000"/>
              </a:lnSpc>
              <a:defRPr sz="1350" b="0">
                <a:solidFill>
                  <a:srgbClr val="6B6862"/>
                </a:solidFill>
                <a:latin typeface="Calibri"/>
              </a:defRPr>
            </a:pPr>
            <a:r>
              <a:rPr b="1" sz="1350">
                <a:solidFill>
                  <a:srgbClr val="21201C"/>
                </a:solidFill>
                <a:latin typeface="Calibri"/>
              </a:rPr>
              <a:t>A personal Google account  </a:t>
            </a:r>
            <a:r>
              <a:rPr sz="1350">
                <a:solidFill>
                  <a:srgbClr val="6B6862"/>
                </a:solidFill>
                <a:latin typeface="Calibri"/>
              </a:rPr>
              <a:t>For Drive and Gmail — never an employer's.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THE STUDIO</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Home for the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Before you hire agents, give them shared rules, shared facts and a website to point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31</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CLAUDE.md</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team charter every agent reads at the start of every session. Under 60 lines.</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data/</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facts sheet, brand, compliance checklist and business brief — the only sources agents may use.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Horizon's public website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Given, not built: each learner opens their own local copy; the public copy is on GitHub Pages.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32</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01</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~30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October 2026. Rachel has a website and a goal: 40 booked chats a month by March. She has no marketing team. Before you hire one made of agents, give it a home — shared rules, shared facts — and open your own copy of Horizon's website.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horizon-studio/ with CLAUDE.md, the shared data, and your own copy of the site running at http://localhost:8080/</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CLAUDE.md as the team charter · your own copy of Horizon's website</a:t>
            </a:r>
          </a:p>
        </p:txBody>
      </p:sp>
      <p:sp>
        <p:nvSpPr>
          <p:cNvPr id="20" name="TextBox 19"/>
          <p:cNvSpPr txBox="1"/>
          <p:nvPr/>
        </p:nvSpPr>
        <p:spPr>
          <a:xfrm>
            <a:off x="548640" y="5897880"/>
            <a:ext cx="11064240" cy="274320"/>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rPr sz="1000" b="1">
                <a:solidFill>
                  <a:srgbClr val="D97757"/>
                </a:solidFill>
                <a:latin typeface="Calibri"/>
              </a:rPr>
              <a:t>YOUR WEBSITE   </a:t>
            </a:r>
            <a:r>
              <a:rPr sz="1000" b="0">
                <a:solidFill>
                  <a:srgbClr val="21201C"/>
                </a:solidFill>
                <a:latin typeface="Calibri"/>
                <a:hlinkClick r:id="rId2"/>
              </a:rPr>
              <a:t>http://localhost:8080</a:t>
            </a:r>
            <a:r>
              <a:rPr sz="1000" b="1">
                <a:solidFill>
                  <a:srgbClr val="D97757"/>
                </a:solidFill>
                <a:latin typeface="Calibri"/>
              </a:rPr>
              <a:t>      PUBLIC SITE   </a:t>
            </a:r>
            <a:r>
              <a:rPr sz="1000" b="0">
                <a:solidFill>
                  <a:srgbClr val="21201C"/>
                </a:solidFill>
                <a:latin typeface="Calibri"/>
                <a:hlinkClick r:id="rId3"/>
              </a:rPr>
              <a:t>tertiarycourses.github.io/C141-Claude-AI-for-Digital-Marketing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33</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Choose Code mode and the folder  </a:t>
            </a:r>
            <a:r>
              <a:rPr sz="1550">
                <a:solidFill>
                  <a:srgbClr val="6B6862"/>
                </a:solidFill>
                <a:latin typeface="Calibri"/>
              </a:rPr>
              <a:t>In the Claude desktop app switch to Code mode (the &lt;/&gt; button at the top), not Work mode — Code shows every file and opens artifacts beside the chat. Under Project or folder choose Add folder (not New project) and pick the ready-made labs/horizon-studio.</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Trust it  </a:t>
            </a:r>
            <a:r>
              <a:rPr sz="1550">
                <a:solidFill>
                  <a:srgbClr val="6B6862"/>
                </a:solidFill>
                <a:latin typeface="Calibri"/>
              </a:rPr>
              <a:t>Sign in with your claude.ai account and trust the folder. Click the session title at the top and rename it "Lab 1" — every lab gets its own session.</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Plan your team  </a:t>
            </a:r>
            <a:r>
              <a:rPr sz="1550">
                <a:solidFill>
                  <a:srgbClr val="6B6862"/>
                </a:solidFill>
                <a:latin typeface="Calibri"/>
              </a:rPr>
              <a:t>Copy and paste Prompt A. Answer as Horizon's owner and pick your team — keep the six charter roles. It is a plan only: Lab 2 builds the agents.</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charter  </a:t>
            </a:r>
            <a:r>
              <a:rPr sz="1550">
                <a:solidFill>
                  <a:srgbClr val="6B6862"/>
                </a:solidFill>
                <a:latin typeface="Calibri"/>
              </a:rPr>
              <a:t>After Claude saves data/team-design.md, copy and paste Prompt B. Open CLAUDE.md — every agent reads it.</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Open the website  </a:t>
            </a:r>
            <a:r>
              <a:rPr sz="1550">
                <a:solidFill>
                  <a:srgbClr val="6B6862"/>
                </a:solidFill>
                <a:latin typeface="Calibri"/>
              </a:rPr>
              <a:t>Ask: "Start my website." It opens at http://localhost:8080/ — your own copy of Horizon's website; Labs 8 and 9 add to it, and every post links to it. Check the calculator shows S$693,138.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34</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plan your team</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a marketing consultant. Interview me, the owner of Horizon Wealth Planning, to plan my AI marketing team. Ask one question at a time and wait for my answer: my goal, what success looks like by March 2027, who we want to reach, which channels we use, how much we publish each week, and who approves before anything goes out. Then list 8 to 10 team members I could have, numbered, each with a one-line job. Include the six roles in data/team-charter.md and mark the ones you recommend. Wait for me to choose. Save my answers and my chosen team, with each member's job, to data/team-design.md. This is a plan only: do not create any agent files yet.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35</a:t>
            </a:r>
          </a:p>
        </p:txBody>
      </p:sp>
      <p:sp>
        <p:nvSpPr>
          <p:cNvPr id="7" name="Rounded Rectangle 6"/>
          <p:cNvSpPr/>
          <p:nvPr/>
        </p:nvSpPr>
        <p:spPr>
          <a:xfrm>
            <a:off x="548640" y="1783080"/>
            <a:ext cx="11064240" cy="38862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charter</a:t>
            </a:r>
          </a:p>
        </p:txBody>
      </p:sp>
      <p:sp>
        <p:nvSpPr>
          <p:cNvPr id="9" name="TextBox 8"/>
          <p:cNvSpPr txBox="1"/>
          <p:nvPr/>
        </p:nvSpPr>
        <p:spPr>
          <a:xfrm>
            <a:off x="822960" y="2313432"/>
            <a:ext cx="10515600" cy="3260267"/>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data/team-charter.md, data/team-design.md and data/business-brief.md. Write CLAUDE.md for this studio in four sections — What this is, The team, Rules, Files — under 60 lines. The team is the one I chose in data/team-design.md. Rules: every number comes from data/facts-2026.md; every piece passes fact-check and fin-compliance; nothing is published or sent without a person's approval (the one exception: a review email to the approver); anything shown to me is in plain English for a business owner, with no codes, IDs, file names or line numbers. A person approves by typing "approved &lt;id&gt; by &lt;name&gt;" in the chat; never ask me to run a command, open a terminal or edit a file. In Files, add two lines:</a:t>
            </a:r>
          </a:p>
          <a:p>
            <a:pPr>
              <a:lnSpc>
                <a:spcPct val="110000"/>
              </a:lnSpc>
              <a:defRPr sz="1700" b="0">
                <a:solidFill>
                  <a:srgbClr val="21201C"/>
                </a:solidFill>
                <a:latin typeface="Calibri"/>
              </a:defRPr>
            </a:pPr>
            <a:r>
              <a:t>- Our copy of the site, which we edit: web/site/. "Start my website" runs scripts/serve-site.mjs in the background and opens http://localhost:8080/</a:t>
            </a:r>
          </a:p>
          <a:p>
            <a:pPr>
              <a:lnSpc>
                <a:spcPct val="110000"/>
              </a:lnSpc>
              <a:defRPr sz="1700" b="0">
                <a:solidFill>
                  <a:srgbClr val="21201C"/>
                </a:solidFill>
                <a:latin typeface="Calibri"/>
              </a:defRPr>
            </a:pPr>
            <a:r>
              <a:t>- Every post links to http://localhost:8080/ with UTM tags, never to a claude.ai artifact link.</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Shared context first, agents second. Every agent you add later starts from these files, so a wrong rule here is wrong everywhere.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01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Build Your Marketing Agent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36</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Claude shows horizon-studio as the chosen folder.</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data/team-design.md holds your answers and the team you chose, with the six charter roles in it — and no agent files yet.</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CLAUDE.md has the four sections and is under 60 lines.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Its rules name the facts sheet, the two checks and the human approval.</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CLAUDE.md names your copy of the site and the link every post points to.</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Your website opens at http://localhost:8080/; the calculator shows S$693,138.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INSTRUCTIONS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Anatomy of an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Markdown file in .claude/agents/. The same file works as a subagent or as an agent-team teammate.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37</a:t>
            </a:r>
          </a:p>
        </p:txBody>
      </p:sp>
      <p:sp>
        <p:nvSpPr>
          <p:cNvPr id="8" name="Rounded Rectangle 7"/>
          <p:cNvSpPr/>
          <p:nvPr/>
        </p:nvSpPr>
        <p:spPr>
          <a:xfrm>
            <a:off x="548640" y="2084831"/>
            <a:ext cx="11064240" cy="4242816"/>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.claude/agents/content-creator.md</a:t>
            </a:r>
          </a:p>
        </p:txBody>
      </p:sp>
      <p:sp>
        <p:nvSpPr>
          <p:cNvPr id="11" name="TextBox 10"/>
          <p:cNvSpPr txBox="1"/>
          <p:nvPr/>
        </p:nvSpPr>
        <p:spPr>
          <a:xfrm>
            <a:off x="822959" y="2724911"/>
            <a:ext cx="10515600" cy="3588745"/>
          </a:xfrm>
          <a:prstGeom prst="rect">
            <a:avLst/>
          </a:prstGeom>
          <a:noFill/>
        </p:spPr>
        <p:txBody>
          <a:bodyPr wrap="square" lIns="18288" rIns="18288" tIns="9144" bIns="9144">
            <a:spAutoFit/>
          </a:bodyPr>
          <a:lstStyle/>
          <a:p>
            <a:pPr>
              <a:lnSpc>
                <a:spcPct val="114000"/>
              </a:lnSpc>
              <a:defRPr sz="900" b="0">
                <a:solidFill>
                  <a:srgbClr val="E8E5DE"/>
                </a:solidFill>
                <a:latin typeface="Courier New"/>
              </a:defRPr>
            </a:pPr>
            <a:r>
              <a:t>---</a:t>
            </a:r>
          </a:p>
          <a:p>
            <a:pPr>
              <a:lnSpc>
                <a:spcPct val="114000"/>
              </a:lnSpc>
              <a:defRPr sz="900" b="0">
                <a:solidFill>
                  <a:srgbClr val="E8E5DE"/>
                </a:solidFill>
                <a:latin typeface="Courier New"/>
              </a:defRPr>
            </a:pPr>
            <a:r>
              <a:t>name: content-creator</a:t>
            </a:r>
          </a:p>
          <a:p>
            <a:pPr>
              <a:lnSpc>
                <a:spcPct val="114000"/>
              </a:lnSpc>
              <a:defRPr sz="900" b="0">
                <a:solidFill>
                  <a:srgbClr val="E8E5DE"/>
                </a:solidFill>
                <a:latin typeface="Courier New"/>
              </a:defRPr>
            </a:pPr>
            <a:r>
              <a:t>description: Use for Horizon copy — posts, newsletter,</a:t>
            </a:r>
          </a:p>
          <a:p>
            <a:pPr>
              <a:lnSpc>
                <a:spcPct val="114000"/>
              </a:lnSpc>
              <a:defRPr sz="900" b="0">
                <a:solidFill>
                  <a:srgbClr val="E8E5DE"/>
                </a:solidFill>
                <a:latin typeface="Courier New"/>
              </a:defRPr>
            </a:pPr>
            <a:r>
              <a:t>  video scripts and page copy, in the Sunny voice.</a:t>
            </a:r>
          </a:p>
          <a:p>
            <a:pPr>
              <a:lnSpc>
                <a:spcPct val="114000"/>
              </a:lnSpc>
              <a:defRPr sz="900" b="0">
                <a:solidFill>
                  <a:srgbClr val="E8E5DE"/>
                </a:solidFill>
                <a:latin typeface="Courier New"/>
              </a:defRPr>
            </a:pPr>
            <a:r>
              <a:t>tools: Read, Write, Edit, Grep, Glob</a:t>
            </a:r>
          </a:p>
          <a:p>
            <a:pPr>
              <a:lnSpc>
                <a:spcPct val="114000"/>
              </a:lnSpc>
              <a:defRPr sz="900" b="0">
                <a:solidFill>
                  <a:srgbClr val="E8E5DE"/>
                </a:solidFill>
                <a:latin typeface="Courier New"/>
              </a:defRPr>
            </a:pPr>
            <a:r>
              <a:t>model: sonnet</a:t>
            </a:r>
          </a:p>
          <a:p>
            <a:pPr>
              <a:lnSpc>
                <a:spcPct val="114000"/>
              </a:lnSpc>
              <a:defRPr sz="900" b="0">
                <a:solidFill>
                  <a:srgbClr val="E8E5DE"/>
                </a:solidFill>
                <a:latin typeface="Courier New"/>
              </a:defRPr>
            </a:pPr>
            <a:r>
              <a:t>skills:</a:t>
            </a:r>
          </a:p>
          <a:p>
            <a:pPr>
              <a:lnSpc>
                <a:spcPct val="114000"/>
              </a:lnSpc>
              <a:defRPr sz="900" b="0">
                <a:solidFill>
                  <a:srgbClr val="E8E5DE"/>
                </a:solidFill>
                <a:latin typeface="Courier New"/>
              </a:defRPr>
            </a:pPr>
            <a:r>
              <a:t>  - sunny-voice</a:t>
            </a:r>
          </a:p>
          <a:p>
            <a:pPr>
              <a:lnSpc>
                <a:spcPct val="114000"/>
              </a:lnSpc>
              <a:defRPr sz="900" b="0">
                <a:solidFill>
                  <a:srgbClr val="E8E5DE"/>
                </a:solidFill>
                <a:latin typeface="Courier New"/>
              </a:defRPr>
            </a:pPr>
            <a:r>
              <a:t>  - copywriting</a:t>
            </a:r>
          </a:p>
          <a:p>
            <a:pPr>
              <a:lnSpc>
                <a:spcPct val="114000"/>
              </a:lnSpc>
              <a:defRPr sz="900" b="0">
                <a:solidFill>
                  <a:srgbClr val="E8E5DE"/>
                </a:solidFill>
                <a:latin typeface="Courier New"/>
              </a:defRPr>
            </a:pPr>
            <a:r>
              <a:t>  - channel-formats</a:t>
            </a:r>
          </a:p>
          <a:p>
            <a:pPr>
              <a:lnSpc>
                <a:spcPct val="114000"/>
              </a:lnSpc>
              <a:defRPr sz="900" b="0">
                <a:solidFill>
                  <a:srgbClr val="E8E5DE"/>
                </a:solidFill>
                <a:latin typeface="Courier New"/>
              </a:defRPr>
            </a:pPr>
            <a:r>
              <a:t>  - linkedin-post</a:t>
            </a:r>
          </a:p>
          <a:p>
            <a:pPr>
              <a:lnSpc>
                <a:spcPct val="114000"/>
              </a:lnSpc>
              <a:defRPr sz="900" b="0">
                <a:solidFill>
                  <a:srgbClr val="E8E5DE"/>
                </a:solidFill>
                <a:latin typeface="Courier New"/>
              </a:defRPr>
            </a:pPr>
            <a:r>
              <a:t>  - facebook-post</a:t>
            </a:r>
          </a:p>
          <a:p>
            <a:pPr>
              <a:lnSpc>
                <a:spcPct val="114000"/>
              </a:lnSpc>
              <a:defRPr sz="900" b="0">
                <a:solidFill>
                  <a:srgbClr val="E8E5DE"/>
                </a:solidFill>
                <a:latin typeface="Courier New"/>
              </a:defRPr>
            </a:pPr>
            <a:r>
              <a:t>  - blog-post</a:t>
            </a:r>
          </a:p>
          <a:p>
            <a:pPr>
              <a:lnSpc>
                <a:spcPct val="114000"/>
              </a:lnSpc>
              <a:defRPr sz="900" b="0">
                <a:solidFill>
                  <a:srgbClr val="E8E5DE"/>
                </a:solidFill>
                <a:latin typeface="Courier New"/>
              </a:defRPr>
            </a:pPr>
            <a:r>
              <a:t>  - newsletter</a:t>
            </a:r>
          </a:p>
          <a:p>
            <a:pPr>
              <a:lnSpc>
                <a:spcPct val="114000"/>
              </a:lnSpc>
              <a:defRPr sz="900" b="0">
                <a:solidFill>
                  <a:srgbClr val="E8E5DE"/>
                </a:solidFill>
                <a:latin typeface="Courier New"/>
              </a:defRPr>
            </a:pPr>
            <a:r>
              <a:t>---</a:t>
            </a:r>
          </a:p>
          <a:p>
            <a:pPr>
              <a:lnSpc>
                <a:spcPct val="114000"/>
              </a:lnSpc>
              <a:defRPr sz="900" b="0">
                <a:solidFill>
                  <a:srgbClr val="E8E5DE"/>
                </a:solidFill>
                <a:latin typeface="Courier New"/>
              </a:defRPr>
            </a:pPr>
            <a:r>
              <a:t>You are Horizon Wealth Planning's Content Creator.</a:t>
            </a:r>
          </a:p>
          <a:p>
            <a:pPr>
              <a:lnSpc>
                <a:spcPct val="114000"/>
              </a:lnSpc>
              <a:defRPr sz="900" b="0">
                <a:solidFill>
                  <a:srgbClr val="E8E5DE"/>
                </a:solidFill>
                <a:latin typeface="Courier New"/>
              </a:defRPr>
            </a:pPr>
            <a:r>
              <a:t>## What you read   the brief, facts-2026.md, brand.md</a:t>
            </a:r>
          </a:p>
          <a:p>
            <a:pPr>
              <a:lnSpc>
                <a:spcPct val="114000"/>
              </a:lnSpc>
              <a:defRPr sz="900" b="0">
                <a:solidFill>
                  <a:srgbClr val="E8E5DE"/>
                </a:solidFill>
                <a:latin typeface="Courier New"/>
              </a:defRPr>
            </a:pPr>
            <a:r>
              <a:t>## What you deliver   content files, ready for review</a:t>
            </a:r>
          </a:p>
          <a:p>
            <a:pPr>
              <a:lnSpc>
                <a:spcPct val="114000"/>
              </a:lnSpc>
              <a:defRPr sz="900" b="0">
                <a:solidFill>
                  <a:srgbClr val="E8E5DE"/>
                </a:solidFill>
                <a:latin typeface="Courier New"/>
              </a:defRPr>
            </a:pPr>
            <a:r>
              <a:t>## Connectors   Google Drive (docs), Gmail (drafts only)</a:t>
            </a:r>
          </a:p>
          <a:p>
            <a:pPr>
              <a:lnSpc>
                <a:spcPct val="114000"/>
              </a:lnSpc>
              <a:defRPr sz="900" b="0">
                <a:solidFill>
                  <a:srgbClr val="E8E5DE"/>
                </a:solidFill>
                <a:latin typeface="Courier New"/>
              </a:defRPr>
            </a:pPr>
            <a:r>
              <a:t>## Never   add a number not on the facts sheet; send;</a:t>
            </a:r>
          </a:p>
          <a:p>
            <a:pPr>
              <a:lnSpc>
                <a:spcPct val="114000"/>
              </a:lnSpc>
              <a:defRPr sz="900" b="0">
                <a:solidFill>
                  <a:srgbClr val="E8E5DE"/>
                </a:solidFill>
                <a:latin typeface="Courier New"/>
              </a:defRPr>
            </a:pPr>
            <a:r>
              <a:t>           approve or publish for real</a:t>
            </a:r>
          </a:p>
          <a:p>
            <a:pPr>
              <a:lnSpc>
                <a:spcPct val="114000"/>
              </a:lnSpc>
              <a:defRPr sz="900" b="0">
                <a:solidFill>
                  <a:srgbClr val="E8E5DE"/>
                </a:solidFill>
                <a:latin typeface="Courier New"/>
              </a:defRPr>
            </a:pPr>
            <a:r>
              <a:t>## Report back   what, where, anything unverified</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INSTRUCTIONS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Good Agent Instructions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Five parts, every time. The "Never" part matters most in a regulated firm.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38</a:t>
            </a:r>
          </a:p>
        </p:txBody>
      </p:sp>
      <p:sp>
        <p:nvSpPr>
          <p:cNvPr id="8" name="Rounded Rectangle 7"/>
          <p:cNvSpPr/>
          <p:nvPr/>
        </p:nvSpPr>
        <p:spPr>
          <a:xfrm>
            <a:off x="548640"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job</a:t>
            </a:r>
          </a:p>
        </p:txBody>
      </p:sp>
      <p:sp>
        <p:nvSpPr>
          <p:cNvPr id="11" name="TextBox 10"/>
          <p:cNvSpPr txBox="1"/>
          <p:nvPr/>
        </p:nvSpPr>
        <p:spPr>
          <a:xfrm>
            <a:off x="786384"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One sentence: what this agent is for. The description decides when Claude delegates to it.</a:t>
            </a:r>
          </a:p>
        </p:txBody>
      </p:sp>
      <p:sp>
        <p:nvSpPr>
          <p:cNvPr id="12" name="Rounded Rectangle 11"/>
          <p:cNvSpPr/>
          <p:nvPr/>
        </p:nvSpPr>
        <p:spPr>
          <a:xfrm>
            <a:off x="6190488" y="2084831"/>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0488" y="2084831"/>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1" y="2340863"/>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Reads and delivers</a:t>
            </a:r>
          </a:p>
        </p:txBody>
      </p:sp>
      <p:sp>
        <p:nvSpPr>
          <p:cNvPr id="15" name="TextBox 14"/>
          <p:cNvSpPr txBox="1"/>
          <p:nvPr/>
        </p:nvSpPr>
        <p:spPr>
          <a:xfrm>
            <a:off x="6428231" y="2871215"/>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Which files it may use; what it hands back, and where.</a:t>
            </a:r>
          </a:p>
        </p:txBody>
      </p:sp>
      <p:sp>
        <p:nvSpPr>
          <p:cNvPr id="16" name="Rounded Rectangle 15"/>
          <p:cNvSpPr/>
          <p:nvPr/>
        </p:nvSpPr>
        <p:spPr>
          <a:xfrm>
            <a:off x="548640"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6384"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Never</a:t>
            </a:r>
          </a:p>
        </p:txBody>
      </p:sp>
      <p:sp>
        <p:nvSpPr>
          <p:cNvPr id="19" name="TextBox 18"/>
          <p:cNvSpPr txBox="1"/>
          <p:nvPr/>
        </p:nvSpPr>
        <p:spPr>
          <a:xfrm>
            <a:off x="786384"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Its hard limits: no invented figures, no sending, no publishing, no approving.</a:t>
            </a:r>
          </a:p>
        </p:txBody>
      </p:sp>
      <p:sp>
        <p:nvSpPr>
          <p:cNvPr id="20" name="Rounded Rectangle 19"/>
          <p:cNvSpPr/>
          <p:nvPr/>
        </p:nvSpPr>
        <p:spPr>
          <a:xfrm>
            <a:off x="6190488" y="4032504"/>
            <a:ext cx="5422392"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4032504"/>
            <a:ext cx="5422392"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1" y="4288536"/>
            <a:ext cx="4946904"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Report back</a:t>
            </a:r>
          </a:p>
        </p:txBody>
      </p:sp>
      <p:sp>
        <p:nvSpPr>
          <p:cNvPr id="23" name="TextBox 22"/>
          <p:cNvSpPr txBox="1"/>
          <p:nvPr/>
        </p:nvSpPr>
        <p:spPr>
          <a:xfrm>
            <a:off x="6428231" y="4818888"/>
            <a:ext cx="4946904"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Three lines: what, where, anything unverified — so the Lead can combine results.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39</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02</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Rachel sketches the team on a whiteboard: a Lead and five specialists. Each needs a clear job, and a clear line it must never cross — this is a regulated firm.</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.claude/agents/: growth-strategist, content-creator, creative-designer, website-designer, growth-analyst</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(subagent files)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five subagent files in .claude/agents/ · name, description, tools, model · the Lead is your session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40</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2".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roles  </a:t>
            </a:r>
            <a:r>
              <a:rPr sz="1300">
                <a:solidFill>
                  <a:srgbClr val="6B6862"/>
                </a:solidFill>
                <a:latin typeface="Calibri"/>
              </a:rPr>
              <a:t>Open role-specs.md: one Lead and five specialists, each with a job, skills, connectors and limits.</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Write the instructions  </a:t>
            </a:r>
            <a:r>
              <a:rPr sz="1300">
                <a:solidFill>
                  <a:srgbClr val="6B6862"/>
                </a:solidFill>
                <a:latin typeface="Calibri"/>
              </a:rPr>
              <a:t>Copy and paste Prompt A. It builds the five specialists from the charter; extra ideas stay in team-design.md.</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See the team  </a:t>
            </a:r>
            <a:r>
              <a:rPr sz="1300">
                <a:solidFill>
                  <a:srgbClr val="6B6862"/>
                </a:solidFill>
                <a:latin typeface="Calibri"/>
              </a:rPr>
              <a:t>After the five files appear in .claude/agents/, copy and paste Prompt B. The Lead is not a file — it is you, in this session.</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one closely  </a:t>
            </a:r>
            <a:r>
              <a:rPr sz="1300">
                <a:solidFill>
                  <a:srgbClr val="6B6862"/>
                </a:solidFill>
                <a:latin typeface="Calibri"/>
              </a:rPr>
              <a:t>Open .claude/agents/content-creator.md. Is the "Never" section strict enough for a regulated firm?</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Meet the team  </a:t>
            </a:r>
            <a:r>
              <a:rPr sz="1300">
                <a:solidFill>
                  <a:srgbClr val="6B6862"/>
                </a:solidFill>
                <a:latin typeface="Calibri"/>
              </a:rPr>
              <a:t>After the list shows five agents, copy and paste Prompt C. Each agent introduces itself in one line — in its own context.</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Tighten one  </a:t>
            </a:r>
            <a:r>
              <a:rPr sz="1300">
                <a:solidFill>
                  <a:srgbClr val="6B6862"/>
                </a:solidFill>
                <a:latin typeface="Calibri"/>
              </a:rPr>
              <a:t>Change one instruction you disagree with and save it. It is your team.</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41</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five subagents</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data/role-specs.md. Create five project subagents in .claude/agents/ — growth-strategist, content-creator, creative-designer, website-designer and growth-analyst. Each file has:</a:t>
            </a:r>
          </a:p>
          <a:p>
            <a:pPr>
              <a:lnSpc>
                <a:spcPct val="110000"/>
              </a:lnSpc>
              <a:defRPr sz="1700" b="0">
                <a:solidFill>
                  <a:srgbClr val="21201C"/>
                </a:solidFill>
                <a:latin typeface="Calibri"/>
              </a:defRPr>
            </a:pPr>
            <a:r>
              <a:t>- frontmatter: name; a description that says when to use it; tools; model (opus for the strategist, sonnet for the others)</a:t>
            </a:r>
          </a:p>
          <a:p>
            <a:pPr>
              <a:lnSpc>
                <a:spcPct val="110000"/>
              </a:lnSpc>
              <a:defRPr sz="1700" b="0">
                <a:solidFill>
                  <a:srgbClr val="21201C"/>
                </a:solidFill>
                <a:latin typeface="Calibri"/>
              </a:defRPr>
            </a:pPr>
            <a:r>
              <a:t>- a body with: the job, what it reads, what it delivers, the connectors it may use, what it must never do, and how it reports back. No skills line yet — we add skills in Lab 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42</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see the team</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List the subagents in .claude/agents/. For each, show the file name, the name, the one-line description and the model, in a table. Then confirm there are five, and that none of them is the Marketing Team Lead — the Lead is this session. If any other file is there, list it and ask me before moving it to _archive/.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43</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meet the team</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each of the five subagents once, in parallel. Ask each: "In one line, who are you, and what is the first thing you would do for Horizon's goal of 40 booked chats a month?" Show me the five answers in a table.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Clear jobs beat clever prompts. An agent that knows what it must never do is safer than one that is merely told to be careful.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02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Form the Team: Instructions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44</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files exist in .claude/agents/, one per specialist.</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has a name, a "use when" description, tools and a model.</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Your session acts as the Marketing Team Lead.</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agents answered, each in its own context.</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agent has a "never" rule that blocks publishing.</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changed one instruction and can say why.</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SKILLS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Twenty Skills, Owned by Role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Instructions say who an agent is; skills say how it does the job.</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45</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3626510" y="2203703"/>
            <a:ext cx="791321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SKILLS</a:t>
            </a:r>
          </a:p>
        </p:txBody>
      </p:sp>
      <p:sp>
        <p:nvSpPr>
          <p:cNvPr id="11" name="Rectangle 10"/>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560320"/>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3" name="TextBox 12"/>
          <p:cNvSpPr txBox="1"/>
          <p:nvPr/>
        </p:nvSpPr>
        <p:spPr>
          <a:xfrm>
            <a:off x="3626510" y="2560320"/>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fin-compliance</a:t>
            </a:r>
          </a:p>
        </p:txBody>
      </p:sp>
      <p:sp>
        <p:nvSpPr>
          <p:cNvPr id="14" name="TextBox 13"/>
          <p:cNvSpPr txBox="1"/>
          <p:nvPr/>
        </p:nvSpPr>
        <p:spPr>
          <a:xfrm>
            <a:off x="749808" y="3084575"/>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5" name="TextBox 14"/>
          <p:cNvSpPr txBox="1"/>
          <p:nvPr/>
        </p:nvSpPr>
        <p:spPr>
          <a:xfrm>
            <a:off x="3626510" y="3084575"/>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competitor-scan, campaign-brief, content-marketing</a:t>
            </a:r>
          </a:p>
        </p:txBody>
      </p:sp>
      <p:sp>
        <p:nvSpPr>
          <p:cNvPr id="16" name="Rectangle 15"/>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3608831"/>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18" name="TextBox 17"/>
          <p:cNvSpPr txBox="1"/>
          <p:nvPr/>
        </p:nvSpPr>
        <p:spPr>
          <a:xfrm>
            <a:off x="3626510" y="3608831"/>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sunny-voice, copywriting, channel-formats, linkedin-post, facebook-post, blog-post, newsletter</a:t>
            </a:r>
          </a:p>
        </p:txBody>
      </p:sp>
      <p:sp>
        <p:nvSpPr>
          <p:cNvPr id="19" name="TextBox 18"/>
          <p:cNvSpPr txBox="1"/>
          <p:nvPr/>
        </p:nvSpPr>
        <p:spPr>
          <a:xfrm>
            <a:off x="749808" y="4133087"/>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0" name="TextBox 19"/>
          <p:cNvSpPr txBox="1"/>
          <p:nvPr/>
        </p:nvSpPr>
        <p:spPr>
          <a:xfrm>
            <a:off x="3626510" y="4133087"/>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brand-visuals, video-render</a:t>
            </a:r>
          </a:p>
        </p:txBody>
      </p:sp>
      <p:sp>
        <p:nvSpPr>
          <p:cNvPr id="21" name="Rectangle 20"/>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4657344"/>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23" name="TextBox 22"/>
          <p:cNvSpPr txBox="1"/>
          <p:nvPr/>
        </p:nvSpPr>
        <p:spPr>
          <a:xfrm>
            <a:off x="3626510" y="4657344"/>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web-design, landing-page, lead-magnet, page-qa</a:t>
            </a:r>
          </a:p>
        </p:txBody>
      </p:sp>
      <p:sp>
        <p:nvSpPr>
          <p:cNvPr id="24" name="TextBox 23"/>
          <p:cNvSpPr txBox="1"/>
          <p:nvPr/>
        </p:nvSpPr>
        <p:spPr>
          <a:xfrm>
            <a:off x="749808" y="5181599"/>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25" name="TextBox 24"/>
          <p:cNvSpPr txBox="1"/>
          <p:nvPr/>
        </p:nvSpPr>
        <p:spPr>
          <a:xfrm>
            <a:off x="3626510" y="5181599"/>
            <a:ext cx="7913217"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audience-insights, campaign-report</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Master copies in skills/; .claude/skills/ — Claude Code reads them from your folder.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SKILLS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Anatomy of a Skill</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Frontmatter (the trigger), then short steps. Free until it is needed.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46</a:t>
            </a:r>
          </a:p>
        </p:txBody>
      </p:sp>
      <p:sp>
        <p:nvSpPr>
          <p:cNvPr id="8" name="Rounded Rectangle 7"/>
          <p:cNvSpPr/>
          <p:nvPr/>
        </p:nvSpPr>
        <p:spPr>
          <a:xfrm>
            <a:off x="548640" y="2084831"/>
            <a:ext cx="11064240" cy="4242816"/>
          </a:xfrm>
          <a:prstGeom prst="roundRect">
            <a:avLst>
              <a:gd name="adj" fmla="val 6000"/>
            </a:avLst>
          </a:prstGeom>
          <a:solidFill>
            <a:srgbClr val="21201C"/>
          </a:solidFill>
          <a:ln w="12700">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2304287"/>
            <a:ext cx="105156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.claude/skills/campaign-brief/SKILL.md</a:t>
            </a:r>
          </a:p>
        </p:txBody>
      </p:sp>
      <p:sp>
        <p:nvSpPr>
          <p:cNvPr id="11" name="TextBox 10"/>
          <p:cNvSpPr txBox="1"/>
          <p:nvPr/>
        </p:nvSpPr>
        <p:spPr>
          <a:xfrm>
            <a:off x="822959" y="2724911"/>
            <a:ext cx="10515600" cy="3535756"/>
          </a:xfrm>
          <a:prstGeom prst="rect">
            <a:avLst/>
          </a:prstGeom>
          <a:noFill/>
        </p:spPr>
        <p:txBody>
          <a:bodyPr wrap="square" lIns="18288" rIns="18288" tIns="9144" bIns="9144">
            <a:spAutoFit/>
          </a:bodyPr>
          <a:lstStyle/>
          <a:p>
            <a:pPr>
              <a:lnSpc>
                <a:spcPct val="114000"/>
              </a:lnSpc>
              <a:defRPr sz="1300" b="0">
                <a:solidFill>
                  <a:srgbClr val="E8E5DE"/>
                </a:solidFill>
                <a:latin typeface="Courier New"/>
              </a:defRPr>
            </a:pPr>
            <a:r>
              <a:t>---</a:t>
            </a:r>
          </a:p>
          <a:p>
            <a:pPr>
              <a:lnSpc>
                <a:spcPct val="114000"/>
              </a:lnSpc>
              <a:defRPr sz="1300" b="0">
                <a:solidFill>
                  <a:srgbClr val="E8E5DE"/>
                </a:solidFill>
                <a:latin typeface="Courier New"/>
              </a:defRPr>
            </a:pPr>
            <a:r>
              <a:t>name: campaign-brief</a:t>
            </a:r>
          </a:p>
          <a:p>
            <a:pPr>
              <a:lnSpc>
                <a:spcPct val="114000"/>
              </a:lnSpc>
              <a:defRPr sz="1300" b="0">
                <a:solidFill>
                  <a:srgbClr val="E8E5DE"/>
                </a:solidFill>
                <a:latin typeface="Courier New"/>
              </a:defRPr>
            </a:pPr>
            <a:r>
              <a:t>description: Use when planning a Horizon campaign.</a:t>
            </a:r>
          </a:p>
          <a:p>
            <a:pPr>
              <a:lnSpc>
                <a:spcPct val="114000"/>
              </a:lnSpc>
              <a:defRPr sz="1300" b="0">
                <a:solidFill>
                  <a:srgbClr val="E8E5DE"/>
                </a:solidFill>
                <a:latin typeface="Courier New"/>
              </a:defRPr>
            </a:pPr>
            <a:r>
              <a:t>  Objective, audience, message, proof, channels,</a:t>
            </a:r>
          </a:p>
          <a:p>
            <a:pPr>
              <a:lnSpc>
                <a:spcPct val="114000"/>
              </a:lnSpc>
              <a:defRPr sz="1300" b="0">
                <a:solidFill>
                  <a:srgbClr val="E8E5DE"/>
                </a:solidFill>
                <a:latin typeface="Courier New"/>
              </a:defRPr>
            </a:pPr>
            <a:r>
              <a:t>  CTA, measures, and a five-beat storyboard.</a:t>
            </a:r>
          </a:p>
          <a:p>
            <a:pPr>
              <a:lnSpc>
                <a:spcPct val="114000"/>
              </a:lnSpc>
              <a:defRPr sz="1300" b="0">
                <a:solidFill>
                  <a:srgbClr val="E8E5DE"/>
                </a:solidFill>
                <a:latin typeface="Courier New"/>
              </a:defRPr>
            </a:pPr>
            <a:r>
              <a:t>---</a:t>
            </a:r>
          </a:p>
          <a:p>
            <a:pPr>
              <a:lnSpc>
                <a:spcPct val="114000"/>
              </a:lnSpc>
              <a:defRPr sz="1300" b="0">
                <a:solidFill>
                  <a:srgbClr val="E8E5DE"/>
                </a:solidFill>
                <a:latin typeface="Courier New"/>
              </a:defRPr>
            </a:pPr>
            <a:r>
              <a:t># Campaign brief</a:t>
            </a:r>
          </a:p>
          <a:p>
            <a:pPr>
              <a:lnSpc>
                <a:spcPct val="114000"/>
              </a:lnSpc>
              <a:defRPr sz="1300" b="0">
                <a:solidFill>
                  <a:srgbClr val="E8E5DE"/>
                </a:solidFill>
                <a:latin typeface="Courier New"/>
              </a:defRPr>
            </a:pPr>
            <a:r>
              <a:t>1. Objective: one measurable action (e.g. chats booked).</a:t>
            </a:r>
          </a:p>
          <a:p>
            <a:pPr>
              <a:lnSpc>
                <a:spcPct val="114000"/>
              </a:lnSpc>
              <a:defRPr sz="1300" b="0">
                <a:solidFill>
                  <a:srgbClr val="E8E5DE"/>
                </a:solidFill>
                <a:latin typeface="Courier New"/>
              </a:defRPr>
            </a:pPr>
            <a:r>
              <a:t>2. Audience: the persona(s) from strategy/personas.md, with evidence.</a:t>
            </a:r>
          </a:p>
          <a:p>
            <a:pPr>
              <a:lnSpc>
                <a:spcPct val="114000"/>
              </a:lnSpc>
              <a:defRPr sz="1300" b="0">
                <a:solidFill>
                  <a:srgbClr val="E8E5DE"/>
                </a:solidFill>
                <a:latin typeface="Courier New"/>
              </a:defRPr>
            </a:pPr>
            <a:r>
              <a:t>3. Core message in one sentence; proof from data/facts-2026.md only.</a:t>
            </a:r>
          </a:p>
          <a:p>
            <a:pPr>
              <a:lnSpc>
                <a:spcPct val="114000"/>
              </a:lnSpc>
              <a:defRPr sz="1300" b="0">
                <a:solidFill>
                  <a:srgbClr val="E8E5DE"/>
                </a:solidFill>
                <a:latin typeface="Courier New"/>
              </a:defRPr>
            </a:pPr>
            <a:r>
              <a:t>4. Channels and formats; one call to action; measures and a date.</a:t>
            </a:r>
          </a:p>
          <a:p>
            <a:pPr>
              <a:lnSpc>
                <a:spcPct val="114000"/>
              </a:lnSpc>
              <a:defRPr sz="1300" b="0">
                <a:solidFill>
                  <a:srgbClr val="E8E5DE"/>
                </a:solidFill>
                <a:latin typeface="Courier New"/>
              </a:defRPr>
            </a:pPr>
            <a:r>
              <a:t>5. Storyboard in five beats — hook, tension, proof, resolution, action —</a:t>
            </a:r>
          </a:p>
          <a:p>
            <a:pPr>
              <a:lnSpc>
                <a:spcPct val="114000"/>
              </a:lnSpc>
              <a:defRPr sz="1300" b="0">
                <a:solidFill>
                  <a:srgbClr val="E8E5DE"/>
                </a:solidFill>
                <a:latin typeface="Courier New"/>
              </a:defRPr>
            </a:pPr>
            <a:r>
              <a:t>   each with visual, words, claim and source.</a:t>
            </a:r>
          </a:p>
          <a:p>
            <a:pPr>
              <a:lnSpc>
                <a:spcPct val="114000"/>
              </a:lnSpc>
              <a:defRPr sz="1300" b="0">
                <a:solidFill>
                  <a:srgbClr val="E8E5DE"/>
                </a:solidFill>
                <a:latin typeface="Courier New"/>
              </a:defRPr>
            </a:pPr>
            <a:r>
              <a:t>6. Never: returns, fee amounts, invented clients, fear.</a:t>
            </a:r>
          </a:p>
          <a:p>
            <a:pPr>
              <a:lnSpc>
                <a:spcPct val="114000"/>
              </a:lnSpc>
              <a:defRPr sz="1300" b="0">
                <a:solidFill>
                  <a:srgbClr val="E8E5DE"/>
                </a:solidFill>
                <a:latin typeface="Courier New"/>
              </a:defRPr>
            </a:pP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47</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03</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 exists, but every agent writes in its own way. Rachel wants Horizon's voice, facts and compliance rules applied the same way by every agent, every time.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twenty skills in .claude/skills/, wired to the agents that own them</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(.claude/skills/)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twenty skills owned by role — research, writing, LinkedIn, Facebook, blog, newsletter, web design, lead magnet, video, analysis and compliance · SKILL.md · the "Use when" trigger · test without naming</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48</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3".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spec  </a:t>
            </a:r>
            <a:r>
              <a:rPr sz="1300">
                <a:solidFill>
                  <a:srgbClr val="6B6862"/>
                </a:solidFill>
                <a:latin typeface="Calibri"/>
              </a:rPr>
              <a:t>skills-spec.md lists the twenty skills and who owns each.</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Create the skills  </a:t>
            </a:r>
            <a:r>
              <a:rPr sz="1300">
                <a:solidFill>
                  <a:srgbClr val="6B6862"/>
                </a:solidFill>
                <a:latin typeface="Calibri"/>
              </a:rPr>
              <a:t>Copy and paste Prompt A.</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Wire them up  </a:t>
            </a:r>
            <a:r>
              <a:rPr sz="1300">
                <a:solidFill>
                  <a:srgbClr val="6B6862"/>
                </a:solidFill>
                <a:latin typeface="Calibri"/>
              </a:rPr>
              <a:t>After the twenty skills appear in .claude/skills/, copy and paste Prompt B, then C to list every skill. The Lead's two go in CLAUDE.md, not a file.</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without naming  </a:t>
            </a:r>
            <a:r>
              <a:rPr sz="1300">
                <a:solidFill>
                  <a:srgbClr val="6B6862"/>
                </a:solidFill>
                <a:latin typeface="Calibri"/>
              </a:rPr>
              <a:t>In a new session ask: "Write a Facebook post about the free Money Check-up Checklist." Ask which skills were used.</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Break it on purpose  </a:t>
            </a:r>
            <a:r>
              <a:rPr sz="1300">
                <a:solidFill>
                  <a:srgbClr val="6B6862"/>
                </a:solidFill>
                <a:latin typeface="Calibri"/>
              </a:rPr>
              <a:t>Ask for a post that says "guaranteed 8% a year". fin-compliance must flag it as Critical.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49</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twenty skills</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data/skills-spec.md. Create the twenty skills in .claude/skills/&lt;name&gt;/SKILL.md. Each has frontmatter (name, and a description that starts "Use when…") and short numbered steps, under 80 lines. Use data/brand.md, data/channel-formats.md, data/facts-2026.md and data/compliance-checklist.md as the sources — do not invent rules.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50</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wire them up</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Add a skills: list to each subagent in .claude/agents/ with its skills from data/skills-spec.md. Leave any other agent file as it is. Add to CLAUDE.md that the Lead (this session) runs fact-check and fin-compliance on everything before showing it to me.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51</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see the skills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List the skills in .claude/skills/. Show each skill, its owner (a subagent, or the Lead) and its "Use when" line in a table. Confirm there are twenty, that each specialist has the skills the spec gives it, and that fact-check and fin-compliance belong to the Lead (this session).</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 skill costs almost nothing until it is needed. Keep the rules file (CLAUDE.md) short and put procedures in skills.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03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Give Each Agent Its Skills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52</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Twenty folders in .claude/skills/, each with a SKILL.md.</a:t>
            </a:r>
          </a:p>
        </p:txBody>
      </p:sp>
      <p:sp>
        <p:nvSpPr>
          <p:cNvPr id="13" name="Oval 12"/>
          <p:cNvSpPr/>
          <p:nvPr/>
        </p:nvSpPr>
        <p:spPr>
          <a:xfrm>
            <a:off x="841248" y="337413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32841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description starts "Use when…".</a:t>
            </a:r>
          </a:p>
        </p:txBody>
      </p:sp>
      <p:sp>
        <p:nvSpPr>
          <p:cNvPr id="15" name="Oval 14"/>
          <p:cNvSpPr/>
          <p:nvPr/>
        </p:nvSpPr>
        <p:spPr>
          <a:xfrm>
            <a:off x="841248" y="394106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89534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specialist lists its own skills from the spec.</a:t>
            </a:r>
          </a:p>
        </p:txBody>
      </p:sp>
      <p:sp>
        <p:nvSpPr>
          <p:cNvPr id="17" name="Oval 16"/>
          <p:cNvSpPr/>
          <p:nvPr/>
        </p:nvSpPr>
        <p:spPr>
          <a:xfrm>
            <a:off x="841248" y="450799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46227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untold test picked sunny-voice and facebook-post.</a:t>
            </a:r>
          </a:p>
        </p:txBody>
      </p:sp>
      <p:sp>
        <p:nvSpPr>
          <p:cNvPr id="19" name="Oval 18"/>
          <p:cNvSpPr/>
          <p:nvPr/>
        </p:nvSpPr>
        <p:spPr>
          <a:xfrm>
            <a:off x="841248" y="507492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502920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fin-compliance flagged "guaranteed 8%" as Critical.</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CONNECTORS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Connectors for Each Agent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Add once in the desktop app: Customize → Connectors, and the Marketing plugin.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53</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a:t>
            </a:r>
          </a:p>
        </p:txBody>
      </p:sp>
      <p:sp>
        <p:nvSpPr>
          <p:cNvPr id="10" name="TextBox 9"/>
          <p:cNvSpPr txBox="1"/>
          <p:nvPr/>
        </p:nvSpPr>
        <p:spPr>
          <a:xfrm>
            <a:off x="3626510" y="2203703"/>
            <a:ext cx="459394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MAY USE</a:t>
            </a:r>
          </a:p>
        </p:txBody>
      </p:sp>
      <p:sp>
        <p:nvSpPr>
          <p:cNvPr id="11" name="TextBox 10"/>
          <p:cNvSpPr txBox="1"/>
          <p:nvPr/>
        </p:nvSpPr>
        <p:spPr>
          <a:xfrm>
            <a:off x="8494776"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LIMIT</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Team Lead</a:t>
            </a:r>
          </a:p>
        </p:txBody>
      </p:sp>
      <p:sp>
        <p:nvSpPr>
          <p:cNvPr id="14" name="TextBox 13"/>
          <p:cNvSpPr txBox="1"/>
          <p:nvPr/>
        </p:nvSpPr>
        <p:spPr>
          <a:xfrm>
            <a:off x="3626510" y="2560320"/>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(read), Gmail (drafts only)</a:t>
            </a:r>
          </a:p>
        </p:txBody>
      </p:sp>
      <p:sp>
        <p:nvSpPr>
          <p:cNvPr id="15" name="TextBox 14"/>
          <p:cNvSpPr txBox="1"/>
          <p:nvPr/>
        </p:nvSpPr>
        <p:spPr>
          <a:xfrm>
            <a:off x="8494776" y="2560320"/>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reads; drafts only</a:t>
            </a:r>
          </a:p>
        </p:txBody>
      </p:sp>
      <p:sp>
        <p:nvSpPr>
          <p:cNvPr id="16" name="TextBox 15"/>
          <p:cNvSpPr txBox="1"/>
          <p:nvPr/>
        </p:nvSpPr>
        <p:spPr>
          <a:xfrm>
            <a:off x="749808" y="3084575"/>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Strategist</a:t>
            </a:r>
          </a:p>
        </p:txBody>
      </p:sp>
      <p:sp>
        <p:nvSpPr>
          <p:cNvPr id="17" name="TextBox 16"/>
          <p:cNvSpPr txBox="1"/>
          <p:nvPr/>
        </p:nvSpPr>
        <p:spPr>
          <a:xfrm>
            <a:off x="3626510" y="3084575"/>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web search, Firecrawl (search, scrape), Google Drive (read)</a:t>
            </a:r>
          </a:p>
        </p:txBody>
      </p:sp>
      <p:sp>
        <p:nvSpPr>
          <p:cNvPr id="18" name="TextBox 17"/>
          <p:cNvSpPr txBox="1"/>
          <p:nvPr/>
        </p:nvSpPr>
        <p:spPr>
          <a:xfrm>
            <a:off x="8494776" y="3084575"/>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cite every source</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Content Creator</a:t>
            </a:r>
          </a:p>
        </p:txBody>
      </p:sp>
      <p:sp>
        <p:nvSpPr>
          <p:cNvPr id="21" name="TextBox 20"/>
          <p:cNvSpPr txBox="1"/>
          <p:nvPr/>
        </p:nvSpPr>
        <p:spPr>
          <a:xfrm>
            <a:off x="3626510" y="3608831"/>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(docs), Gmail (drafts only)</a:t>
            </a:r>
          </a:p>
        </p:txBody>
      </p:sp>
      <p:sp>
        <p:nvSpPr>
          <p:cNvPr id="22" name="TextBox 21"/>
          <p:cNvSpPr txBox="1"/>
          <p:nvPr/>
        </p:nvSpPr>
        <p:spPr>
          <a:xfrm>
            <a:off x="8494776" y="3608831"/>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Gmail: drafts only</a:t>
            </a:r>
          </a:p>
        </p:txBody>
      </p:sp>
      <p:sp>
        <p:nvSpPr>
          <p:cNvPr id="23" name="TextBox 22"/>
          <p:cNvSpPr txBox="1"/>
          <p:nvPr/>
        </p:nvSpPr>
        <p:spPr>
          <a:xfrm>
            <a:off x="749808" y="4133087"/>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Creative Designer</a:t>
            </a:r>
          </a:p>
        </p:txBody>
      </p:sp>
      <p:sp>
        <p:nvSpPr>
          <p:cNvPr id="24" name="TextBox 23"/>
          <p:cNvSpPr txBox="1"/>
          <p:nvPr/>
        </p:nvSpPr>
        <p:spPr>
          <a:xfrm>
            <a:off x="3626510" y="4133087"/>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Bash for Pillow (images) and ffmpeg (video)</a:t>
            </a:r>
          </a:p>
        </p:txBody>
      </p:sp>
      <p:sp>
        <p:nvSpPr>
          <p:cNvPr id="25" name="TextBox 24"/>
          <p:cNvSpPr txBox="1"/>
          <p:nvPr/>
        </p:nvSpPr>
        <p:spPr>
          <a:xfrm>
            <a:off x="8494776" y="4133087"/>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fake "clients"</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Website Designer</a:t>
            </a:r>
          </a:p>
        </p:txBody>
      </p:sp>
      <p:sp>
        <p:nvSpPr>
          <p:cNvPr id="28" name="TextBox 27"/>
          <p:cNvSpPr txBox="1"/>
          <p:nvPr/>
        </p:nvSpPr>
        <p:spPr>
          <a:xfrm>
            <a:off x="3626510" y="4657344"/>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artifacts (publish), built-in browser (check)</a:t>
            </a:r>
          </a:p>
        </p:txBody>
      </p:sp>
      <p:sp>
        <p:nvSpPr>
          <p:cNvPr id="29" name="TextBox 28"/>
          <p:cNvSpPr txBox="1"/>
          <p:nvPr/>
        </p:nvSpPr>
        <p:spPr>
          <a:xfrm>
            <a:off x="8494776" y="4657344"/>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publish after approval</a:t>
            </a:r>
          </a:p>
        </p:txBody>
      </p:sp>
      <p:sp>
        <p:nvSpPr>
          <p:cNvPr id="30" name="TextBox 29"/>
          <p:cNvSpPr txBox="1"/>
          <p:nvPr/>
        </p:nvSpPr>
        <p:spPr>
          <a:xfrm>
            <a:off x="749808" y="5181599"/>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Growth Analyst</a:t>
            </a:r>
          </a:p>
        </p:txBody>
      </p:sp>
      <p:sp>
        <p:nvSpPr>
          <p:cNvPr id="31" name="TextBox 30"/>
          <p:cNvSpPr txBox="1"/>
          <p:nvPr/>
        </p:nvSpPr>
        <p:spPr>
          <a:xfrm>
            <a:off x="3626510" y="5181599"/>
            <a:ext cx="459394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Google Drive and Sheets (read), Bash for Python</a:t>
            </a:r>
          </a:p>
        </p:txBody>
      </p:sp>
      <p:sp>
        <p:nvSpPr>
          <p:cNvPr id="32" name="TextBox 31"/>
          <p:cNvSpPr txBox="1"/>
          <p:nvPr/>
        </p:nvSpPr>
        <p:spPr>
          <a:xfrm>
            <a:off x="8494776" y="5181599"/>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personal data</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Use your personal Google account — never an employer's.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CONNECTORS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Least Privilege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regulated firm gives each agent only what its job needs.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54</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Ask of each connector</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Does this agent's job need it? If not, it does not get it.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Drafts, not sends</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Email is drafted, posts are files, pages wait — a person sends and publishes.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Write it down</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Each agent's instructions name its connectors and limits; its tools line removes what it does not need.</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COMPATIBILITY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Assessing Compatibility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Before you connect a component, check it fits at the interface. A connection that "works" can still be wrong.</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55</a:t>
            </a:r>
          </a:p>
        </p:txBody>
      </p:sp>
      <p:sp>
        <p:nvSpPr>
          <p:cNvPr id="8" name="Rounded Rectangle 7"/>
          <p:cNvSpPr/>
          <p:nvPr/>
        </p:nvSpPr>
        <p:spPr>
          <a:xfrm>
            <a:off x="548640"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Format and encoding</a:t>
            </a:r>
          </a:p>
        </p:txBody>
      </p:sp>
      <p:sp>
        <p:nvSpPr>
          <p:cNvPr id="11" name="TextBox 10"/>
          <p:cNvSpPr txBox="1"/>
          <p:nvPr/>
        </p:nvSpPr>
        <p:spPr>
          <a:xfrm>
            <a:off x="786384"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CSV in UTF-8, the right columns, dates and S$ — the agent reads what the file really says.</a:t>
            </a:r>
          </a:p>
        </p:txBody>
      </p:sp>
      <p:sp>
        <p:nvSpPr>
          <p:cNvPr id="12" name="Rounded Rectangle 11"/>
          <p:cNvSpPr/>
          <p:nvPr/>
        </p:nvSpPr>
        <p:spPr>
          <a:xfrm>
            <a:off x="4309872"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Protocol and version</a:t>
            </a:r>
          </a:p>
        </p:txBody>
      </p:sp>
      <p:sp>
        <p:nvSpPr>
          <p:cNvPr id="15" name="TextBox 14"/>
          <p:cNvSpPr txBox="1"/>
          <p:nvPr/>
        </p:nvSpPr>
        <p:spPr>
          <a:xfrm>
            <a:off x="4547615"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MCP for connectors; the API version a platform expects (e.g. LinkedIn-Version: YYYYMM).</a:t>
            </a:r>
          </a:p>
        </p:txBody>
      </p:sp>
      <p:sp>
        <p:nvSpPr>
          <p:cNvPr id="16" name="Rounded Rectangle 15"/>
          <p:cNvSpPr/>
          <p:nvPr/>
        </p:nvSpPr>
        <p:spPr>
          <a:xfrm>
            <a:off x="8071104"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Identity and scope</a:t>
            </a:r>
          </a:p>
        </p:txBody>
      </p:sp>
      <p:sp>
        <p:nvSpPr>
          <p:cNvPr id="19" name="TextBox 18"/>
          <p:cNvSpPr txBox="1"/>
          <p:nvPr/>
        </p:nvSpPr>
        <p:spPr>
          <a:xfrm>
            <a:off x="8308847"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Signed in with the right account; OAuth scopes that allow the job — read, draft, never send.</a:t>
            </a:r>
          </a:p>
        </p:txBody>
      </p:sp>
      <p:sp>
        <p:nvSpPr>
          <p:cNvPr id="20" name="Rounded Rectangle 19"/>
          <p:cNvSpPr/>
          <p:nvPr/>
        </p:nvSpPr>
        <p:spPr>
          <a:xfrm>
            <a:off x="548640"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Least privilege</a:t>
            </a:r>
          </a:p>
        </p:txBody>
      </p:sp>
      <p:sp>
        <p:nvSpPr>
          <p:cNvPr id="23" name="TextBox 22"/>
          <p:cNvSpPr txBox="1"/>
          <p:nvPr/>
        </p:nvSpPr>
        <p:spPr>
          <a:xfrm>
            <a:off x="786384"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Each agent gets only the connectors its job needs; the tools line removes the rest.</a:t>
            </a:r>
          </a:p>
        </p:txBody>
      </p:sp>
      <p:sp>
        <p:nvSpPr>
          <p:cNvPr id="24" name="Rounded Rectangle 23"/>
          <p:cNvSpPr/>
          <p:nvPr/>
        </p:nvSpPr>
        <p:spPr>
          <a:xfrm>
            <a:off x="4309872"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09872"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7615"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Plan and platform</a:t>
            </a:r>
          </a:p>
        </p:txBody>
      </p:sp>
      <p:sp>
        <p:nvSpPr>
          <p:cNvPr id="27" name="TextBox 26"/>
          <p:cNvSpPr txBox="1"/>
          <p:nvPr/>
        </p:nvSpPr>
        <p:spPr>
          <a:xfrm>
            <a:off x="4547615"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Pro plan or above, the desktop app, a claude.ai sign-in — not an API key.</a:t>
            </a:r>
          </a:p>
        </p:txBody>
      </p:sp>
      <p:sp>
        <p:nvSpPr>
          <p:cNvPr id="28" name="Rounded Rectangle 27"/>
          <p:cNvSpPr/>
          <p:nvPr/>
        </p:nvSpPr>
        <p:spPr>
          <a:xfrm>
            <a:off x="8071104"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71104"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08847"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Data protection</a:t>
            </a:r>
          </a:p>
        </p:txBody>
      </p:sp>
      <p:sp>
        <p:nvSpPr>
          <p:cNvPr id="31" name="TextBox 30"/>
          <p:cNvSpPr txBox="1"/>
          <p:nvPr/>
        </p:nvSpPr>
        <p:spPr>
          <a:xfrm>
            <a:off x="8308847"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Personal data stays out of prompts; marketing only to people who consented (PDPA).</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COMPATIBILITY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Compatibility Matrix</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4 ends with one row per agent and interface: what it needs, what it has, the test, and the verdict.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56</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713024"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 → SYSTEM</a:t>
            </a:r>
          </a:p>
        </p:txBody>
      </p:sp>
      <p:sp>
        <p:nvSpPr>
          <p:cNvPr id="10" name="TextBox 9"/>
          <p:cNvSpPr txBox="1"/>
          <p:nvPr/>
        </p:nvSpPr>
        <p:spPr>
          <a:xfrm>
            <a:off x="3737152" y="2203703"/>
            <a:ext cx="182788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INTERFACE</a:t>
            </a:r>
          </a:p>
        </p:txBody>
      </p:sp>
      <p:sp>
        <p:nvSpPr>
          <p:cNvPr id="11" name="TextBox 10"/>
          <p:cNvSpPr txBox="1"/>
          <p:nvPr/>
        </p:nvSpPr>
        <p:spPr>
          <a:xfrm>
            <a:off x="5839358" y="2203703"/>
            <a:ext cx="348752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TEST</a:t>
            </a:r>
          </a:p>
        </p:txBody>
      </p:sp>
      <p:sp>
        <p:nvSpPr>
          <p:cNvPr id="12" name="TextBox 11"/>
          <p:cNvSpPr txBox="1"/>
          <p:nvPr/>
        </p:nvSpPr>
        <p:spPr>
          <a:xfrm>
            <a:off x="9601200"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STATUS</a:t>
            </a:r>
          </a:p>
        </p:txBody>
      </p:sp>
      <p:sp>
        <p:nvSpPr>
          <p:cNvPr id="13" name="Rectangle 12"/>
          <p:cNvSpPr/>
          <p:nvPr/>
        </p:nvSpPr>
        <p:spPr>
          <a:xfrm>
            <a:off x="548640" y="2560320"/>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2560320"/>
            <a:ext cx="2713024"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Analyst → Drive</a:t>
            </a:r>
          </a:p>
        </p:txBody>
      </p:sp>
      <p:sp>
        <p:nvSpPr>
          <p:cNvPr id="15" name="TextBox 14"/>
          <p:cNvSpPr txBox="1"/>
          <p:nvPr/>
        </p:nvSpPr>
        <p:spPr>
          <a:xfrm>
            <a:off x="3737152" y="2560320"/>
            <a:ext cx="1827885"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MCP · read</a:t>
            </a:r>
          </a:p>
        </p:txBody>
      </p:sp>
      <p:sp>
        <p:nvSpPr>
          <p:cNvPr id="16" name="TextBox 15"/>
          <p:cNvSpPr txBox="1"/>
          <p:nvPr/>
        </p:nvSpPr>
        <p:spPr>
          <a:xfrm>
            <a:off x="5839358" y="2560320"/>
            <a:ext cx="3487521"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Reads firm-metrics.csv</a:t>
            </a:r>
          </a:p>
        </p:txBody>
      </p:sp>
      <p:sp>
        <p:nvSpPr>
          <p:cNvPr id="17" name="TextBox 16"/>
          <p:cNvSpPr txBox="1"/>
          <p:nvPr/>
        </p:nvSpPr>
        <p:spPr>
          <a:xfrm>
            <a:off x="9601200" y="2560320"/>
            <a:ext cx="193852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Compatible</a:t>
            </a:r>
          </a:p>
        </p:txBody>
      </p:sp>
      <p:sp>
        <p:nvSpPr>
          <p:cNvPr id="18" name="TextBox 17"/>
          <p:cNvSpPr txBox="1"/>
          <p:nvPr/>
        </p:nvSpPr>
        <p:spPr>
          <a:xfrm>
            <a:off x="749808" y="3189427"/>
            <a:ext cx="2713024"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Creator → Gmail</a:t>
            </a:r>
          </a:p>
        </p:txBody>
      </p:sp>
      <p:sp>
        <p:nvSpPr>
          <p:cNvPr id="19" name="TextBox 18"/>
          <p:cNvSpPr txBox="1"/>
          <p:nvPr/>
        </p:nvSpPr>
        <p:spPr>
          <a:xfrm>
            <a:off x="3737152" y="3189427"/>
            <a:ext cx="1827885"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MCP · drafts</a:t>
            </a:r>
          </a:p>
        </p:txBody>
      </p:sp>
      <p:sp>
        <p:nvSpPr>
          <p:cNvPr id="20" name="TextBox 19"/>
          <p:cNvSpPr txBox="1"/>
          <p:nvPr/>
        </p:nvSpPr>
        <p:spPr>
          <a:xfrm>
            <a:off x="5839358" y="3189427"/>
            <a:ext cx="3487521"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Leaves a draft, sends nothing</a:t>
            </a:r>
          </a:p>
        </p:txBody>
      </p:sp>
      <p:sp>
        <p:nvSpPr>
          <p:cNvPr id="21" name="TextBox 20"/>
          <p:cNvSpPr txBox="1"/>
          <p:nvPr/>
        </p:nvSpPr>
        <p:spPr>
          <a:xfrm>
            <a:off x="9601200" y="3189427"/>
            <a:ext cx="193852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Compatible</a:t>
            </a:r>
          </a:p>
        </p:txBody>
      </p:sp>
      <p:sp>
        <p:nvSpPr>
          <p:cNvPr id="22" name="Rectangle 21"/>
          <p:cNvSpPr/>
          <p:nvPr/>
        </p:nvSpPr>
        <p:spPr>
          <a:xfrm>
            <a:off x="548640" y="3818534"/>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3818534"/>
            <a:ext cx="2713024"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Strategist → Firecrawl</a:t>
            </a:r>
          </a:p>
        </p:txBody>
      </p:sp>
      <p:sp>
        <p:nvSpPr>
          <p:cNvPr id="24" name="TextBox 23"/>
          <p:cNvSpPr txBox="1"/>
          <p:nvPr/>
        </p:nvSpPr>
        <p:spPr>
          <a:xfrm>
            <a:off x="3737152" y="3818534"/>
            <a:ext cx="1827885"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MCP · search</a:t>
            </a:r>
          </a:p>
        </p:txBody>
      </p:sp>
      <p:sp>
        <p:nvSpPr>
          <p:cNvPr id="25" name="TextBox 24"/>
          <p:cNvSpPr txBox="1"/>
          <p:nvPr/>
        </p:nvSpPr>
        <p:spPr>
          <a:xfrm>
            <a:off x="5839358" y="3818534"/>
            <a:ext cx="3487521"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Cites one 2026 news item</a:t>
            </a:r>
          </a:p>
        </p:txBody>
      </p:sp>
      <p:sp>
        <p:nvSpPr>
          <p:cNvPr id="26" name="TextBox 25"/>
          <p:cNvSpPr txBox="1"/>
          <p:nvPr/>
        </p:nvSpPr>
        <p:spPr>
          <a:xfrm>
            <a:off x="9601200" y="3818534"/>
            <a:ext cx="193852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Compatible</a:t>
            </a:r>
          </a:p>
        </p:txBody>
      </p:sp>
      <p:sp>
        <p:nvSpPr>
          <p:cNvPr id="27" name="TextBox 26"/>
          <p:cNvSpPr txBox="1"/>
          <p:nvPr/>
        </p:nvSpPr>
        <p:spPr>
          <a:xfrm>
            <a:off x="749808" y="4447641"/>
            <a:ext cx="2713024"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Designer → Gmail</a:t>
            </a:r>
          </a:p>
        </p:txBody>
      </p:sp>
      <p:sp>
        <p:nvSpPr>
          <p:cNvPr id="28" name="TextBox 27"/>
          <p:cNvSpPr txBox="1"/>
          <p:nvPr/>
        </p:nvSpPr>
        <p:spPr>
          <a:xfrm>
            <a:off x="3737152" y="4447641"/>
            <a:ext cx="1827885"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Not needed</a:t>
            </a:r>
          </a:p>
        </p:txBody>
      </p:sp>
      <p:sp>
        <p:nvSpPr>
          <p:cNvPr id="29" name="TextBox 28"/>
          <p:cNvSpPr txBox="1"/>
          <p:nvPr/>
        </p:nvSpPr>
        <p:spPr>
          <a:xfrm>
            <a:off x="5839358" y="4447641"/>
            <a:ext cx="3487521"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Removed from its tools line</a:t>
            </a:r>
          </a:p>
        </p:txBody>
      </p:sp>
      <p:sp>
        <p:nvSpPr>
          <p:cNvPr id="30" name="TextBox 29"/>
          <p:cNvSpPr txBox="1"/>
          <p:nvPr/>
        </p:nvSpPr>
        <p:spPr>
          <a:xfrm>
            <a:off x="9601200" y="4447641"/>
            <a:ext cx="193852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Blocked</a:t>
            </a:r>
          </a:p>
        </p:txBody>
      </p:sp>
      <p:sp>
        <p:nvSpPr>
          <p:cNvPr id="31" name="Rectangle 30"/>
          <p:cNvSpPr/>
          <p:nvPr/>
        </p:nvSpPr>
        <p:spPr>
          <a:xfrm>
            <a:off x="548640" y="5076748"/>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5076748"/>
            <a:ext cx="2713024"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Lead → LinkedIn</a:t>
            </a:r>
          </a:p>
        </p:txBody>
      </p:sp>
      <p:sp>
        <p:nvSpPr>
          <p:cNvPr id="33" name="TextBox 32"/>
          <p:cNvSpPr txBox="1"/>
          <p:nvPr/>
        </p:nvSpPr>
        <p:spPr>
          <a:xfrm>
            <a:off x="3737152" y="5076748"/>
            <a:ext cx="1827885"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HTTPS API</a:t>
            </a:r>
          </a:p>
        </p:txBody>
      </p:sp>
      <p:sp>
        <p:nvSpPr>
          <p:cNvPr id="34" name="TextBox 33"/>
          <p:cNvSpPr txBox="1"/>
          <p:nvPr/>
        </p:nvSpPr>
        <p:spPr>
          <a:xfrm>
            <a:off x="5839358" y="5076748"/>
            <a:ext cx="3487521"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Dry run only; no token yet</a:t>
            </a:r>
          </a:p>
        </p:txBody>
      </p:sp>
      <p:sp>
        <p:nvSpPr>
          <p:cNvPr id="35" name="TextBox 34"/>
          <p:cNvSpPr txBox="1"/>
          <p:nvPr/>
        </p:nvSpPr>
        <p:spPr>
          <a:xfrm>
            <a:off x="9601200" y="5076748"/>
            <a:ext cx="1938528"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Conditional</a:t>
            </a:r>
          </a:p>
        </p:txBody>
      </p:sp>
      <p:sp>
        <p:nvSpPr>
          <p:cNvPr id="36" name="Rounded Rectangle 3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Compatible, Conditional (works with a condition) or Blocked (on purpose, or until fixed).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and Check Compatibility</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57</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04</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analyst cannot read the data, the designer has no design tool and the creator cannot draft an email. Connect each agent to what its job needs — and nothing more.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every specialist tested on its own connector, with its limits written into its instructions, and a compatibility matrix for the whole team</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desktop app (Customize → Connectors), Claude Code</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Customize → Connectors: Google Drive · Gmail (drafts) · Google Calendar · Firecrawl · /plugin: Marketing (by Anthropic) · built-in browser · least privilege per agent · a compatibility matrix</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and Check Compatibility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58</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4".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Add the connectors  </a:t>
            </a:r>
            <a:r>
              <a:rPr sz="1300">
                <a:solidFill>
                  <a:srgbClr val="6B6862"/>
                </a:solidFill>
                <a:latin typeface="Calibri"/>
              </a:rPr>
              <a:t>Desktop app: Customize → Connectors → Discover. Add (+) Google Drive, Gmail, Google Calendar and Firecrawl; sign in to each.</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Add the plugin  </a:t>
            </a:r>
            <a:r>
              <a:rPr sz="1300">
                <a:solidFill>
                  <a:srgbClr val="6B6862"/>
                </a:solidFill>
                <a:latin typeface="Calibri"/>
              </a:rPr>
              <a:t>In the chat type /plugin marketplace add anthropics/knowledge-work-plugins, then /plugin install marketing@knowledge-work-plugins.</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a:t>
            </a:r>
            <a:r>
              <a:rPr sz="1300">
                <a:solidFill>
                  <a:srgbClr val="6B6862"/>
                </a:solidFill>
                <a:latin typeface="Calibri"/>
              </a:rPr>
              <a:t>Start a new session. Type /mcp: the four connectors are listed. Type /plugin: Marketing is installed.</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Put the data on Drive  </a:t>
            </a:r>
            <a:r>
              <a:rPr sz="1300">
                <a:solidFill>
                  <a:srgbClr val="6B6862"/>
                </a:solidFill>
                <a:latin typeface="Calibri"/>
              </a:rPr>
              <a:t>Ask: "Create a Google Drive folder named Horizon Studio and upload every file in data/ to it as plain files — do not convert them."</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Give each agent its connectors  </a:t>
            </a:r>
            <a:r>
              <a:rPr sz="1300">
                <a:solidFill>
                  <a:srgbClr val="6B6862"/>
                </a:solidFill>
                <a:latin typeface="Calibri"/>
              </a:rPr>
              <a:t>Copy and paste Prompt A, then start a new session so the agents reload.</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each agent  </a:t>
            </a:r>
            <a:r>
              <a:rPr sz="1300">
                <a:solidFill>
                  <a:srgbClr val="6B6862"/>
                </a:solidFill>
                <a:latin typeface="Calibri"/>
              </a:rPr>
              <a:t>After the new session opens, copy and paste Prompt B — one small job per agent, each on its own connector.</a:t>
            </a:r>
          </a:p>
        </p:txBody>
      </p:sp>
      <p:sp>
        <p:nvSpPr>
          <p:cNvPr id="22" name="Oval 21"/>
          <p:cNvSpPr/>
          <p:nvPr/>
        </p:nvSpPr>
        <p:spPr>
          <a:xfrm>
            <a:off x="621792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8</a:t>
            </a:r>
          </a:p>
        </p:txBody>
      </p:sp>
      <p:sp>
        <p:nvSpPr>
          <p:cNvPr id="23" name="TextBox 22"/>
          <p:cNvSpPr txBox="1"/>
          <p:nvPr/>
        </p:nvSpPr>
        <p:spPr>
          <a:xfrm>
            <a:off x="674827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Assess compatibility  </a:t>
            </a:r>
            <a:r>
              <a:rPr sz="1300">
                <a:solidFill>
                  <a:srgbClr val="6B6862"/>
                </a:solidFill>
                <a:latin typeface="Calibri"/>
              </a:rPr>
              <a:t>After the five results are reported, copy and paste Prompt C. Every row is Compatible, Conditional or Blocked, with a fix.</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and Check Compatibility</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59</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give each agent its connectors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Read data/connectors-setup.md. For each subagent in .claude/agents/, replace its tools line with the one given there, add the disallowedTools line where one is given, and update its "Connectors" section: what it may use, and that Gmail is drafts only. Change nothing else.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and Check Compatibility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60</a:t>
            </a:r>
          </a:p>
        </p:txBody>
      </p:sp>
      <p:sp>
        <p:nvSpPr>
          <p:cNvPr id="7" name="Rounded Rectangle 6"/>
          <p:cNvSpPr/>
          <p:nvPr/>
        </p:nvSpPr>
        <p:spPr>
          <a:xfrm>
            <a:off x="548640" y="1783080"/>
            <a:ext cx="11064240" cy="429981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test each agent</a:t>
            </a:r>
          </a:p>
        </p:txBody>
      </p:sp>
      <p:sp>
        <p:nvSpPr>
          <p:cNvPr id="9" name="TextBox 8"/>
          <p:cNvSpPr txBox="1"/>
          <p:nvPr/>
        </p:nvSpPr>
        <p:spPr>
          <a:xfrm>
            <a:off x="822960" y="2313432"/>
            <a:ext cx="10515600" cy="355000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First tell me which connectors and plugins you can use. Then run these five checks, each by its own subagent:</a:t>
            </a:r>
          </a:p>
          <a:p>
            <a:pPr>
              <a:lnSpc>
                <a:spcPct val="110000"/>
              </a:lnSpc>
              <a:defRPr sz="1700" b="0">
                <a:solidFill>
                  <a:srgbClr val="21201C"/>
                </a:solidFill>
                <a:latin typeface="Calibri"/>
              </a:defRPr>
            </a:pPr>
            <a:r>
              <a:t>1. growth-strategist: Firecrawl — search for one 2026 news item about financial planning in Singapore, scrape it and cite it.</a:t>
            </a:r>
          </a:p>
          <a:p>
            <a:pPr>
              <a:lnSpc>
                <a:spcPct val="110000"/>
              </a:lnSpc>
              <a:defRPr sz="1700" b="0">
                <a:solidFill>
                  <a:srgbClr val="21201C"/>
                </a:solidFill>
                <a:latin typeface="Calibri"/>
              </a:defRPr>
            </a:pPr>
            <a:r>
              <a:t>2. growth-analyst: Google Drive — read firm-metrics.csv from Horizon Studio; report average monthly enquiries.</a:t>
            </a:r>
          </a:p>
          <a:p>
            <a:pPr>
              <a:lnSpc>
                <a:spcPct val="110000"/>
              </a:lnSpc>
              <a:defRPr sz="1700" b="0">
                <a:solidFill>
                  <a:srgbClr val="21201C"/>
                </a:solidFill>
                <a:latin typeface="Calibri"/>
              </a:defRPr>
            </a:pPr>
            <a:r>
              <a:t>3. content-creator: Gmail — a DRAFT to me with the subject "Connector test". Do not send.</a:t>
            </a:r>
          </a:p>
          <a:p>
            <a:pPr>
              <a:lnSpc>
                <a:spcPct val="110000"/>
              </a:lnSpc>
              <a:defRPr sz="1700" b="0">
                <a:solidFill>
                  <a:srgbClr val="21201C"/>
                </a:solidFill>
                <a:latin typeface="Calibri"/>
              </a:defRPr>
            </a:pPr>
            <a:r>
              <a:t>4. creative-designer: render a 1080x1080 test card in Horizon colours and save it in content/test/.</a:t>
            </a:r>
          </a:p>
          <a:p>
            <a:pPr>
              <a:lnSpc>
                <a:spcPct val="110000"/>
              </a:lnSpc>
              <a:defRPr sz="1700" b="0">
                <a:solidFill>
                  <a:srgbClr val="21201C"/>
                </a:solidFill>
                <a:latin typeface="Calibri"/>
              </a:defRPr>
            </a:pPr>
            <a:r>
              <a:t>5. website-designer: built-in browser — open our own copy of the site (web/site/index.html) at 375px wide and report any problem. Report each result in one line. If a check fails, say which tool was missing.</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and Check Compatibility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61</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the compatibility matrix</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our integration checker. Make a compatibility matrix for the team: one row for each agent and each system it connects to (Google Drive, Gmail, Google Calendar, Firecrawl, the built-in browser, our website). For each row give the interface (connector, file or browser), what the agent's job needs, the access it has now, the result of its test in Prompt B, and a status: Compatible, Conditional or Blocked — with the fix for anything not Compatible. Flag any agent with more access than its job needs. Save it as reports/compatibility-matrix.md and publish it as an artifact in plain English, coloured by status.</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Least privilege is a design decision, not a setting. Ask of each connector: does this agent's job need it?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04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Connect the Tools and Check Compatibility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62</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/mcp lists Google Drive, Gmail, Google Calendar and Firecrawl; /plugin shows Marketing.</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Five checks ran, each by its own agent.</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Gmail test is a draft in your inbox — nothing was sent.</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analyst read the CSV from Drive, not from the local folder.</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agent's tools line names only the connectors its job needs.</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compatibility matrix gives every row a status, and a fix for anything not Compatible.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CAMPAIGN 1</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the Team Runs a Campaign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Campaign 1, "Know Your Number": research in parallel, a person chooses, the team makes it concrete.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63</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 briefs</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campaign objective; assigns the work.</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Research</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Strategist (competitors) and Analyst (funnel) in parallel.</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Ideas</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Nine ideas for three audiences, scored with the rubric.</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 choose</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human concept checkpoint.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Storyboard</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Strategist storyboards; Creator writes three variants; Lead checks.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STORYBOARD</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Five-Beat Storyboard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 channel tells the same story with the same claims.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64</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Hook</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viewer's own question: "Do I have enough to retire?"</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Tension</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What goes wrong when nobody knows their number.</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Proof</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verifiable fact, e.g. the 2026 Full Retirement Sum.</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Resolution</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How Horizon helps — a 30-minute chat, a one-page plan.</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Action</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next step: the checklist or a free chat.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REGULATED CONTENT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Financial Content Is Regulated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Lead checks every piece against twelve rules (compliance-checklist.md).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65</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326623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RULE</a:t>
            </a:r>
          </a:p>
        </p:txBody>
      </p:sp>
      <p:sp>
        <p:nvSpPr>
          <p:cNvPr id="10" name="TextBox 9"/>
          <p:cNvSpPr txBox="1"/>
          <p:nvPr/>
        </p:nvSpPr>
        <p:spPr>
          <a:xfrm>
            <a:off x="4290364" y="2203703"/>
            <a:ext cx="5036515"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WHAT IT MEANS</a:t>
            </a:r>
          </a:p>
        </p:txBody>
      </p:sp>
      <p:sp>
        <p:nvSpPr>
          <p:cNvPr id="11" name="TextBox 10"/>
          <p:cNvSpPr txBox="1"/>
          <p:nvPr/>
        </p:nvSpPr>
        <p:spPr>
          <a:xfrm>
            <a:off x="9601200"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IF BROKEN</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C1 · Not advice</a:t>
            </a:r>
          </a:p>
        </p:txBody>
      </p:sp>
      <p:sp>
        <p:nvSpPr>
          <p:cNvPr id="14" name="TextBox 13"/>
          <p:cNvSpPr txBox="1"/>
          <p:nvPr/>
        </p:nvSpPr>
        <p:spPr>
          <a:xfrm>
            <a:off x="4290364" y="2560320"/>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General information only — say so</a:t>
            </a:r>
          </a:p>
        </p:txBody>
      </p:sp>
      <p:sp>
        <p:nvSpPr>
          <p:cNvPr id="15" name="TextBox 14"/>
          <p:cNvSpPr txBox="1"/>
          <p:nvPr/>
        </p:nvSpPr>
        <p:spPr>
          <a:xfrm>
            <a:off x="9601200" y="2560320"/>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16" name="TextBox 15"/>
          <p:cNvSpPr txBox="1"/>
          <p:nvPr/>
        </p:nvSpPr>
        <p:spPr>
          <a:xfrm>
            <a:off x="749808" y="3084575"/>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C2 · No promises</a:t>
            </a:r>
          </a:p>
        </p:txBody>
      </p:sp>
      <p:sp>
        <p:nvSpPr>
          <p:cNvPr id="17" name="TextBox 16"/>
          <p:cNvSpPr txBox="1"/>
          <p:nvPr/>
        </p:nvSpPr>
        <p:spPr>
          <a:xfrm>
            <a:off x="4290364" y="3084575"/>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guaranteed or "risk-free" returns</a:t>
            </a:r>
          </a:p>
        </p:txBody>
      </p:sp>
      <p:sp>
        <p:nvSpPr>
          <p:cNvPr id="18" name="TextBox 17"/>
          <p:cNvSpPr txBox="1"/>
          <p:nvPr/>
        </p:nvSpPr>
        <p:spPr>
          <a:xfrm>
            <a:off x="9601200" y="3084575"/>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C3 · Label illustrations</a:t>
            </a:r>
          </a:p>
        </p:txBody>
      </p:sp>
      <p:sp>
        <p:nvSpPr>
          <p:cNvPr id="21" name="TextBox 20"/>
          <p:cNvSpPr txBox="1"/>
          <p:nvPr/>
        </p:nvSpPr>
        <p:spPr>
          <a:xfrm>
            <a:off x="4290364" y="3608831"/>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Assumptions shown; not guaranteed</a:t>
            </a:r>
          </a:p>
        </p:txBody>
      </p:sp>
      <p:sp>
        <p:nvSpPr>
          <p:cNvPr id="22" name="TextBox 21"/>
          <p:cNvSpPr txBox="1"/>
          <p:nvPr/>
        </p:nvSpPr>
        <p:spPr>
          <a:xfrm>
            <a:off x="9601200" y="3608831"/>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23" name="TextBox 22"/>
          <p:cNvSpPr txBox="1"/>
          <p:nvPr/>
        </p:nvSpPr>
        <p:spPr>
          <a:xfrm>
            <a:off x="749808" y="4133087"/>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C5 · No performance</a:t>
            </a:r>
          </a:p>
        </p:txBody>
      </p:sp>
      <p:sp>
        <p:nvSpPr>
          <p:cNvPr id="24" name="TextBox 23"/>
          <p:cNvSpPr txBox="1"/>
          <p:nvPr/>
        </p:nvSpPr>
        <p:spPr>
          <a:xfrm>
            <a:off x="4290364" y="4133087"/>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Never client returns or "average" returns</a:t>
            </a:r>
          </a:p>
        </p:txBody>
      </p:sp>
      <p:sp>
        <p:nvSpPr>
          <p:cNvPr id="25" name="TextBox 24"/>
          <p:cNvSpPr txBox="1"/>
          <p:nvPr/>
        </p:nvSpPr>
        <p:spPr>
          <a:xfrm>
            <a:off x="9601200" y="4133087"/>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C9 · Consent</a:t>
            </a:r>
          </a:p>
        </p:txBody>
      </p:sp>
      <p:sp>
        <p:nvSpPr>
          <p:cNvPr id="28" name="TextBox 27"/>
          <p:cNvSpPr txBox="1"/>
          <p:nvPr/>
        </p:nvSpPr>
        <p:spPr>
          <a:xfrm>
            <a:off x="4290364" y="4657344"/>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Marketing only to people who opted in</a:t>
            </a:r>
          </a:p>
        </p:txBody>
      </p:sp>
      <p:sp>
        <p:nvSpPr>
          <p:cNvPr id="29" name="TextBox 28"/>
          <p:cNvSpPr txBox="1"/>
          <p:nvPr/>
        </p:nvSpPr>
        <p:spPr>
          <a:xfrm>
            <a:off x="9601200" y="4657344"/>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30" name="TextBox 29"/>
          <p:cNvSpPr txBox="1"/>
          <p:nvPr/>
        </p:nvSpPr>
        <p:spPr>
          <a:xfrm>
            <a:off x="749808" y="5181599"/>
            <a:ext cx="326623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C11 · Facts sheet</a:t>
            </a:r>
          </a:p>
        </p:txBody>
      </p:sp>
      <p:sp>
        <p:nvSpPr>
          <p:cNvPr id="31" name="TextBox 30"/>
          <p:cNvSpPr txBox="1"/>
          <p:nvPr/>
        </p:nvSpPr>
        <p:spPr>
          <a:xfrm>
            <a:off x="4290364" y="5181599"/>
            <a:ext cx="5036515"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figure from facts-2026.md</a:t>
            </a:r>
          </a:p>
        </p:txBody>
      </p:sp>
      <p:sp>
        <p:nvSpPr>
          <p:cNvPr id="32" name="TextBox 31"/>
          <p:cNvSpPr txBox="1"/>
          <p:nvPr/>
        </p:nvSpPr>
        <p:spPr>
          <a:xfrm>
            <a:off x="9601200" y="5181599"/>
            <a:ext cx="1938528"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Critical</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MAS Guidelines on Standards of Conduct for Digital Advertising Activities apply from 25 March 2026.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66</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05</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team's first campaign: 'Know Your Number', November to January. Rachel wants research, ideas for three audiences, her choice, and a storyboard every channel follows.</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competitor research, the funnel, nine scored ideas, the campaign brief and a five-beat storyboard with three channel variants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(subagents in parallel)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Lead delegates · strategist and analyst in parallel · nine scored ideas · a human concept checkpoint · a five-beat storyboard</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67</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5".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Brief the Lead  </a:t>
            </a:r>
            <a:r>
              <a:rPr sz="1300">
                <a:solidFill>
                  <a:srgbClr val="6B6862"/>
                </a:solidFill>
                <a:latin typeface="Calibri"/>
              </a:rPr>
              <a:t>The briefs are already in data/. You are the client; your session is the Marketing Team Lead.</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Research in parallel  </a:t>
            </a:r>
            <a:r>
              <a:rPr sz="1300">
                <a:solidFill>
                  <a:srgbClr val="6B6862"/>
                </a:solidFill>
                <a:latin typeface="Calibri"/>
              </a:rPr>
              <a:t>Copy and paste Prompt A. Watch the strategist and the analyst run at the same time.</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Read the ideas  </a:t>
            </a:r>
            <a:r>
              <a:rPr sz="1300">
                <a:solidFill>
                  <a:srgbClr val="6B6862"/>
                </a:solidFill>
                <a:latin typeface="Calibri"/>
              </a:rPr>
              <a:t>Nine ideas, scored with the rubric — the top five open as an artifact beside the chat. The Lead stops for you.</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Choose  </a:t>
            </a:r>
            <a:r>
              <a:rPr sz="1300">
                <a:solidFill>
                  <a:srgbClr val="6B6862"/>
                </a:solidFill>
                <a:latin typeface="Calibri"/>
              </a:rPr>
              <a:t>Pick one idea in the artifact's Ideas tab and note its number and why — the human concept checkpoint.</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Storyboard  </a:t>
            </a:r>
            <a:r>
              <a:rPr sz="1300">
                <a:solidFill>
                  <a:srgbClr val="6B6862"/>
                </a:solidFill>
                <a:latin typeface="Calibri"/>
              </a:rPr>
              <a:t>After you have chosen, copy and paste Prompt B in the chat, replacing &lt;number&gt; and &lt;one line&gt; with your choice.</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Decide as Rachel  </a:t>
            </a:r>
            <a:r>
              <a:rPr sz="1300">
                <a:solidFill>
                  <a:srgbClr val="6B6862"/>
                </a:solidFill>
                <a:latin typeface="Calibri"/>
              </a:rPr>
              <a:t>After you have read the issues, copy and paste Prompt C. You confirm what is true about Horizon; the team removes or fixes the rest.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68</a:t>
            </a:r>
          </a:p>
        </p:txBody>
      </p:sp>
      <p:sp>
        <p:nvSpPr>
          <p:cNvPr id="7" name="Rounded Rectangle 6"/>
          <p:cNvSpPr/>
          <p:nvPr/>
        </p:nvSpPr>
        <p:spPr>
          <a:xfrm>
            <a:off x="548640" y="1783080"/>
            <a:ext cx="11064240" cy="4010075"/>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research and ideas</a:t>
            </a:r>
          </a:p>
        </p:txBody>
      </p:sp>
      <p:sp>
        <p:nvSpPr>
          <p:cNvPr id="9" name="TextBox 8"/>
          <p:cNvSpPr txBox="1"/>
          <p:nvPr/>
        </p:nvSpPr>
        <p:spPr>
          <a:xfrm>
            <a:off x="822960" y="2313432"/>
            <a:ext cx="10515600" cy="3260267"/>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the Marketing Team Lead for the campaign in data/campaign-objective.md. Use subagents, in parallel:</a:t>
            </a:r>
          </a:p>
          <a:p>
            <a:pPr>
              <a:lnSpc>
                <a:spcPct val="110000"/>
              </a:lnSpc>
              <a:defRPr sz="1700" b="0">
                <a:solidFill>
                  <a:srgbClr val="21201C"/>
                </a:solidFill>
                <a:latin typeface="Calibri"/>
              </a:defRPr>
            </a:pPr>
            <a:r>
              <a:t>- growth-strategist: competitor-scan → save research/competitive-analysis.md.</a:t>
            </a:r>
          </a:p>
          <a:p>
            <a:pPr>
              <a:lnSpc>
                <a:spcPct val="110000"/>
              </a:lnSpc>
              <a:defRPr sz="1700" b="0">
                <a:solidFill>
                  <a:srgbClr val="21201C"/>
                </a:solidFill>
                <a:latin typeface="Calibri"/>
              </a:defRPr>
            </a:pPr>
            <a:r>
              <a:t>- growth-analyst: the funnel in data/firm-metrics.csv — what 40 chats a month needs → save research/funnel.md. When both finish, the growth-strategist proposes three ideas each for young professionals, mid-career families and pre-retirees, scored with data/idea-rubric.md and tagged with a funnel stage (content-marketing) → strategy/ideas.md. Publish the top five as an artifact — one card per idea with its score, persona and funnel stage — and a box at the top that tells me what to do next. Then stop. I will choose. Write for a business owner, in plain English: no codes, IDs, file names or line numbers; start with what it means and what I do next. Save a Word copy (.docx) of each result.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69</a:t>
            </a:r>
          </a:p>
        </p:txBody>
      </p:sp>
      <p:sp>
        <p:nvSpPr>
          <p:cNvPr id="7" name="Rounded Rectangle 6"/>
          <p:cNvSpPr/>
          <p:nvPr/>
        </p:nvSpPr>
        <p:spPr>
          <a:xfrm>
            <a:off x="548640" y="1783080"/>
            <a:ext cx="11064240" cy="3720337"/>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storyboard</a:t>
            </a:r>
          </a:p>
        </p:txBody>
      </p:sp>
      <p:sp>
        <p:nvSpPr>
          <p:cNvPr id="9" name="TextBox 8"/>
          <p:cNvSpPr txBox="1"/>
          <p:nvPr/>
        </p:nvSpPr>
        <p:spPr>
          <a:xfrm>
            <a:off x="822960" y="2313432"/>
            <a:ext cx="10515600" cy="2970530"/>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 choose idea &lt;number&gt;, because &lt;one line&gt;. Use subagents:</a:t>
            </a:r>
          </a:p>
          <a:p>
            <a:pPr>
              <a:lnSpc>
                <a:spcPct val="110000"/>
              </a:lnSpc>
              <a:defRPr sz="1700" b="0">
                <a:solidFill>
                  <a:srgbClr val="21201C"/>
                </a:solidFill>
                <a:latin typeface="Calibri"/>
              </a:defRPr>
            </a:pPr>
            <a:r>
              <a:t>- growth-strategist: campaign-brief → strategy/campaign-brief.md, then a five-beat storyboard with data/storyboard-template.md → strategy/storyboard.md.</a:t>
            </a:r>
          </a:p>
          <a:p>
            <a:pPr>
              <a:lnSpc>
                <a:spcPct val="110000"/>
              </a:lnSpc>
              <a:defRPr sz="1700" b="0">
                <a:solidFill>
                  <a:srgbClr val="21201C"/>
                </a:solidFill>
                <a:latin typeface="Calibri"/>
              </a:defRPr>
            </a:pPr>
            <a:r>
              <a:t>- content-creator: three channel variants that keep the same claims — LinkedIn, Facebook, a 60-second video. Then run fact-check and fin-compliance yourself and show me the issues before anything is final. Publish the brief and the storyboard as an artifact with a tab for the brief (goal, audience, message, call to action); a tab for the five beats side by side, each with its claim and source, and the three variants below; and the issues in a table. Write for a business owner, in plain English: no codes, IDs, file names or line numbers; start with what it means and what I do next. Save a Word copy (.docx) of each result.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70</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decide on the issues</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 confirm "no obligation" and the free checklist — add them to the facts sheet (data/facts-2026.md). Delete any other claim that is not on the facts sheet. Fix all the Medium and Low issues, then show me the updated storyboard and publish it as an artifact.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Agents diverge; a person decides. The concept checkpoint is where the campaign becomes yours.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71</a:t>
            </a:r>
          </a:p>
        </p:txBody>
      </p:sp>
      <p:sp>
        <p:nvSpPr>
          <p:cNvPr id="7" name="Rounded Rectangle 6"/>
          <p:cNvSpPr/>
          <p:nvPr/>
        </p:nvSpPr>
        <p:spPr>
          <a:xfrm>
            <a:off x="548640" y="1783080"/>
            <a:ext cx="11064240" cy="34306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2680792"/>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After Prompt A: Explain this result in three sentences. Which idea would you pick,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Why does idea &lt;number&gt; score higher than idea &lt;number&gt;?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does the funnel say is our biggest problem?</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After Prompt B: Explain the issues in plain English. What do I need to decide?</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After Prompt C: What changed since the last version? Is anything still not ready for Rachel?</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05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1: Research to Storyboard, with Subagents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72</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strategist and the analyst ran in parallel.</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competitor analysis and the funnel are done, with sources.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Nine scored ideas, each with its author.</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chose the idea and recorded why.</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storyboard has five beats; every claim has a source.</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confirmed two claims; after Prompt C no High issue is left.</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1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Where You Are Now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team is integrated and has run its first campaign. Now every campaign tests the joins — and finds what breaks.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73</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694944"/>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Assessed and integrated  ·  Labs 1–4</a:t>
            </a:r>
          </a:p>
        </p:txBody>
      </p:sp>
      <p:sp>
        <p:nvSpPr>
          <p:cNvPr id="11" name="TextBox 10"/>
          <p:cNvSpPr txBox="1"/>
          <p:nvPr/>
        </p:nvSpPr>
        <p:spPr>
          <a:xfrm>
            <a:off x="786384" y="3145535"/>
            <a:ext cx="3066287" cy="241401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studio, your copy of the website, six agents with instructions, skills and connectors, and a compatibility matrix.</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694944"/>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First integrated run  ·  Lab 5</a:t>
            </a:r>
          </a:p>
        </p:txBody>
      </p:sp>
      <p:sp>
        <p:nvSpPr>
          <p:cNvPr id="15" name="TextBox 14"/>
          <p:cNvSpPr txBox="1"/>
          <p:nvPr/>
        </p:nvSpPr>
        <p:spPr>
          <a:xfrm>
            <a:off x="4547615" y="3145535"/>
            <a:ext cx="3066287" cy="241401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Research in parallel across Firecrawl and Drive, nine scored ideas, your choice, a storyboard.</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What is next</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Test each integration with real campaign work, read the signs of errors, troubleshoot. That is Topic 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2</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Testing Marketing Integrations and Troubleshooting Errors</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Integration tools, techniques and protocols</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Every campaign is an integration test</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Personas, cadence and a blog: test the data paths</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Social, newsletter, landing page and video: test the gate and the APIs</a:t>
            </a:r>
          </a:p>
        </p:txBody>
      </p:sp>
      <p:sp>
        <p:nvSpPr>
          <p:cNvPr id="13" name="Oval 12"/>
          <p:cNvSpPr/>
          <p:nvPr/>
        </p:nvSpPr>
        <p:spPr>
          <a:xfrm>
            <a:off x="603504" y="5678424"/>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5</a:t>
            </a:r>
          </a:p>
        </p:txBody>
      </p:sp>
      <p:sp>
        <p:nvSpPr>
          <p:cNvPr id="14" name="TextBox 13"/>
          <p:cNvSpPr txBox="1"/>
          <p:nvPr/>
        </p:nvSpPr>
        <p:spPr>
          <a:xfrm>
            <a:off x="1280160" y="5696712"/>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Signs of integration errors, and basic troubleshooting</a:t>
            </a:r>
          </a:p>
        </p:txBody>
      </p:sp>
      <p:sp>
        <p:nvSpPr>
          <p:cNvPr id="15" name="TextBox 1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6" name="TextBox 1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C141 · Claude AI for Digital Marketing</a:t>
            </a:r>
          </a:p>
        </p:txBody>
      </p:sp>
      <p:sp>
        <p:nvSpPr>
          <p:cNvPr id="17" name="TextBox 1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TOOLS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Integration Tools and Techniques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basic toolkit you already used in Labs 1–5 — and the techniques that keep an integration safe.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75</a:t>
            </a:r>
          </a:p>
        </p:txBody>
      </p:sp>
      <p:sp>
        <p:nvSpPr>
          <p:cNvPr id="8" name="Rounded Rectangle 7"/>
          <p:cNvSpPr/>
          <p:nvPr/>
        </p:nvSpPr>
        <p:spPr>
          <a:xfrm>
            <a:off x="548640"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Connect</a:t>
            </a:r>
          </a:p>
        </p:txBody>
      </p:sp>
      <p:sp>
        <p:nvSpPr>
          <p:cNvPr id="11" name="TextBox 10"/>
          <p:cNvSpPr txBox="1"/>
          <p:nvPr/>
        </p:nvSpPr>
        <p:spPr>
          <a:xfrm>
            <a:off x="786384"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Customize → Connectors and /plugin. /mcp lists what is connected; /status shows the account.</a:t>
            </a:r>
          </a:p>
        </p:txBody>
      </p:sp>
      <p:sp>
        <p:nvSpPr>
          <p:cNvPr id="12" name="Rounded Rectangle 11"/>
          <p:cNvSpPr/>
          <p:nvPr/>
        </p:nvSpPr>
        <p:spPr>
          <a:xfrm>
            <a:off x="4309872"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Limit</a:t>
            </a:r>
          </a:p>
        </p:txBody>
      </p:sp>
      <p:sp>
        <p:nvSpPr>
          <p:cNvPr id="15" name="TextBox 14"/>
          <p:cNvSpPr txBox="1"/>
          <p:nvPr/>
        </p:nvSpPr>
        <p:spPr>
          <a:xfrm>
            <a:off x="4547615"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Each agent's tools line and disallowedTools — least privilege, written down.</a:t>
            </a:r>
          </a:p>
        </p:txBody>
      </p:sp>
      <p:sp>
        <p:nvSpPr>
          <p:cNvPr id="16" name="Rounded Rectangle 15"/>
          <p:cNvSpPr/>
          <p:nvPr/>
        </p:nvSpPr>
        <p:spPr>
          <a:xfrm>
            <a:off x="8071104"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Standardise</a:t>
            </a:r>
          </a:p>
        </p:txBody>
      </p:sp>
      <p:sp>
        <p:nvSpPr>
          <p:cNvPr id="19" name="TextBox 18"/>
          <p:cNvSpPr txBox="1"/>
          <p:nvPr/>
        </p:nvSpPr>
        <p:spPr>
          <a:xfrm>
            <a:off x="8308847"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Skills (SKILL.md): one procedure, applied the same way by every agent.</a:t>
            </a:r>
          </a:p>
        </p:txBody>
      </p:sp>
      <p:sp>
        <p:nvSpPr>
          <p:cNvPr id="20" name="Rounded Rectangle 19"/>
          <p:cNvSpPr/>
          <p:nvPr/>
        </p:nvSpPr>
        <p:spPr>
          <a:xfrm>
            <a:off x="548640"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Guard</a:t>
            </a:r>
          </a:p>
        </p:txBody>
      </p:sp>
      <p:sp>
        <p:nvSpPr>
          <p:cNvPr id="23" name="TextBox 22"/>
          <p:cNvSpPr txBox="1"/>
          <p:nvPr/>
        </p:nvSpPr>
        <p:spPr>
          <a:xfrm>
            <a:off x="786384"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Hooks in .claude/settings.json run before every tool call — the approval gate.</a:t>
            </a:r>
          </a:p>
        </p:txBody>
      </p:sp>
      <p:sp>
        <p:nvSpPr>
          <p:cNvPr id="24" name="Rounded Rectangle 23"/>
          <p:cNvSpPr/>
          <p:nvPr/>
        </p:nvSpPr>
        <p:spPr>
          <a:xfrm>
            <a:off x="4309872"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09872"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7615"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Rehearse</a:t>
            </a:r>
          </a:p>
        </p:txBody>
      </p:sp>
      <p:sp>
        <p:nvSpPr>
          <p:cNvPr id="27" name="TextBox 26"/>
          <p:cNvSpPr txBox="1"/>
          <p:nvPr/>
        </p:nvSpPr>
        <p:spPr>
          <a:xfrm>
            <a:off x="4547615"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Dry runs: publish.mjs prints the exact request before anything is sent.</a:t>
            </a:r>
          </a:p>
        </p:txBody>
      </p:sp>
      <p:sp>
        <p:nvSpPr>
          <p:cNvPr id="28" name="Rounded Rectangle 27"/>
          <p:cNvSpPr/>
          <p:nvPr/>
        </p:nvSpPr>
        <p:spPr>
          <a:xfrm>
            <a:off x="8071104"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71104"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08847"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Schedule</a:t>
            </a:r>
          </a:p>
        </p:txBody>
      </p:sp>
      <p:sp>
        <p:nvSpPr>
          <p:cNvPr id="31" name="TextBox 30"/>
          <p:cNvSpPr txBox="1"/>
          <p:nvPr/>
        </p:nvSpPr>
        <p:spPr>
          <a:xfrm>
            <a:off x="8308847"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Routines run a skill on the clock and leave a draft for a person.</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TESTING</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Every Campaign Is an Integration Test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Each lab joins components and checks a known answer. If the answer is wrong, an interface is wrong.</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76</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832103"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a:t>
            </a:r>
          </a:p>
        </p:txBody>
      </p:sp>
      <p:sp>
        <p:nvSpPr>
          <p:cNvPr id="10" name="TextBox 9"/>
          <p:cNvSpPr txBox="1"/>
          <p:nvPr/>
        </p:nvSpPr>
        <p:spPr>
          <a:xfrm>
            <a:off x="1856232" y="2203703"/>
            <a:ext cx="393009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COMPONENTS JOINED</a:t>
            </a:r>
          </a:p>
        </p:txBody>
      </p:sp>
      <p:sp>
        <p:nvSpPr>
          <p:cNvPr id="11" name="TextBox 10"/>
          <p:cNvSpPr txBox="1"/>
          <p:nvPr/>
        </p:nvSpPr>
        <p:spPr>
          <a:xfrm>
            <a:off x="6060643" y="2203703"/>
            <a:ext cx="5479084"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PASS WHEN</a:t>
            </a:r>
          </a:p>
        </p:txBody>
      </p:sp>
      <p:sp>
        <p:nvSpPr>
          <p:cNvPr id="12" name="Rectangle 11"/>
          <p:cNvSpPr/>
          <p:nvPr/>
        </p:nvSpPr>
        <p:spPr>
          <a:xfrm>
            <a:off x="548640" y="2560320"/>
            <a:ext cx="11064240" cy="4493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832103"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6</a:t>
            </a:r>
          </a:p>
        </p:txBody>
      </p:sp>
      <p:sp>
        <p:nvSpPr>
          <p:cNvPr id="14" name="TextBox 13"/>
          <p:cNvSpPr txBox="1"/>
          <p:nvPr/>
        </p:nvSpPr>
        <p:spPr>
          <a:xfrm>
            <a:off x="1856232" y="2560320"/>
            <a:ext cx="3930091"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Survey CSVs → Growth Analyst</a:t>
            </a:r>
          </a:p>
        </p:txBody>
      </p:sp>
      <p:sp>
        <p:nvSpPr>
          <p:cNvPr id="15" name="TextBox 14"/>
          <p:cNvSpPr txBox="1"/>
          <p:nvPr/>
        </p:nvSpPr>
        <p:spPr>
          <a:xfrm>
            <a:off x="6060643" y="2560320"/>
            <a:ext cx="5479084"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Counts are made with code; every claim has an n and a file</a:t>
            </a:r>
          </a:p>
        </p:txBody>
      </p:sp>
      <p:sp>
        <p:nvSpPr>
          <p:cNvPr id="16" name="TextBox 15"/>
          <p:cNvSpPr txBox="1"/>
          <p:nvPr/>
        </p:nvSpPr>
        <p:spPr>
          <a:xfrm>
            <a:off x="749808" y="3009682"/>
            <a:ext cx="832103"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7</a:t>
            </a:r>
          </a:p>
        </p:txBody>
      </p:sp>
      <p:sp>
        <p:nvSpPr>
          <p:cNvPr id="17" name="TextBox 16"/>
          <p:cNvSpPr txBox="1"/>
          <p:nvPr/>
        </p:nvSpPr>
        <p:spPr>
          <a:xfrm>
            <a:off x="1856232" y="3009682"/>
            <a:ext cx="3930091"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Benchmarks → Analyst → Strategist</a:t>
            </a:r>
          </a:p>
        </p:txBody>
      </p:sp>
      <p:sp>
        <p:nvSpPr>
          <p:cNvPr id="18" name="TextBox 17"/>
          <p:cNvSpPr txBox="1"/>
          <p:nvPr/>
        </p:nvSpPr>
        <p:spPr>
          <a:xfrm>
            <a:off x="6060643" y="3009682"/>
            <a:ext cx="5479084"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 frequency per channel with evidence; no week over 12 hours</a:t>
            </a:r>
          </a:p>
        </p:txBody>
      </p:sp>
      <p:sp>
        <p:nvSpPr>
          <p:cNvPr id="19" name="Rectangle 18"/>
          <p:cNvSpPr/>
          <p:nvPr/>
        </p:nvSpPr>
        <p:spPr>
          <a:xfrm>
            <a:off x="548640" y="3459044"/>
            <a:ext cx="11064240" cy="4493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459044"/>
            <a:ext cx="832103"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8</a:t>
            </a:r>
          </a:p>
        </p:txBody>
      </p:sp>
      <p:sp>
        <p:nvSpPr>
          <p:cNvPr id="21" name="TextBox 20"/>
          <p:cNvSpPr txBox="1"/>
          <p:nvPr/>
        </p:nvSpPr>
        <p:spPr>
          <a:xfrm>
            <a:off x="1856232" y="3459044"/>
            <a:ext cx="3930091"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Strategist → Creator → website</a:t>
            </a:r>
          </a:p>
        </p:txBody>
      </p:sp>
      <p:sp>
        <p:nvSpPr>
          <p:cNvPr id="22" name="TextBox 21"/>
          <p:cNvSpPr txBox="1"/>
          <p:nvPr/>
        </p:nvSpPr>
        <p:spPr>
          <a:xfrm>
            <a:off x="6060643" y="3459044"/>
            <a:ext cx="5479084"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article shows on your site; every figure is on the facts sheet</a:t>
            </a:r>
          </a:p>
        </p:txBody>
      </p:sp>
      <p:sp>
        <p:nvSpPr>
          <p:cNvPr id="23" name="TextBox 22"/>
          <p:cNvSpPr txBox="1"/>
          <p:nvPr/>
        </p:nvSpPr>
        <p:spPr>
          <a:xfrm>
            <a:off x="749808" y="3908406"/>
            <a:ext cx="832103"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9</a:t>
            </a:r>
          </a:p>
        </p:txBody>
      </p:sp>
      <p:sp>
        <p:nvSpPr>
          <p:cNvPr id="24" name="TextBox 23"/>
          <p:cNvSpPr txBox="1"/>
          <p:nvPr/>
        </p:nvSpPr>
        <p:spPr>
          <a:xfrm>
            <a:off x="1856232" y="3908406"/>
            <a:ext cx="3930091"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Creator → Gmail; checklist → site</a:t>
            </a:r>
          </a:p>
        </p:txBody>
      </p:sp>
      <p:sp>
        <p:nvSpPr>
          <p:cNvPr id="25" name="TextBox 24"/>
          <p:cNvSpPr txBox="1"/>
          <p:nvPr/>
        </p:nvSpPr>
        <p:spPr>
          <a:xfrm>
            <a:off x="6060643" y="3908406"/>
            <a:ext cx="5479084"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Three drafts in Gmail, nothing sent; the checklist is on your site</a:t>
            </a:r>
          </a:p>
        </p:txBody>
      </p:sp>
      <p:sp>
        <p:nvSpPr>
          <p:cNvPr id="26" name="Rectangle 25"/>
          <p:cNvSpPr/>
          <p:nvPr/>
        </p:nvSpPr>
        <p:spPr>
          <a:xfrm>
            <a:off x="548640" y="4357769"/>
            <a:ext cx="11064240" cy="4493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357769"/>
            <a:ext cx="832103"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10</a:t>
            </a:r>
          </a:p>
        </p:txBody>
      </p:sp>
      <p:sp>
        <p:nvSpPr>
          <p:cNvPr id="28" name="TextBox 27"/>
          <p:cNvSpPr txBox="1"/>
          <p:nvPr/>
        </p:nvSpPr>
        <p:spPr>
          <a:xfrm>
            <a:off x="1856232" y="4357769"/>
            <a:ext cx="3930091"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Team → gate → LinkedIn, Facebook</a:t>
            </a:r>
          </a:p>
        </p:txBody>
      </p:sp>
      <p:sp>
        <p:nvSpPr>
          <p:cNvPr id="29" name="TextBox 28"/>
          <p:cNvSpPr txBox="1"/>
          <p:nvPr/>
        </p:nvSpPr>
        <p:spPr>
          <a:xfrm>
            <a:off x="6060643" y="4357769"/>
            <a:ext cx="5479084"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gate stops an agent approving; your approval is stored with a hash</a:t>
            </a:r>
          </a:p>
        </p:txBody>
      </p:sp>
      <p:sp>
        <p:nvSpPr>
          <p:cNvPr id="30" name="TextBox 29"/>
          <p:cNvSpPr txBox="1"/>
          <p:nvPr/>
        </p:nvSpPr>
        <p:spPr>
          <a:xfrm>
            <a:off x="749808" y="4807131"/>
            <a:ext cx="832103"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11</a:t>
            </a:r>
          </a:p>
        </p:txBody>
      </p:sp>
      <p:sp>
        <p:nvSpPr>
          <p:cNvPr id="31" name="TextBox 30"/>
          <p:cNvSpPr txBox="1"/>
          <p:nvPr/>
        </p:nvSpPr>
        <p:spPr>
          <a:xfrm>
            <a:off x="1856232" y="4807131"/>
            <a:ext cx="3930091"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Contacts CSV → Analyst → Gmail</a:t>
            </a:r>
          </a:p>
        </p:txBody>
      </p:sp>
      <p:sp>
        <p:nvSpPr>
          <p:cNvPr id="32" name="TextBox 31"/>
          <p:cNvSpPr txBox="1"/>
          <p:nvPr/>
        </p:nvSpPr>
        <p:spPr>
          <a:xfrm>
            <a:off x="6060643" y="4807131"/>
            <a:ext cx="5479084"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31 of 40 recipients — consent = yes and not unsubscribed</a:t>
            </a:r>
          </a:p>
        </p:txBody>
      </p:sp>
      <p:sp>
        <p:nvSpPr>
          <p:cNvPr id="33" name="Rectangle 32"/>
          <p:cNvSpPr/>
          <p:nvPr/>
        </p:nvSpPr>
        <p:spPr>
          <a:xfrm>
            <a:off x="548640" y="5256493"/>
            <a:ext cx="11064240" cy="4493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8" y="5256493"/>
            <a:ext cx="832103"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12</a:t>
            </a:r>
          </a:p>
        </p:txBody>
      </p:sp>
      <p:sp>
        <p:nvSpPr>
          <p:cNvPr id="35" name="TextBox 34"/>
          <p:cNvSpPr txBox="1"/>
          <p:nvPr/>
        </p:nvSpPr>
        <p:spPr>
          <a:xfrm>
            <a:off x="1856232" y="5256493"/>
            <a:ext cx="3930091"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Script → render → YouTube</a:t>
            </a:r>
          </a:p>
        </p:txBody>
      </p:sp>
      <p:sp>
        <p:nvSpPr>
          <p:cNvPr id="36" name="TextBox 35"/>
          <p:cNvSpPr txBox="1"/>
          <p:nvPr/>
        </p:nvSpPr>
        <p:spPr>
          <a:xfrm>
            <a:off x="6060643" y="5256493"/>
            <a:ext cx="5479084"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1920×1080, under 90 s; uploads as private</a:t>
            </a:r>
          </a:p>
        </p:txBody>
      </p:sp>
      <p:sp>
        <p:nvSpPr>
          <p:cNvPr id="37" name="Rounded Rectangle 36"/>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Write the expected result before you run the test — then compare.</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EVIDENCE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Evidence Before Personas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6: the Growth Analyst builds personas the way an analyst would.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77</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Collect</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150 survey answers, 60 enquiries, 200 checklists.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Count</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With code. Every claim has an n and a file.</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Segment</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By age band and life stage.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Persona</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Worries, channels, formats, trust — with evidence.</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Requirement</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What each persona needs from every piece.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EVIDENCE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Observed, Inferred or Low Confidence?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Three labels keep a persona honest.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78</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15981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LABEL</a:t>
            </a:r>
          </a:p>
        </p:txBody>
      </p:sp>
      <p:sp>
        <p:nvSpPr>
          <p:cNvPr id="10" name="TextBox 9"/>
          <p:cNvSpPr txBox="1"/>
          <p:nvPr/>
        </p:nvSpPr>
        <p:spPr>
          <a:xfrm>
            <a:off x="3183940" y="2203703"/>
            <a:ext cx="52578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EXAMPLE</a:t>
            </a:r>
          </a:p>
        </p:txBody>
      </p:sp>
      <p:sp>
        <p:nvSpPr>
          <p:cNvPr id="11" name="TextBox 10"/>
          <p:cNvSpPr txBox="1"/>
          <p:nvPr/>
        </p:nvSpPr>
        <p:spPr>
          <a:xfrm>
            <a:off x="8716060" y="2203703"/>
            <a:ext cx="282366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USE IT</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Observed</a:t>
            </a:r>
          </a:p>
        </p:txBody>
      </p:sp>
      <p:sp>
        <p:nvSpPr>
          <p:cNvPr id="14" name="TextBox 13"/>
          <p:cNvSpPr txBox="1"/>
          <p:nvPr/>
        </p:nvSpPr>
        <p:spPr>
          <a:xfrm>
            <a:off x="3183940" y="2560320"/>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30–39s chose Facebook, LinkedIn and YouTube equally (survey, n = 44)</a:t>
            </a:r>
          </a:p>
        </p:txBody>
      </p:sp>
      <p:sp>
        <p:nvSpPr>
          <p:cNvPr id="15" name="TextBox 14"/>
          <p:cNvSpPr txBox="1"/>
          <p:nvPr/>
        </p:nvSpPr>
        <p:spPr>
          <a:xfrm>
            <a:off x="8716060" y="2560320"/>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 fact, with the count</a:t>
            </a:r>
          </a:p>
        </p:txBody>
      </p:sp>
      <p:sp>
        <p:nvSpPr>
          <p:cNvPr id="16" name="TextBox 15"/>
          <p:cNvSpPr txBox="1"/>
          <p:nvPr/>
        </p:nvSpPr>
        <p:spPr>
          <a:xfrm>
            <a:off x="749808" y="3273552"/>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INFERENCE</a:t>
            </a:r>
          </a:p>
        </p:txBody>
      </p:sp>
      <p:sp>
        <p:nvSpPr>
          <p:cNvPr id="17" name="TextBox 16"/>
          <p:cNvSpPr txBox="1"/>
          <p:nvPr/>
        </p:nvSpPr>
        <p:spPr>
          <a:xfrm>
            <a:off x="3183940" y="3273552"/>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"They are short of time on weekdays" — not asked</a:t>
            </a:r>
          </a:p>
        </p:txBody>
      </p:sp>
      <p:sp>
        <p:nvSpPr>
          <p:cNvPr id="18" name="TextBox 17"/>
          <p:cNvSpPr txBox="1"/>
          <p:nvPr/>
        </p:nvSpPr>
        <p:spPr>
          <a:xfrm>
            <a:off x="8716060" y="3273552"/>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As a hypothesis to test</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LOW CONFIDENCE</a:t>
            </a:r>
          </a:p>
        </p:txBody>
      </p:sp>
      <p:sp>
        <p:nvSpPr>
          <p:cNvPr id="21" name="TextBox 20"/>
          <p:cNvSpPr txBox="1"/>
          <p:nvPr/>
        </p:nvSpPr>
        <p:spPr>
          <a:xfrm>
            <a:off x="3183940" y="3986784"/>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60+ group (n = 12)</a:t>
            </a:r>
          </a:p>
        </p:txBody>
      </p:sp>
      <p:sp>
        <p:nvSpPr>
          <p:cNvPr id="22" name="TextBox 21"/>
          <p:cNvSpPr txBox="1"/>
          <p:nvPr/>
        </p:nvSpPr>
        <p:spPr>
          <a:xfrm>
            <a:off x="8716060" y="3986784"/>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Never alone; get more data</a:t>
            </a:r>
          </a:p>
        </p:txBody>
      </p:sp>
      <p:sp>
        <p:nvSpPr>
          <p:cNvPr id="23" name="TextBox 22"/>
          <p:cNvSpPr txBox="1"/>
          <p:nvPr/>
        </p:nvSpPr>
        <p:spPr>
          <a:xfrm>
            <a:off x="749808" y="4700016"/>
            <a:ext cx="2159812"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Verbatim</a:t>
            </a:r>
          </a:p>
        </p:txBody>
      </p:sp>
      <p:sp>
        <p:nvSpPr>
          <p:cNvPr id="24" name="TextBox 23"/>
          <p:cNvSpPr txBox="1"/>
          <p:nvPr/>
        </p:nvSpPr>
        <p:spPr>
          <a:xfrm>
            <a:off x="3183940" y="4700016"/>
            <a:ext cx="525780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"I am 54 and not sure if my CPF will be enough." (E-id)</a:t>
            </a:r>
          </a:p>
        </p:txBody>
      </p:sp>
      <p:sp>
        <p:nvSpPr>
          <p:cNvPr id="25" name="TextBox 24"/>
          <p:cNvSpPr txBox="1"/>
          <p:nvPr/>
        </p:nvSpPr>
        <p:spPr>
          <a:xfrm>
            <a:off x="8716060" y="4700016"/>
            <a:ext cx="2823667"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Exactly as written, with the id</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Ask "which rows show that?" of anything that sounds insightful.</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79</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06</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drafted personas from instinct: 'busy young parents who love TikTok'. Rachel is not convinced. There are 150 survey answers, 60 enquiries and 200 checklists.</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three evidence-based personas and the content spec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(three analyst subagents in parallel)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three analyst sub-agents, one per data file · counts, not impressions · confidence labels · content requirements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80</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6".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data  </a:t>
            </a:r>
            <a:r>
              <a:rPr sz="1300">
                <a:solidFill>
                  <a:srgbClr val="6B6862"/>
                </a:solidFill>
                <a:latin typeface="Calibri"/>
              </a:rPr>
              <a:t>The CSVs and templates are already in data/. Open one and skim it.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Analyse in parallel  </a:t>
            </a:r>
            <a:r>
              <a:rPr sz="1300">
                <a:solidFill>
                  <a:srgbClr val="6B6862"/>
                </a:solidFill>
                <a:latin typeface="Calibri"/>
              </a:rPr>
              <a:t>Copy and paste Prompt A — three analyst sub-agents, one per file.</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Challenge a claim  </a:t>
            </a:r>
            <a:r>
              <a:rPr sz="1300">
                <a:solidFill>
                  <a:srgbClr val="6B6862"/>
                </a:solidFill>
                <a:latin typeface="Calibri"/>
              </a:rPr>
              <a:t>Pick one persona statement and ask: "which rows show that?"</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Write the guides  </a:t>
            </a:r>
            <a:r>
              <a:rPr sz="1300">
                <a:solidFill>
                  <a:srgbClr val="6B6862"/>
                </a:solidFill>
                <a:latin typeface="Calibri"/>
              </a:rPr>
              <a:t>After the persona cards appear, copy and paste Prompt B: a writing guide for each persona — how to talk to them.</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gaps  </a:t>
            </a:r>
            <a:r>
              <a:rPr sz="1300">
                <a:solidFill>
                  <a:srgbClr val="6B6862"/>
                </a:solidFill>
                <a:latin typeface="Calibri"/>
              </a:rPr>
              <a:t>The 60+ group must be LOW CONFIDENCE.</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81</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three analysts</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three growth-analyst subagents in parallel, one per file: data/survey-responses.csv, data/enquiries.csv, data/checklist-results.csv. Each uses audience-insights: counts with code, n and the file on every claim, INFERENCE and LOW CONFIDENCE labels, enquiry quotes verbatim with ids. Combine the results into three personas with data/persona-template.md → strategy/personas.md. Publish the personas as an artifact: one card each, with the key counts as small bar charts and the confidence label in colour. Write for a business owner, in plain English: no codes, IDs, file names or line numbers; start with what it means and what I do next. Save a Word copy (.docx) of each result.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82</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requirements</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growth-strategist and the content-creator subagents to write a writing guide for each persona (data/content-spec-template.md → strategy/content-spec.md): what they most want to know, where to reach them, what to make and how long, the tone, the proof that convinces them, what we ask them to do next, and what we never say. Back each answer with the data: which file, and how many people. Publish it as an artifact: one card per persona with a one-line summary on top and the answers under plain headings, then one table comparing the three personas side by side.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"which rows show that?" of anything that sounds insightful. If the agent cannot point to rows, it is an inference.</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83</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Explain these personas in three sentences. Which one should we target first,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survey answers show that &lt;a sentence from a persona&gt;?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Why is the 60+ group marked low confidence?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06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Personas from Evidence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84</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analyst sub-agents ran, one per file.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persona statement carries a count and a file.</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60+ group is LOW CONFIDENCE (n = 12).</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most-unticked checklist item is the retirement number.</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Enquiry quotes are verbatim, with ids.</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writing guide answers every question for every persona.</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CADENCE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Finding the Right Frequency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7: the Analyst finds where more posts stop paying; the Strategist plans four weeks.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85</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Value</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Extra clicks from one more post a week.</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Fatigue</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Unfollows and unsubscribes it costs.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Effort</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Hours per piece, against 12 a week.</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Review</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Two business days for Rachel's sign-off.</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Calendar</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Four weeks the team can actually deliver.</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 third LinkedIn post a week brings more unfollows than value. Weekly emails make unsubscribes jump.</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86</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07</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~35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has 12 hours a week and Rachel needs two business days to review anything. How often should each channel run, and what goes out when?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how often to post on each channel, and a four-week calendar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(subagents)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marginal value vs fatigue · team capacity · review buffers · a four-week calendar</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87</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7".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data  </a:t>
            </a:r>
            <a:r>
              <a:rPr sz="1300">
                <a:solidFill>
                  <a:srgbClr val="6B6862"/>
                </a:solidFill>
                <a:latin typeface="Calibri"/>
              </a:rPr>
              <a:t>The assets are already in data/. Open one and skim it.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Find the sweet spot  </a:t>
            </a:r>
            <a:r>
              <a:rPr sz="1300">
                <a:solidFill>
                  <a:srgbClr val="6B6862"/>
                </a:solidFill>
                <a:latin typeface="Calibri"/>
              </a:rPr>
              <a:t>Copy and paste Prompt A.</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Question it  </a:t>
            </a:r>
            <a:r>
              <a:rPr sz="1300">
                <a:solidFill>
                  <a:srgbClr val="6B6862"/>
                </a:solidFill>
                <a:latin typeface="Calibri"/>
              </a:rPr>
              <a:t>Why is the newsletter not weekly? The answer is in the unsubscribes.</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Plan four weeks  </a:t>
            </a:r>
            <a:r>
              <a:rPr sz="1300">
                <a:solidFill>
                  <a:srgbClr val="6B6862"/>
                </a:solidFill>
                <a:latin typeface="Calibri"/>
              </a:rPr>
              <a:t>After the analyst recommends a cadence, copy and paste Prompt B.</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buffers  </a:t>
            </a:r>
            <a:r>
              <a:rPr sz="1300">
                <a:solidFill>
                  <a:srgbClr val="6B6862"/>
                </a:solidFill>
                <a:latin typeface="Calibri"/>
              </a:rPr>
              <a:t>Every review date is two business days ahead; nothing on a holiday.</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88</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analyst</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growth-analyst subagent. From data/channel-benchmarks.csv and data/team-capacity.md, recommend how often to publish on LinkedIn, Facebook, the newsletter and YouTube. Compare the extra clicks from one more post, the unfollows or unsubscribes it costs, and the hours → strategy/cadence.md. Publish it as an artifact: a chart per channel of the extra clicks against the unfollows, and the hours. Write for a business owner, in plain English: no codes, IDs, file names or line numbers; start with what it means and what I do next. Save a Word copy (.docx) of each result.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89</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strategist</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growth-strategist subagent to build a four-week calendar from Monday 2 November 2026 in strategy/calendar.csv (columns as data/calendar-format.csv), from the cadence, strategy/storyboard.md and strategy/content-spec.md. review_by two business days before each date; no public holidays; no week over the team's hours. Publish the four weeks as an artifact: a calendar grid by channel, review dates marked, hours per week.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Frequency is a capacity decision as much as an audience one. A calendar the team cannot deliver is fiction.</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90</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Why is the newsletter not weekly? Show me the numbers.</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happens if we add a third LinkedIn post a week?</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week is busiest, and does the team have the hours?</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07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Growth Analyst and Strategist: Cadence and Calendar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91</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cadence gives a frequency per channel with the evidence.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third LinkedIn post a week costs far more unfollows than it earns.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explains the unsubscribe jump at weekly emails.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calendar covers four weeks in the required columns.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review_by date is two business days before publishing.</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No week is over 12 hours.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CONTENT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From Storyboard to Content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8: the first real piece — a blog article every post can link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92</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One prompt, the whole job</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Research, draft, fact-check, fix and post — a quick blog in one go. A person still reads it last.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694944"/>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Straight onto your copy of the site</a:t>
            </a:r>
          </a:p>
        </p:txBody>
      </p:sp>
      <p:sp>
        <p:nvSpPr>
          <p:cNvPr id="15" name="TextBox 14"/>
          <p:cNvSpPr txBox="1"/>
          <p:nvPr/>
        </p:nvSpPr>
        <p:spPr>
          <a:xfrm>
            <a:off x="4547615" y="3145535"/>
            <a:ext cx="3066287" cy="241401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article lands on the copy of Horizon's site in your folder, opened in your browser. The public site never changes.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Your skills know Horizon</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blog-post, sunny-voice, fact-check and fin-compliance: the voice, the facts and the rules.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93</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08</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1 · ~40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Jun Wei has the storyboard and the personas. Rachel wants the first real piece today: a blog article that people searching for CPF top-ups will find — and that every post can link to.</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a 500-700-word blog article with dated sources, checked and fixed and posted on your own copy of Horizon's website, opened in your browser, with a Word copy</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(Firecrawl, your Horizon skills) → your copy of Horizon's website</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one prompt runs the whole job: research · draft · fact-check and fin-compliance · fix · post to the blog on your copy of the website · a person reads it last</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94</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Left sidebar: click + next to horizon-studio. Click the session title at the top and rename it "Lab 8". Run all of this lab's prompts in it.</a:t>
            </a:r>
          </a:p>
        </p:txBody>
      </p:sp>
      <p:sp>
        <p:nvSpPr>
          <p:cNvPr id="10" name="Oval 9"/>
          <p:cNvSpPr/>
          <p:nvPr/>
        </p:nvSpPr>
        <p:spPr>
          <a:xfrm>
            <a:off x="548640" y="2990087"/>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95351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and post it  </a:t>
            </a:r>
            <a:r>
              <a:rPr sz="1550">
                <a:solidFill>
                  <a:srgbClr val="6B6862"/>
                </a:solidFill>
                <a:latin typeface="Calibri"/>
              </a:rPr>
              <a:t>Copy and paste the prompt. Claude researches, writes, checks and fixes the article, then posts it to your copy of Horizon's website.</a:t>
            </a:r>
          </a:p>
        </p:txBody>
      </p:sp>
      <p:sp>
        <p:nvSpPr>
          <p:cNvPr id="12" name="Oval 11"/>
          <p:cNvSpPr/>
          <p:nvPr/>
        </p:nvSpPr>
        <p:spPr>
          <a:xfrm>
            <a:off x="548640" y="385876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822191"/>
            <a:ext cx="10442448" cy="813815"/>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Read it on the site  </a:t>
            </a:r>
            <a:r>
              <a:rPr sz="1550">
                <a:solidFill>
                  <a:srgbClr val="6B6862"/>
                </a:solidFill>
                <a:latin typeface="Calibri"/>
              </a:rPr>
              <a:t>Your copy of the website opens in your browser: your article is first under "From our blog". Say what to change, if anything.</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95</a:t>
            </a:r>
          </a:p>
        </p:txBody>
      </p:sp>
      <p:sp>
        <p:nvSpPr>
          <p:cNvPr id="7" name="Rounded Rectangle 6"/>
          <p:cNvSpPr/>
          <p:nvPr/>
        </p:nvSpPr>
        <p:spPr>
          <a:xfrm>
            <a:off x="548640" y="1783080"/>
            <a:ext cx="11064240" cy="3720337"/>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 Claude Code: a quick blog</a:t>
            </a:r>
          </a:p>
        </p:txBody>
      </p:sp>
      <p:sp>
        <p:nvSpPr>
          <p:cNvPr id="9" name="TextBox 8"/>
          <p:cNvSpPr txBox="1"/>
          <p:nvPr/>
        </p:nvSpPr>
        <p:spPr>
          <a:xfrm>
            <a:off x="822960" y="2313432"/>
            <a:ext cx="10515600" cy="2970530"/>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Write a quick blog article for Horizon and post it to the website. Use the blog-post, sunny-voice, fact-check and fin-compliance skills.</a:t>
            </a:r>
          </a:p>
          <a:p>
            <a:pPr>
              <a:lnSpc>
                <a:spcPct val="110000"/>
              </a:lnSpc>
              <a:defRPr sz="1700" b="0">
                <a:solidFill>
                  <a:srgbClr val="21201C"/>
                </a:solidFill>
                <a:latin typeface="Calibri"/>
              </a:defRPr>
            </a:pPr>
            <a:r>
              <a:t>1. Pick one topic from strategy/storyboard.md that a Singaporean would search for. Use Firecrawl to find two current sources (CPF Board, MAS or MoneySense), each with its date.</a:t>
            </a:r>
          </a:p>
          <a:p>
            <a:pPr>
              <a:lnSpc>
                <a:spcPct val="110000"/>
              </a:lnSpc>
              <a:defRPr sz="1700" b="0">
                <a:solidFill>
                  <a:srgbClr val="21201C"/>
                </a:solidFill>
                <a:latin typeface="Calibri"/>
              </a:defRPr>
            </a:pPr>
            <a:r>
              <a:t>2. Write 500-700 words: a title under 60 characters, every figure from data/facts-2026.md, one call to action (book a free 30-minute chat) and the full disclaimer → content/blog/&lt;slug&gt;.md.</a:t>
            </a:r>
          </a:p>
          <a:p>
            <a:pPr>
              <a:lnSpc>
                <a:spcPct val="110000"/>
              </a:lnSpc>
              <a:defRPr sz="1700" b="0">
                <a:solidFill>
                  <a:srgbClr val="21201C"/>
                </a:solidFill>
                <a:latin typeface="Calibri"/>
              </a:defRPr>
            </a:pPr>
            <a:r>
              <a:t>3. Run fact-check and fin-compliance; fix every issue and list each fix in one line.</a:t>
            </a:r>
          </a:p>
          <a:p>
            <a:pPr>
              <a:lnSpc>
                <a:spcPct val="110000"/>
              </a:lnSpc>
              <a:defRPr sz="1700" b="0">
                <a:solidFill>
                  <a:srgbClr val="21201C"/>
                </a:solidFill>
                <a:latin typeface="Calibri"/>
              </a:defRPr>
            </a:pPr>
            <a:r>
              <a:t>4. Add it to the blog in web/site/index.html as one new post, built like the posts already there. Change nothing else on the site. Then start my website if it is not running, and open it. Write for a business owner, in plain English. Save a Word copy (.docx) of the article.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One prompt can run the whole job — research, writing and checks. A person still reads the result before it goes anywhere.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96</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Summarise the article in three sentences. Who is it for?</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Why did you pick this topic, and who will search for it?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did the checks find, and how did you fix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08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Creator: A Quick Blog Article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97</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Two sources, each with a date and a link.</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title is under 60 characters.</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figure is from Horizon's 2026 facts.</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fixes are listed; no Critical or High issue is left.</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One call to action and the full disclaimer at the end.</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Your article is first under "From our blog" on your copy of the website.</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DAY 1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Day 1: The Team Is Ready</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Everything the campaigns need tomorrow is in place.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98</a:t>
            </a:r>
          </a:p>
        </p:txBody>
      </p:sp>
      <p:sp>
        <p:nvSpPr>
          <p:cNvPr id="8" name="Pentagon 7"/>
          <p:cNvSpPr/>
          <p:nvPr/>
        </p:nvSpPr>
        <p:spPr>
          <a:xfrm>
            <a:off x="548640" y="2084831"/>
            <a:ext cx="192024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000" b="1">
                <a:solidFill>
                  <a:srgbClr val="FFFFFF"/>
                </a:solidFill>
                <a:latin typeface="Calibri"/>
              </a:defRPr>
            </a:pPr>
            <a:r>
              <a:t>01</a:t>
            </a:r>
          </a:p>
        </p:txBody>
      </p:sp>
      <p:sp>
        <p:nvSpPr>
          <p:cNvPr id="9" name="Rounded Rectangle 8"/>
          <p:cNvSpPr/>
          <p:nvPr/>
        </p:nvSpPr>
        <p:spPr>
          <a:xfrm>
            <a:off x="548640" y="2962656"/>
            <a:ext cx="177393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177393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517904"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Home</a:t>
            </a:r>
          </a:p>
        </p:txBody>
      </p:sp>
      <p:sp>
        <p:nvSpPr>
          <p:cNvPr id="12" name="TextBox 11"/>
          <p:cNvSpPr txBox="1"/>
          <p:nvPr/>
        </p:nvSpPr>
        <p:spPr>
          <a:xfrm>
            <a:off x="676656" y="3730752"/>
            <a:ext cx="1517904"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Shared rules and facts; Horizon's public website (Lab 1).</a:t>
            </a:r>
          </a:p>
        </p:txBody>
      </p:sp>
      <p:sp>
        <p:nvSpPr>
          <p:cNvPr id="13" name="Chevron 12"/>
          <p:cNvSpPr/>
          <p:nvPr/>
        </p:nvSpPr>
        <p:spPr>
          <a:xfrm>
            <a:off x="2377440" y="2084831"/>
            <a:ext cx="192024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02</a:t>
            </a:r>
          </a:p>
        </p:txBody>
      </p:sp>
      <p:sp>
        <p:nvSpPr>
          <p:cNvPr id="14" name="Rounded Rectangle 13"/>
          <p:cNvSpPr/>
          <p:nvPr/>
        </p:nvSpPr>
        <p:spPr>
          <a:xfrm>
            <a:off x="24688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68880" y="2962656"/>
            <a:ext cx="168249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Team</a:t>
            </a:r>
          </a:p>
        </p:txBody>
      </p:sp>
      <p:sp>
        <p:nvSpPr>
          <p:cNvPr id="17" name="TextBox 16"/>
          <p:cNvSpPr txBox="1"/>
          <p:nvPr/>
        </p:nvSpPr>
        <p:spPr>
          <a:xfrm>
            <a:off x="25968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Six agents: instructions, skills, connectors (Labs 2–4).</a:t>
            </a:r>
          </a:p>
        </p:txBody>
      </p:sp>
      <p:sp>
        <p:nvSpPr>
          <p:cNvPr id="18" name="Chevron 17"/>
          <p:cNvSpPr/>
          <p:nvPr/>
        </p:nvSpPr>
        <p:spPr>
          <a:xfrm>
            <a:off x="4206240" y="2084831"/>
            <a:ext cx="192024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03</a:t>
            </a:r>
          </a:p>
        </p:txBody>
      </p:sp>
      <p:sp>
        <p:nvSpPr>
          <p:cNvPr id="19" name="Rounded Rectangle 18"/>
          <p:cNvSpPr/>
          <p:nvPr/>
        </p:nvSpPr>
        <p:spPr>
          <a:xfrm>
            <a:off x="42976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79" y="2962656"/>
            <a:ext cx="168249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256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Campaign 1</a:t>
            </a:r>
          </a:p>
        </p:txBody>
      </p:sp>
      <p:sp>
        <p:nvSpPr>
          <p:cNvPr id="22" name="TextBox 21"/>
          <p:cNvSpPr txBox="1"/>
          <p:nvPr/>
        </p:nvSpPr>
        <p:spPr>
          <a:xfrm>
            <a:off x="44256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Research, ideas and a storyboard (Lab 5).</a:t>
            </a:r>
          </a:p>
        </p:txBody>
      </p:sp>
      <p:sp>
        <p:nvSpPr>
          <p:cNvPr id="23" name="Chevron 22"/>
          <p:cNvSpPr/>
          <p:nvPr/>
        </p:nvSpPr>
        <p:spPr>
          <a:xfrm>
            <a:off x="6035040" y="2084831"/>
            <a:ext cx="192024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04</a:t>
            </a:r>
          </a:p>
        </p:txBody>
      </p:sp>
      <p:sp>
        <p:nvSpPr>
          <p:cNvPr id="24" name="Rounded Rectangle 23"/>
          <p:cNvSpPr/>
          <p:nvPr/>
        </p:nvSpPr>
        <p:spPr>
          <a:xfrm>
            <a:off x="61264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26479" y="2962656"/>
            <a:ext cx="168249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5"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Audience</a:t>
            </a:r>
          </a:p>
        </p:txBody>
      </p:sp>
      <p:sp>
        <p:nvSpPr>
          <p:cNvPr id="27" name="TextBox 26"/>
          <p:cNvSpPr txBox="1"/>
          <p:nvPr/>
        </p:nvSpPr>
        <p:spPr>
          <a:xfrm>
            <a:off x="6254495"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Personas and requirements from evidence (Lab 6).</a:t>
            </a:r>
          </a:p>
        </p:txBody>
      </p:sp>
      <p:sp>
        <p:nvSpPr>
          <p:cNvPr id="28" name="Chevron 27"/>
          <p:cNvSpPr/>
          <p:nvPr/>
        </p:nvSpPr>
        <p:spPr>
          <a:xfrm>
            <a:off x="7863840" y="2084831"/>
            <a:ext cx="192024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05</a:t>
            </a:r>
          </a:p>
        </p:txBody>
      </p:sp>
      <p:sp>
        <p:nvSpPr>
          <p:cNvPr id="29" name="Rounded Rectangle 28"/>
          <p:cNvSpPr/>
          <p:nvPr/>
        </p:nvSpPr>
        <p:spPr>
          <a:xfrm>
            <a:off x="7955279"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55279" y="2962656"/>
            <a:ext cx="168249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832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Plan</a:t>
            </a:r>
          </a:p>
        </p:txBody>
      </p:sp>
      <p:sp>
        <p:nvSpPr>
          <p:cNvPr id="32" name="TextBox 31"/>
          <p:cNvSpPr txBox="1"/>
          <p:nvPr/>
        </p:nvSpPr>
        <p:spPr>
          <a:xfrm>
            <a:off x="80832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Cadence and a four-week calendar (Lab 7).</a:t>
            </a:r>
          </a:p>
        </p:txBody>
      </p:sp>
      <p:sp>
        <p:nvSpPr>
          <p:cNvPr id="33" name="Chevron 32"/>
          <p:cNvSpPr/>
          <p:nvPr/>
        </p:nvSpPr>
        <p:spPr>
          <a:xfrm>
            <a:off x="9692640" y="2084831"/>
            <a:ext cx="1920240" cy="731520"/>
          </a:xfrm>
          <a:prstGeom prst="chevron">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000" b="1">
                <a:solidFill>
                  <a:srgbClr val="FFFFFF"/>
                </a:solidFill>
                <a:latin typeface="Calibri"/>
              </a:defRPr>
            </a:pPr>
            <a:r>
              <a:t>06</a:t>
            </a:r>
          </a:p>
        </p:txBody>
      </p:sp>
      <p:sp>
        <p:nvSpPr>
          <p:cNvPr id="34" name="Rounded Rectangle 33"/>
          <p:cNvSpPr/>
          <p:nvPr/>
        </p:nvSpPr>
        <p:spPr>
          <a:xfrm>
            <a:off x="9784080" y="2962656"/>
            <a:ext cx="168249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784080" y="2962656"/>
            <a:ext cx="1682495" cy="54864"/>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12096" y="3127248"/>
            <a:ext cx="1426463" cy="566928"/>
          </a:xfrm>
          <a:prstGeom prst="rect">
            <a:avLst/>
          </a:prstGeom>
          <a:noFill/>
        </p:spPr>
        <p:txBody>
          <a:bodyPr wrap="square" lIns="18288" rIns="18288" tIns="9144" bIns="9144">
            <a:spAutoFit/>
          </a:bodyPr>
          <a:lstStyle/>
          <a:p>
            <a:pPr>
              <a:lnSpc>
                <a:spcPct val="100000"/>
              </a:lnSpc>
              <a:defRPr sz="1200" b="1">
                <a:solidFill>
                  <a:srgbClr val="21201C"/>
                </a:solidFill>
                <a:latin typeface="Cambria"/>
              </a:defRPr>
            </a:pPr>
            <a:r>
              <a:t>Content</a:t>
            </a:r>
          </a:p>
        </p:txBody>
      </p:sp>
      <p:sp>
        <p:nvSpPr>
          <p:cNvPr id="37" name="TextBox 36"/>
          <p:cNvSpPr txBox="1"/>
          <p:nvPr/>
        </p:nvSpPr>
        <p:spPr>
          <a:xfrm>
            <a:off x="9912096" y="3730752"/>
            <a:ext cx="1426463" cy="1883663"/>
          </a:xfrm>
          <a:prstGeom prst="rect">
            <a:avLst/>
          </a:prstGeom>
          <a:noFill/>
        </p:spPr>
        <p:txBody>
          <a:bodyPr wrap="square" lIns="18288" rIns="18288" tIns="9144" bIns="9144">
            <a:spAutoFit/>
          </a:bodyPr>
          <a:lstStyle/>
          <a:p>
            <a:pPr>
              <a:lnSpc>
                <a:spcPct val="108000"/>
              </a:lnSpc>
              <a:defRPr sz="1150" b="0">
                <a:solidFill>
                  <a:srgbClr val="6B6862"/>
                </a:solidFill>
                <a:latin typeface="Calibri"/>
              </a:defRPr>
            </a:pPr>
            <a:r>
              <a:t>The first blog article, checked (Lab 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LEAD MAGNET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Content That Earns a Sign-up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9: the Money Check-up Checklist and the emails that follow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99</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Promise</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problem, one promise: know where you stand in 10 minutes.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Design</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Artifacts: printable pages, cards and previews.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Opt-in</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required PDPA consent box; the newsletter opt-in separate.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Welcome emails</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Day 0, day 3, day 7 — value first, then a free chat.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Measure</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Downloads, then chats booked.</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Lab 11 builds the landing page that offers it.</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100</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09</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~50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Day 2. Before the campaign weeks start, Rachel wants the thing that turns readers into leads: the Money Check-up Checklist, designed to be downloaded, and the emails that follow it.</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Money Check-up Checklist as a printable A4 page (artifact and PDF) and on your copy of Horizon's website, and three welcome emails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(artifact, Gmail drafts, Marketing plugin, your Horizon skills)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lead-magnet skill · a printable A4 checklist as an artifact · the Marketing plugin's email sequence · newsletter and sunny-voice · drafts only</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101</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Left sidebar: click + next to horizon-studio. Click the session title at the top and rename it "Lab 9". Run all of this lab's prompts in it.</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Design it  </a:t>
            </a:r>
            <a:r>
              <a:rPr sz="1550">
                <a:solidFill>
                  <a:srgbClr val="6B6862"/>
                </a:solidFill>
                <a:latin typeface="Calibri"/>
              </a:rPr>
              <a:t>Copy and paste Prompt A. The checklist opens as an artifact; ask in the chat for any change.</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Write the welcome emails  </a:t>
            </a:r>
            <a:r>
              <a:rPr sz="1550">
                <a:solidFill>
                  <a:srgbClr val="6B6862"/>
                </a:solidFill>
                <a:latin typeface="Calibri"/>
              </a:rPr>
              <a:t>After the checklist looks right, copy and paste Prompt B. The three emails also appear as drafts in your Gmail.</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Check it  </a:t>
            </a:r>
            <a:r>
              <a:rPr sz="1550">
                <a:solidFill>
                  <a:srgbClr val="6B6862"/>
                </a:solidFill>
                <a:latin typeface="Calibri"/>
              </a:rPr>
              <a:t>After the three emails are saved, copy and paste Prompt C.</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Put it on the website  </a:t>
            </a:r>
            <a:r>
              <a:rPr sz="1550">
                <a:solidFill>
                  <a:srgbClr val="6B6862"/>
                </a:solidFill>
                <a:latin typeface="Calibri"/>
              </a:rPr>
              <a:t>After the checks pass, copy and paste Prompt D. Your copy of the website opens in your browser, with the checklist behind an email box.</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102</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checklist</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lead-magnet skill. Turn data/checklist-items.md into the "Money Check-up Checklist": a title with one promise, the ten items as tick boxes, one figure from data/facts-2026.md, the next step (book a free chat) and the full disclaimer. Lay it out as a printable A4 page in the colours and fonts in data/brand.md and publish it as an artifact. Save a PDF of it in content/lead-magnet/. Write for a business owner, in plain English: no codes, IDs, file names or line numbers; start with what it means and what I do next. Save a Word copy (.docx) of each result.</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103</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welcome emails</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Marketing plugin's email sequence to write three welcome emails for people who download the checklist: day 0 (here it is), day 3 (the item most people miss — the retirement number), day 7 (book a free chat). Follow the newsletter and sunny-voice skills → content/email/welcome-sequence.md. Then, using the Gmail connector, create the three emails as DRAFTS in my Gmail, addressed to me. Send nothing. Publish the three emails as an artifact: one tab per email, laid out as it will look in the inbox. Write for a business owner, in plain English: no codes, IDs, file names or line numbers; start with what it means and what I do next. Save a Word copy (.docx) of each result.</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104</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check it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Run fact-check and fin-compliance on the checklist text and the three emails. Show the issues in one table, with a fix for each. Once I agree, make the fixes in the files and in the Gmail drafts. Publish the table as an artifact, coloured by severity. Write for a business owner, in plain English: no codes, IDs, file names or line numbers; start with what it means and what I do next. Save a Word copy (.docx) of each result.</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105</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D — Claude Code: put it on the website</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Add the checked Money Check-up Checklist to Horizon's website in web/site/index.html, as a new section before the reviews, in the site's style:</a:t>
            </a:r>
          </a:p>
          <a:p>
            <a:pPr>
              <a:lnSpc>
                <a:spcPct val="110000"/>
              </a:lnSpc>
              <a:defRPr sz="1700" b="0">
                <a:solidFill>
                  <a:srgbClr val="21201C"/>
                </a:solidFill>
                <a:latin typeface="Calibri"/>
              </a:defRPr>
            </a:pPr>
            <a:r>
              <a:t>the title and promise, what's inside, and an email box with a required consent tick box. Once a valid email is entered, show the ten items as tick boxes and a "Print or save as PDF" button. Add "Free checklist" to the menu. Change nothing else on the site. Then start my website if it is not running, and open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 lead magnet earns an email address. Give real value first; the call to action comes last.</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106</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Which checklist item do people most often miss, and why does it matter?</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Read the day 3 email as a 55-year-old. Is anything unclear?</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Explain each issue in one line: what is wrong, and the fix.</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09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Lead Magnet: a Checklist and Its Welcome Emails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107</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checklist uses Horizon's colours and all ten items.</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makes one promise and ends with the full disclaimer.</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emails, each with a subject under 50 characters, are drafts in your Gmail — nothing was sent.</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Each email has one call to action, unsubscribe and the disclaimer.</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fin-compliance shows no Critical or High issue.</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checklist is on your copy of the website: email and consent first, then the ten tick boxes.</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COORDINATION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Subagents vs Agent Teams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Both run agents in parallel, each with its own context. The difference is who they talk to.</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108</a:t>
            </a:r>
          </a:p>
        </p:txBody>
      </p:sp>
      <p:sp>
        <p:nvSpPr>
          <p:cNvPr id="8" name="Rounded Rectangle 7"/>
          <p:cNvSpPr/>
          <p:nvPr/>
        </p:nvSpPr>
        <p:spPr>
          <a:xfrm>
            <a:off x="548640" y="2084831"/>
            <a:ext cx="5212080" cy="34747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21208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267712"/>
            <a:ext cx="2743200" cy="256032"/>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SUBAGENTS</a:t>
            </a:r>
          </a:p>
        </p:txBody>
      </p:sp>
      <p:sp>
        <p:nvSpPr>
          <p:cNvPr id="11" name="TextBox 10"/>
          <p:cNvSpPr txBox="1"/>
          <p:nvPr/>
        </p:nvSpPr>
        <p:spPr>
          <a:xfrm>
            <a:off x="777240" y="2523744"/>
            <a:ext cx="4754880" cy="256032"/>
          </a:xfrm>
          <a:prstGeom prst="rect">
            <a:avLst/>
          </a:prstGeom>
          <a:noFill/>
        </p:spPr>
        <p:txBody>
          <a:bodyPr wrap="square" lIns="18288" rIns="18288" tIns="9144" bIns="9144">
            <a:spAutoFit/>
          </a:bodyPr>
          <a:lstStyle/>
          <a:p>
            <a:pPr>
              <a:lnSpc>
                <a:spcPct val="100000"/>
              </a:lnSpc>
              <a:defRPr sz="1100" b="0">
                <a:solidFill>
                  <a:srgbClr val="6B6862"/>
                </a:solidFill>
                <a:latin typeface="Calibri"/>
              </a:defRPr>
            </a:pPr>
            <a:r>
              <a:t>Report back to one main agent</a:t>
            </a:r>
          </a:p>
        </p:txBody>
      </p:sp>
      <p:sp>
        <p:nvSpPr>
          <p:cNvPr id="12" name="Rounded Rectangle 11"/>
          <p:cNvSpPr/>
          <p:nvPr/>
        </p:nvSpPr>
        <p:spPr>
          <a:xfrm>
            <a:off x="2103120" y="2862072"/>
            <a:ext cx="2103120" cy="56692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03120" y="2999232"/>
            <a:ext cx="2103120" cy="292608"/>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Team Lead</a:t>
            </a:r>
          </a:p>
        </p:txBody>
      </p:sp>
      <p:cxnSp>
        <p:nvCxnSpPr>
          <p:cNvPr id="14" name="Connector 13"/>
          <p:cNvCxnSpPr/>
          <p:nvPr/>
        </p:nvCxnSpPr>
        <p:spPr>
          <a:xfrm flipH="1">
            <a:off x="1554479" y="3429000"/>
            <a:ext cx="1600201" cy="603504"/>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45819" y="4050791"/>
            <a:ext cx="1417320" cy="713232"/>
          </a:xfrm>
          <a:prstGeom prst="roundRect">
            <a:avLst>
              <a:gd name="adj" fmla="val 6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19"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Strategist</a:t>
            </a:r>
          </a:p>
        </p:txBody>
      </p:sp>
      <p:sp>
        <p:nvSpPr>
          <p:cNvPr id="17" name="TextBox 16"/>
          <p:cNvSpPr txBox="1"/>
          <p:nvPr/>
        </p:nvSpPr>
        <p:spPr>
          <a:xfrm>
            <a:off x="900683"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returns a brief</a:t>
            </a:r>
          </a:p>
        </p:txBody>
      </p:sp>
      <p:cxnSp>
        <p:nvCxnSpPr>
          <p:cNvPr id="18" name="Connector 17"/>
          <p:cNvCxnSpPr/>
          <p:nvPr/>
        </p:nvCxnSpPr>
        <p:spPr>
          <a:xfrm flipH="1">
            <a:off x="3154679" y="3429000"/>
            <a:ext cx="1" cy="603504"/>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446020" y="4050791"/>
            <a:ext cx="1417320" cy="713232"/>
          </a:xfrm>
          <a:prstGeom prst="roundRect">
            <a:avLst>
              <a:gd name="adj" fmla="val 6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46020"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Creator</a:t>
            </a:r>
          </a:p>
        </p:txBody>
      </p:sp>
      <p:sp>
        <p:nvSpPr>
          <p:cNvPr id="21" name="TextBox 20"/>
          <p:cNvSpPr txBox="1"/>
          <p:nvPr/>
        </p:nvSpPr>
        <p:spPr>
          <a:xfrm>
            <a:off x="2500884"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returns copy</a:t>
            </a:r>
          </a:p>
        </p:txBody>
      </p:sp>
      <p:cxnSp>
        <p:nvCxnSpPr>
          <p:cNvPr id="22" name="Connector 21"/>
          <p:cNvCxnSpPr/>
          <p:nvPr/>
        </p:nvCxnSpPr>
        <p:spPr>
          <a:xfrm>
            <a:off x="3154680" y="3429000"/>
            <a:ext cx="1600200" cy="603504"/>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046220" y="4050791"/>
            <a:ext cx="1417320" cy="713232"/>
          </a:xfrm>
          <a:prstGeom prst="roundRect">
            <a:avLst>
              <a:gd name="adj" fmla="val 6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46220"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Designer</a:t>
            </a:r>
          </a:p>
        </p:txBody>
      </p:sp>
      <p:sp>
        <p:nvSpPr>
          <p:cNvPr id="25" name="TextBox 24"/>
          <p:cNvSpPr txBox="1"/>
          <p:nvPr/>
        </p:nvSpPr>
        <p:spPr>
          <a:xfrm>
            <a:off x="4101083"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returns images</a:t>
            </a:r>
          </a:p>
        </p:txBody>
      </p:sp>
      <p:sp>
        <p:nvSpPr>
          <p:cNvPr id="26" name="TextBox 25"/>
          <p:cNvSpPr txBox="1"/>
          <p:nvPr/>
        </p:nvSpPr>
        <p:spPr>
          <a:xfrm>
            <a:off x="777240" y="4892040"/>
            <a:ext cx="4754880" cy="457200"/>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t>Each works in its own context and returns only its result. They do not talk to each other.</a:t>
            </a:r>
          </a:p>
        </p:txBody>
      </p:sp>
      <p:sp>
        <p:nvSpPr>
          <p:cNvPr id="27" name="Rounded Rectangle 26"/>
          <p:cNvSpPr/>
          <p:nvPr/>
        </p:nvSpPr>
        <p:spPr>
          <a:xfrm>
            <a:off x="6035040" y="2084831"/>
            <a:ext cx="5577840" cy="347472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35040" y="2084831"/>
            <a:ext cx="55778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3640" y="2267712"/>
            <a:ext cx="2743200" cy="256032"/>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AGENT TEAM</a:t>
            </a:r>
          </a:p>
        </p:txBody>
      </p:sp>
      <p:sp>
        <p:nvSpPr>
          <p:cNvPr id="30" name="TextBox 29"/>
          <p:cNvSpPr txBox="1"/>
          <p:nvPr/>
        </p:nvSpPr>
        <p:spPr>
          <a:xfrm>
            <a:off x="6263640" y="2523744"/>
            <a:ext cx="5120640" cy="256032"/>
          </a:xfrm>
          <a:prstGeom prst="rect">
            <a:avLst/>
          </a:prstGeom>
          <a:noFill/>
        </p:spPr>
        <p:txBody>
          <a:bodyPr wrap="square" lIns="18288" rIns="18288" tIns="9144" bIns="9144">
            <a:spAutoFit/>
          </a:bodyPr>
          <a:lstStyle/>
          <a:p>
            <a:pPr>
              <a:lnSpc>
                <a:spcPct val="100000"/>
              </a:lnSpc>
              <a:defRPr sz="1100" b="0">
                <a:solidFill>
                  <a:srgbClr val="6B6862"/>
                </a:solidFill>
                <a:latin typeface="Calibri"/>
              </a:defRPr>
            </a:pPr>
            <a:r>
              <a:t>A lead, a shared task list, teammates who talk</a:t>
            </a:r>
          </a:p>
        </p:txBody>
      </p:sp>
      <p:sp>
        <p:nvSpPr>
          <p:cNvPr id="31" name="Rounded Rectangle 30"/>
          <p:cNvSpPr/>
          <p:nvPr/>
        </p:nvSpPr>
        <p:spPr>
          <a:xfrm>
            <a:off x="6355079" y="2862072"/>
            <a:ext cx="1828800" cy="56692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5079" y="2999232"/>
            <a:ext cx="1828800" cy="292608"/>
          </a:xfrm>
          <a:prstGeom prst="rect">
            <a:avLst/>
          </a:prstGeom>
          <a:noFill/>
        </p:spPr>
        <p:txBody>
          <a:bodyPr wrap="square" lIns="18288" rIns="18288" tIns="9144" bIns="9144">
            <a:spAutoFit/>
          </a:bodyPr>
          <a:lstStyle/>
          <a:p>
            <a:pPr algn="ctr">
              <a:lnSpc>
                <a:spcPct val="100000"/>
              </a:lnSpc>
              <a:defRPr sz="1300" b="1">
                <a:solidFill>
                  <a:srgbClr val="FFFFFF"/>
                </a:solidFill>
                <a:latin typeface="Calibri"/>
              </a:defRPr>
            </a:pPr>
            <a:r>
              <a:t>Team Lead</a:t>
            </a:r>
          </a:p>
        </p:txBody>
      </p:sp>
      <p:sp>
        <p:nvSpPr>
          <p:cNvPr id="33" name="Rounded Rectangle 32"/>
          <p:cNvSpPr/>
          <p:nvPr/>
        </p:nvSpPr>
        <p:spPr>
          <a:xfrm>
            <a:off x="8915400" y="2816352"/>
            <a:ext cx="2377440" cy="658368"/>
          </a:xfrm>
          <a:prstGeom prst="roundRect">
            <a:avLst>
              <a:gd name="adj" fmla="val 6000"/>
            </a:avLst>
          </a:prstGeom>
          <a:solidFill>
            <a:srgbClr val="FAF9F5"/>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15400" y="2880360"/>
            <a:ext cx="2377440" cy="237744"/>
          </a:xfrm>
          <a:prstGeom prst="rect">
            <a:avLst/>
          </a:prstGeom>
          <a:noFill/>
        </p:spPr>
        <p:txBody>
          <a:bodyPr wrap="square" lIns="18288" rIns="18288" tIns="9144" bIns="9144">
            <a:spAutoFit/>
          </a:bodyPr>
          <a:lstStyle/>
          <a:p>
            <a:pPr algn="ctr">
              <a:lnSpc>
                <a:spcPct val="100000"/>
              </a:lnSpc>
              <a:defRPr sz="1000" b="1">
                <a:solidFill>
                  <a:srgbClr val="3A7D7B"/>
                </a:solidFill>
                <a:latin typeface="Calibri"/>
              </a:defRPr>
            </a:pPr>
            <a:r>
              <a:t>SHARED TASK LIST</a:t>
            </a:r>
          </a:p>
        </p:txBody>
      </p:sp>
      <p:sp>
        <p:nvSpPr>
          <p:cNvPr id="35" name="TextBox 34"/>
          <p:cNvSpPr txBox="1"/>
          <p:nvPr/>
        </p:nvSpPr>
        <p:spPr>
          <a:xfrm>
            <a:off x="8915400" y="3154679"/>
            <a:ext cx="2377440" cy="237744"/>
          </a:xfrm>
          <a:prstGeom prst="rect">
            <a:avLst/>
          </a:prstGeom>
          <a:noFill/>
        </p:spPr>
        <p:txBody>
          <a:bodyPr wrap="square" lIns="18288" rIns="18288" tIns="9144" bIns="9144">
            <a:spAutoFit/>
          </a:bodyPr>
          <a:lstStyle/>
          <a:p>
            <a:pPr algn="ctr">
              <a:lnSpc>
                <a:spcPct val="100000"/>
              </a:lnSpc>
              <a:defRPr sz="950" b="0">
                <a:solidFill>
                  <a:srgbClr val="6B6862"/>
                </a:solidFill>
                <a:latin typeface="Calibri"/>
              </a:defRPr>
            </a:pPr>
            <a:r>
              <a:t>pending · in progress · done</a:t>
            </a:r>
          </a:p>
        </p:txBody>
      </p:sp>
      <p:cxnSp>
        <p:nvCxnSpPr>
          <p:cNvPr id="36" name="Connector 35"/>
          <p:cNvCxnSpPr/>
          <p:nvPr/>
        </p:nvCxnSpPr>
        <p:spPr>
          <a:xfrm>
            <a:off x="8183879" y="3145536"/>
            <a:ext cx="731521" cy="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7114031" y="3474720"/>
            <a:ext cx="2990089" cy="5577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405371" y="4050791"/>
            <a:ext cx="1417320" cy="71323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5371"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Creator</a:t>
            </a:r>
          </a:p>
        </p:txBody>
      </p:sp>
      <p:sp>
        <p:nvSpPr>
          <p:cNvPr id="40" name="TextBox 39"/>
          <p:cNvSpPr txBox="1"/>
          <p:nvPr/>
        </p:nvSpPr>
        <p:spPr>
          <a:xfrm>
            <a:off x="6460235"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shares hooks</a:t>
            </a:r>
          </a:p>
        </p:txBody>
      </p:sp>
      <p:cxnSp>
        <p:nvCxnSpPr>
          <p:cNvPr id="41" name="Connector 40"/>
          <p:cNvCxnSpPr/>
          <p:nvPr/>
        </p:nvCxnSpPr>
        <p:spPr>
          <a:xfrm flipH="1">
            <a:off x="8823960" y="3474720"/>
            <a:ext cx="1280160" cy="5577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115300" y="4050791"/>
            <a:ext cx="1417320" cy="71323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115300"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Designer</a:t>
            </a:r>
          </a:p>
        </p:txBody>
      </p:sp>
      <p:sp>
        <p:nvSpPr>
          <p:cNvPr id="44" name="TextBox 43"/>
          <p:cNvSpPr txBox="1"/>
          <p:nvPr/>
        </p:nvSpPr>
        <p:spPr>
          <a:xfrm>
            <a:off x="8170164"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asks for copy</a:t>
            </a:r>
          </a:p>
        </p:txBody>
      </p:sp>
      <p:cxnSp>
        <p:nvCxnSpPr>
          <p:cNvPr id="45" name="Connector 44"/>
          <p:cNvCxnSpPr/>
          <p:nvPr/>
        </p:nvCxnSpPr>
        <p:spPr>
          <a:xfrm>
            <a:off x="7840979" y="4617720"/>
            <a:ext cx="256033" cy="0"/>
          </a:xfrm>
          <a:prstGeom prst="line">
            <a:avLst/>
          </a:prstGeom>
          <a:ln w="19050">
            <a:solidFill>
              <a:srgbClr val="5B4B8A"/>
            </a:solidFill>
            <a:prstDash val="dash"/>
            <a:tailEnd type="triangle"/>
            <a:headEnd type="triangle"/>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0104120" y="3474720"/>
            <a:ext cx="429768" cy="557784"/>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9825228" y="4050791"/>
            <a:ext cx="1417320" cy="713232"/>
          </a:xfrm>
          <a:prstGeom prst="roundRect">
            <a:avLst>
              <a:gd name="adj" fmla="val 6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825228" y="4142231"/>
            <a:ext cx="1417320" cy="274320"/>
          </a:xfrm>
          <a:prstGeom prst="rect">
            <a:avLst/>
          </a:prstGeom>
          <a:noFill/>
        </p:spPr>
        <p:txBody>
          <a:bodyPr wrap="square" lIns="18288" rIns="18288" tIns="9144" bIns="9144">
            <a:spAutoFit/>
          </a:bodyPr>
          <a:lstStyle/>
          <a:p>
            <a:pPr algn="ctr">
              <a:lnSpc>
                <a:spcPct val="100000"/>
              </a:lnSpc>
              <a:defRPr sz="1150" b="1">
                <a:solidFill>
                  <a:srgbClr val="FFFFFF"/>
                </a:solidFill>
                <a:latin typeface="Calibri"/>
              </a:defRPr>
            </a:pPr>
            <a:r>
              <a:t>Analyst</a:t>
            </a:r>
          </a:p>
        </p:txBody>
      </p:sp>
      <p:sp>
        <p:nvSpPr>
          <p:cNvPr id="49" name="TextBox 48"/>
          <p:cNvSpPr txBox="1"/>
          <p:nvPr/>
        </p:nvSpPr>
        <p:spPr>
          <a:xfrm>
            <a:off x="9880092" y="4434840"/>
            <a:ext cx="1307592" cy="274320"/>
          </a:xfrm>
          <a:prstGeom prst="rect">
            <a:avLst/>
          </a:prstGeom>
          <a:noFill/>
        </p:spPr>
        <p:txBody>
          <a:bodyPr wrap="square" lIns="18288" rIns="18288" tIns="9144" bIns="9144">
            <a:spAutoFit/>
          </a:bodyPr>
          <a:lstStyle/>
          <a:p>
            <a:pPr algn="ctr">
              <a:lnSpc>
                <a:spcPct val="100000"/>
              </a:lnSpc>
              <a:defRPr sz="950" b="0">
                <a:solidFill>
                  <a:srgbClr val="FFFFFF"/>
                </a:solidFill>
                <a:latin typeface="Calibri"/>
              </a:defRPr>
            </a:pPr>
            <a:r>
              <a:t>flags segments</a:t>
            </a:r>
          </a:p>
        </p:txBody>
      </p:sp>
      <p:cxnSp>
        <p:nvCxnSpPr>
          <p:cNvPr id="50" name="Connector 49"/>
          <p:cNvCxnSpPr/>
          <p:nvPr/>
        </p:nvCxnSpPr>
        <p:spPr>
          <a:xfrm>
            <a:off x="9550907" y="4617720"/>
            <a:ext cx="256033" cy="0"/>
          </a:xfrm>
          <a:prstGeom prst="line">
            <a:avLst/>
          </a:prstGeom>
          <a:ln w="19050">
            <a:solidFill>
              <a:srgbClr val="5B4B8A"/>
            </a:solidFill>
            <a:prstDash val="dash"/>
            <a:tailEnd type="triangle"/>
            <a:headEnd type="triangle"/>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263640" y="4892040"/>
            <a:ext cx="5120640" cy="457200"/>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t>Teammates claim tasks and message each other directly — e.g. a reviewer sends fixes straight to the writer.</a:t>
            </a:r>
          </a:p>
        </p:txBody>
      </p:sp>
      <p:sp>
        <p:nvSpPr>
          <p:cNvPr id="52" name="Rounded Rectangle 51"/>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Use subagents when only the result matters. Use a team when the agents need to talk.</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COORDINATION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Which Pattern When?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From the Claude Code documentation, applied to the team.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109</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93852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p>
        </p:txBody>
      </p:sp>
      <p:sp>
        <p:nvSpPr>
          <p:cNvPr id="10" name="TextBox 9"/>
          <p:cNvSpPr txBox="1"/>
          <p:nvPr/>
        </p:nvSpPr>
        <p:spPr>
          <a:xfrm>
            <a:off x="2962656"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SUBAGENTS</a:t>
            </a:r>
          </a:p>
        </p:txBody>
      </p:sp>
      <p:sp>
        <p:nvSpPr>
          <p:cNvPr id="11" name="TextBox 10"/>
          <p:cNvSpPr txBox="1"/>
          <p:nvPr/>
        </p:nvSpPr>
        <p:spPr>
          <a:xfrm>
            <a:off x="7388352"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AGENT TEAM</a:t>
            </a:r>
          </a:p>
        </p:txBody>
      </p:sp>
      <p:sp>
        <p:nvSpPr>
          <p:cNvPr id="12" name="Rectangle 11"/>
          <p:cNvSpPr/>
          <p:nvPr/>
        </p:nvSpPr>
        <p:spPr>
          <a:xfrm>
            <a:off x="548640" y="2560320"/>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Talks to</a:t>
            </a:r>
          </a:p>
        </p:txBody>
      </p:sp>
      <p:sp>
        <p:nvSpPr>
          <p:cNvPr id="14" name="TextBox 13"/>
          <p:cNvSpPr txBox="1"/>
          <p:nvPr/>
        </p:nvSpPr>
        <p:spPr>
          <a:xfrm>
            <a:off x="2962656" y="2560320"/>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Returns a result to the Lead</a:t>
            </a:r>
          </a:p>
        </p:txBody>
      </p:sp>
      <p:sp>
        <p:nvSpPr>
          <p:cNvPr id="15" name="TextBox 14"/>
          <p:cNvSpPr txBox="1"/>
          <p:nvPr/>
        </p:nvSpPr>
        <p:spPr>
          <a:xfrm>
            <a:off x="7388352" y="2560320"/>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Teammates message each other directly</a:t>
            </a:r>
          </a:p>
        </p:txBody>
      </p:sp>
      <p:sp>
        <p:nvSpPr>
          <p:cNvPr id="16" name="TextBox 15"/>
          <p:cNvSpPr txBox="1"/>
          <p:nvPr/>
        </p:nvSpPr>
        <p:spPr>
          <a:xfrm>
            <a:off x="749808" y="3189427"/>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Coordination</a:t>
            </a:r>
          </a:p>
        </p:txBody>
      </p:sp>
      <p:sp>
        <p:nvSpPr>
          <p:cNvPr id="17" name="TextBox 16"/>
          <p:cNvSpPr txBox="1"/>
          <p:nvPr/>
        </p:nvSpPr>
        <p:spPr>
          <a:xfrm>
            <a:off x="2962656" y="3189427"/>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Lead manages everything</a:t>
            </a:r>
          </a:p>
        </p:txBody>
      </p:sp>
      <p:sp>
        <p:nvSpPr>
          <p:cNvPr id="18" name="TextBox 17"/>
          <p:cNvSpPr txBox="1"/>
          <p:nvPr/>
        </p:nvSpPr>
        <p:spPr>
          <a:xfrm>
            <a:off x="7388352" y="3189427"/>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 shared task list; teammates claim tasks</a:t>
            </a:r>
          </a:p>
        </p:txBody>
      </p:sp>
      <p:sp>
        <p:nvSpPr>
          <p:cNvPr id="19" name="Rectangle 18"/>
          <p:cNvSpPr/>
          <p:nvPr/>
        </p:nvSpPr>
        <p:spPr>
          <a:xfrm>
            <a:off x="548640" y="3818534"/>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818534"/>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Best for</a:t>
            </a:r>
          </a:p>
        </p:txBody>
      </p:sp>
      <p:sp>
        <p:nvSpPr>
          <p:cNvPr id="21" name="TextBox 20"/>
          <p:cNvSpPr txBox="1"/>
          <p:nvPr/>
        </p:nvSpPr>
        <p:spPr>
          <a:xfrm>
            <a:off x="2962656" y="3818534"/>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Research, analysis, one-off reviews</a:t>
            </a:r>
          </a:p>
        </p:txBody>
      </p:sp>
      <p:sp>
        <p:nvSpPr>
          <p:cNvPr id="22" name="TextBox 21"/>
          <p:cNvSpPr txBox="1"/>
          <p:nvPr/>
        </p:nvSpPr>
        <p:spPr>
          <a:xfrm>
            <a:off x="7388352" y="3818534"/>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Copy ↔ design ↔ review loops</a:t>
            </a:r>
          </a:p>
        </p:txBody>
      </p:sp>
      <p:sp>
        <p:nvSpPr>
          <p:cNvPr id="23" name="TextBox 22"/>
          <p:cNvSpPr txBox="1"/>
          <p:nvPr/>
        </p:nvSpPr>
        <p:spPr>
          <a:xfrm>
            <a:off x="749808" y="4447641"/>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Cost</a:t>
            </a:r>
          </a:p>
        </p:txBody>
      </p:sp>
      <p:sp>
        <p:nvSpPr>
          <p:cNvPr id="24" name="TextBox 23"/>
          <p:cNvSpPr txBox="1"/>
          <p:nvPr/>
        </p:nvSpPr>
        <p:spPr>
          <a:xfrm>
            <a:off x="2962656" y="4447641"/>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Lower: results are summarised back</a:t>
            </a:r>
          </a:p>
        </p:txBody>
      </p:sp>
      <p:sp>
        <p:nvSpPr>
          <p:cNvPr id="25" name="TextBox 24"/>
          <p:cNvSpPr txBox="1"/>
          <p:nvPr/>
        </p:nvSpPr>
        <p:spPr>
          <a:xfrm>
            <a:off x="7388352" y="4447641"/>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Higher: every teammate is its own Claude session</a:t>
            </a:r>
          </a:p>
        </p:txBody>
      </p:sp>
      <p:sp>
        <p:nvSpPr>
          <p:cNvPr id="26" name="Rectangle 25"/>
          <p:cNvSpPr/>
          <p:nvPr/>
        </p:nvSpPr>
        <p:spPr>
          <a:xfrm>
            <a:off x="548640" y="5076748"/>
            <a:ext cx="11064240" cy="62910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5076748"/>
            <a:ext cx="1938528" cy="629107"/>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Campaigns</a:t>
            </a:r>
          </a:p>
        </p:txBody>
      </p:sp>
      <p:sp>
        <p:nvSpPr>
          <p:cNvPr id="28" name="TextBox 27"/>
          <p:cNvSpPr txBox="1"/>
          <p:nvPr/>
        </p:nvSpPr>
        <p:spPr>
          <a:xfrm>
            <a:off x="2962656" y="5076748"/>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5 (and sub-agents in Claude: Labs 6, 15)</a:t>
            </a:r>
          </a:p>
        </p:txBody>
      </p:sp>
      <p:sp>
        <p:nvSpPr>
          <p:cNvPr id="29" name="TextBox 28"/>
          <p:cNvSpPr txBox="1"/>
          <p:nvPr/>
        </p:nvSpPr>
        <p:spPr>
          <a:xfrm>
            <a:off x="7388352" y="5076748"/>
            <a:ext cx="4151376" cy="629107"/>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10, 11, 12</a:t>
            </a:r>
          </a:p>
        </p:txBody>
      </p:sp>
      <p:sp>
        <p:nvSpPr>
          <p:cNvPr id="30" name="Rounded Rectangle 29"/>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Agent teams are experimental; your studio folder already has them switched on.</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AGENT TEAMS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Running an Agent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In Claude Code. Describe the team in plain words.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110</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Already on</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Your studio folder switches agent teams on — nothing to set.</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Name the agent types</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"Spawn teammates using the agent types content-creator and creative-designer."</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Watch</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 ↓ and Enter open a teammate; Ctrl+T shows the task list.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Steer</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Message any teammate directly; tell the Lead to wait.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Shut down</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"Ask the teammates to shut down" when done.</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Teammates load CLAUDE.md, skills and connectors — but not the Lead's conversation. One team per session.</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HUMAN IN THE LOOP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Human in the Loop, Enforced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 rule in a prompt persuades. The publisher kit builds a gate that holds.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111</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Only people approve</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You type "approved &lt;id&gt; by &lt;your name&gt;". The gate reads your own message — an agent cannot write one.</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approved words go out</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approval stores a hash. Edit one word and publish --live refuses until a person approves again.</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A hook stops agents</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gate blocks agents from approving, editing the approval records, or publishing unapproved items.</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THE GATE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the Gate Works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Already in your studio folder. You never run it — you just type.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112</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Submit</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Lead puts a checked piece up for review.</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 read</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post, the image, the email or the video.</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 type</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"approved &lt;id&gt; by &lt;your name&gt;" — or "changes &lt;id&gt;: what to fix".</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Recorded</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Your name, the time and a fingerprint of the exact words.</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Publish</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Only approved, unchanged pieces. Edit one word and it needs you again.</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The gate is a hook: it reads your own message, and blocks any agent that tries to approve or publish on its own.</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DISTRIBUTION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Publishing APIs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publish.mjs is a dry run by default. Tokens live only in .env.</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113</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1495958"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CHANNEL</a:t>
            </a:r>
          </a:p>
        </p:txBody>
      </p:sp>
      <p:sp>
        <p:nvSpPr>
          <p:cNvPr id="10" name="TextBox 9"/>
          <p:cNvSpPr txBox="1"/>
          <p:nvPr/>
        </p:nvSpPr>
        <p:spPr>
          <a:xfrm>
            <a:off x="2520086" y="2203703"/>
            <a:ext cx="481523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ENDPOINT</a:t>
            </a:r>
          </a:p>
        </p:txBody>
      </p:sp>
      <p:sp>
        <p:nvSpPr>
          <p:cNvPr id="11" name="TextBox 10"/>
          <p:cNvSpPr txBox="1"/>
          <p:nvPr/>
        </p:nvSpPr>
        <p:spPr>
          <a:xfrm>
            <a:off x="7609636" y="2203703"/>
            <a:ext cx="393009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PERMISSION</a:t>
            </a:r>
          </a:p>
        </p:txBody>
      </p:sp>
      <p:sp>
        <p:nvSpPr>
          <p:cNvPr id="12" name="Rectangle 11"/>
          <p:cNvSpPr/>
          <p:nvPr/>
        </p:nvSpPr>
        <p:spPr>
          <a:xfrm>
            <a:off x="548640" y="2560320"/>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LinkedIn</a:t>
            </a:r>
          </a:p>
        </p:txBody>
      </p:sp>
      <p:sp>
        <p:nvSpPr>
          <p:cNvPr id="14" name="TextBox 13"/>
          <p:cNvSpPr txBox="1"/>
          <p:nvPr/>
        </p:nvSpPr>
        <p:spPr>
          <a:xfrm>
            <a:off x="2520086" y="2560320"/>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 api.linkedin.com/rest/posts  (LinkedIn-Version: YYYYMM)</a:t>
            </a:r>
          </a:p>
        </p:txBody>
      </p:sp>
      <p:sp>
        <p:nvSpPr>
          <p:cNvPr id="15" name="TextBox 14"/>
          <p:cNvSpPr txBox="1"/>
          <p:nvPr/>
        </p:nvSpPr>
        <p:spPr>
          <a:xfrm>
            <a:off x="7609636" y="2560320"/>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w_member_social — your own profile</a:t>
            </a:r>
          </a:p>
        </p:txBody>
      </p:sp>
      <p:sp>
        <p:nvSpPr>
          <p:cNvPr id="16" name="TextBox 15"/>
          <p:cNvSpPr txBox="1"/>
          <p:nvPr/>
        </p:nvSpPr>
        <p:spPr>
          <a:xfrm>
            <a:off x="749808" y="3273552"/>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Facebook</a:t>
            </a:r>
          </a:p>
        </p:txBody>
      </p:sp>
      <p:sp>
        <p:nvSpPr>
          <p:cNvPr id="17" name="TextBox 16"/>
          <p:cNvSpPr txBox="1"/>
          <p:nvPr/>
        </p:nvSpPr>
        <p:spPr>
          <a:xfrm>
            <a:off x="2520086" y="3273552"/>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POST graph.facebook.com/&lt;version&gt;/&lt;page-id&gt;/feed</a:t>
            </a:r>
          </a:p>
        </p:txBody>
      </p:sp>
      <p:sp>
        <p:nvSpPr>
          <p:cNvPr id="18" name="TextBox 17"/>
          <p:cNvSpPr txBox="1"/>
          <p:nvPr/>
        </p:nvSpPr>
        <p:spPr>
          <a:xfrm>
            <a:off x="7609636" y="3273552"/>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Page token: pages_manage_posts</a:t>
            </a:r>
          </a:p>
        </p:txBody>
      </p:sp>
      <p:sp>
        <p:nvSpPr>
          <p:cNvPr id="19" name="Rectangle 18"/>
          <p:cNvSpPr/>
          <p:nvPr/>
        </p:nvSpPr>
        <p:spPr>
          <a:xfrm>
            <a:off x="548640" y="3986784"/>
            <a:ext cx="11064240" cy="7132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986784"/>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YouTube</a:t>
            </a:r>
          </a:p>
        </p:txBody>
      </p:sp>
      <p:sp>
        <p:nvSpPr>
          <p:cNvPr id="21" name="TextBox 20"/>
          <p:cNvSpPr txBox="1"/>
          <p:nvPr/>
        </p:nvSpPr>
        <p:spPr>
          <a:xfrm>
            <a:off x="2520086" y="3986784"/>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Resumable upload to youtube/v3/videos, privacy private</a:t>
            </a:r>
          </a:p>
        </p:txBody>
      </p:sp>
      <p:sp>
        <p:nvSpPr>
          <p:cNvPr id="22" name="TextBox 21"/>
          <p:cNvSpPr txBox="1"/>
          <p:nvPr/>
        </p:nvSpPr>
        <p:spPr>
          <a:xfrm>
            <a:off x="7609636" y="3986784"/>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youtube.upload; unaudited projects stay private</a:t>
            </a:r>
          </a:p>
        </p:txBody>
      </p:sp>
      <p:sp>
        <p:nvSpPr>
          <p:cNvPr id="23" name="TextBox 22"/>
          <p:cNvSpPr txBox="1"/>
          <p:nvPr/>
        </p:nvSpPr>
        <p:spPr>
          <a:xfrm>
            <a:off x="749808" y="4700016"/>
            <a:ext cx="1495958" cy="71323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Newsletter</a:t>
            </a:r>
          </a:p>
        </p:txBody>
      </p:sp>
      <p:sp>
        <p:nvSpPr>
          <p:cNvPr id="24" name="TextBox 23"/>
          <p:cNvSpPr txBox="1"/>
          <p:nvPr/>
        </p:nvSpPr>
        <p:spPr>
          <a:xfrm>
            <a:off x="2520086" y="4700016"/>
            <a:ext cx="4815230"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No API — HTML + text files, then Gmail drafts</a:t>
            </a:r>
          </a:p>
        </p:txBody>
      </p:sp>
      <p:sp>
        <p:nvSpPr>
          <p:cNvPr id="25" name="TextBox 24"/>
          <p:cNvSpPr txBox="1"/>
          <p:nvPr/>
        </p:nvSpPr>
        <p:spPr>
          <a:xfrm>
            <a:off x="7609636" y="4700016"/>
            <a:ext cx="3930091" cy="71323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Consent = yes, unsubscribed = no</a:t>
            </a:r>
          </a:p>
        </p:txBody>
      </p:sp>
      <p:sp>
        <p:nvSpPr>
          <p:cNvPr id="26" name="Rounded Rectangle 25"/>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No accounts? Every lab works in dry-run mode: you see the exact request that would be sent.</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PROTOCOLS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Protocols at Each Interface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Two components integrate only when both accept the same protocol at the interface between them.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114</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INTERFACE</a:t>
            </a:r>
          </a:p>
        </p:txBody>
      </p:sp>
      <p:sp>
        <p:nvSpPr>
          <p:cNvPr id="10" name="TextBox 9"/>
          <p:cNvSpPr txBox="1"/>
          <p:nvPr/>
        </p:nvSpPr>
        <p:spPr>
          <a:xfrm>
            <a:off x="3626510" y="2203703"/>
            <a:ext cx="393009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PROTOCOL</a:t>
            </a:r>
          </a:p>
        </p:txBody>
      </p:sp>
      <p:sp>
        <p:nvSpPr>
          <p:cNvPr id="11" name="TextBox 10"/>
          <p:cNvSpPr txBox="1"/>
          <p:nvPr/>
        </p:nvSpPr>
        <p:spPr>
          <a:xfrm>
            <a:off x="7830921" y="2203703"/>
            <a:ext cx="370880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ACCEPTED WHEN</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 connectors</a:t>
            </a:r>
          </a:p>
        </p:txBody>
      </p:sp>
      <p:sp>
        <p:nvSpPr>
          <p:cNvPr id="14" name="TextBox 13"/>
          <p:cNvSpPr txBox="1"/>
          <p:nvPr/>
        </p:nvSpPr>
        <p:spPr>
          <a:xfrm>
            <a:off x="3626510" y="2560320"/>
            <a:ext cx="393009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MCP (Model Context Protocol), JSON-RPC</a:t>
            </a:r>
          </a:p>
        </p:txBody>
      </p:sp>
      <p:sp>
        <p:nvSpPr>
          <p:cNvPr id="15" name="TextBox 14"/>
          <p:cNvSpPr txBox="1"/>
          <p:nvPr/>
        </p:nvSpPr>
        <p:spPr>
          <a:xfrm>
            <a:off x="7830921" y="2560320"/>
            <a:ext cx="370880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Listed in /mcp; the agent's tools line names it</a:t>
            </a:r>
          </a:p>
        </p:txBody>
      </p:sp>
      <p:sp>
        <p:nvSpPr>
          <p:cNvPr id="16" name="TextBox 15"/>
          <p:cNvSpPr txBox="1"/>
          <p:nvPr/>
        </p:nvSpPr>
        <p:spPr>
          <a:xfrm>
            <a:off x="749808" y="3084575"/>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You ↔ Google</a:t>
            </a:r>
          </a:p>
        </p:txBody>
      </p:sp>
      <p:sp>
        <p:nvSpPr>
          <p:cNvPr id="17" name="TextBox 16"/>
          <p:cNvSpPr txBox="1"/>
          <p:nvPr/>
        </p:nvSpPr>
        <p:spPr>
          <a:xfrm>
            <a:off x="3626510" y="3084575"/>
            <a:ext cx="393009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OAuth 2.0 sign-in with scopes</a:t>
            </a:r>
          </a:p>
        </p:txBody>
      </p:sp>
      <p:sp>
        <p:nvSpPr>
          <p:cNvPr id="18" name="TextBox 17"/>
          <p:cNvSpPr txBox="1"/>
          <p:nvPr/>
        </p:nvSpPr>
        <p:spPr>
          <a:xfrm>
            <a:off x="7830921" y="3084575"/>
            <a:ext cx="370880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Your own account; the scope covers the job</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Publisher ↔ platforms</a:t>
            </a:r>
          </a:p>
        </p:txBody>
      </p:sp>
      <p:sp>
        <p:nvSpPr>
          <p:cNvPr id="21" name="TextBox 20"/>
          <p:cNvSpPr txBox="1"/>
          <p:nvPr/>
        </p:nvSpPr>
        <p:spPr>
          <a:xfrm>
            <a:off x="3626510" y="3608831"/>
            <a:ext cx="393009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HTTPS REST + JSON, bearer token</a:t>
            </a:r>
          </a:p>
        </p:txBody>
      </p:sp>
      <p:sp>
        <p:nvSpPr>
          <p:cNvPr id="22" name="TextBox 21"/>
          <p:cNvSpPr txBox="1"/>
          <p:nvPr/>
        </p:nvSpPr>
        <p:spPr>
          <a:xfrm>
            <a:off x="7830921" y="3608831"/>
            <a:ext cx="370880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Right version header; token in .env only</a:t>
            </a:r>
          </a:p>
        </p:txBody>
      </p:sp>
      <p:sp>
        <p:nvSpPr>
          <p:cNvPr id="23" name="TextBox 22"/>
          <p:cNvSpPr txBox="1"/>
          <p:nvPr/>
        </p:nvSpPr>
        <p:spPr>
          <a:xfrm>
            <a:off x="749808" y="4133087"/>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Claude ↔ the gate</a:t>
            </a:r>
          </a:p>
        </p:txBody>
      </p:sp>
      <p:sp>
        <p:nvSpPr>
          <p:cNvPr id="24" name="TextBox 23"/>
          <p:cNvSpPr txBox="1"/>
          <p:nvPr/>
        </p:nvSpPr>
        <p:spPr>
          <a:xfrm>
            <a:off x="3626510" y="4133087"/>
            <a:ext cx="393009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Hook: JSON on stdin, exit code</a:t>
            </a:r>
          </a:p>
        </p:txBody>
      </p:sp>
      <p:sp>
        <p:nvSpPr>
          <p:cNvPr id="25" name="TextBox 24"/>
          <p:cNvSpPr txBox="1"/>
          <p:nvPr/>
        </p:nvSpPr>
        <p:spPr>
          <a:xfrm>
            <a:off x="7830921" y="4133087"/>
            <a:ext cx="370880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Exit 2 blocks the call and says why</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Agents ↔ files</a:t>
            </a:r>
          </a:p>
        </p:txBody>
      </p:sp>
      <p:sp>
        <p:nvSpPr>
          <p:cNvPr id="28" name="TextBox 27"/>
          <p:cNvSpPr txBox="1"/>
          <p:nvPr/>
        </p:nvSpPr>
        <p:spPr>
          <a:xfrm>
            <a:off x="3626510" y="4657344"/>
            <a:ext cx="393009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Markdown + YAML frontmatter; CSV UTF-8</a:t>
            </a:r>
          </a:p>
        </p:txBody>
      </p:sp>
      <p:sp>
        <p:nvSpPr>
          <p:cNvPr id="29" name="TextBox 28"/>
          <p:cNvSpPr txBox="1"/>
          <p:nvPr/>
        </p:nvSpPr>
        <p:spPr>
          <a:xfrm>
            <a:off x="7830921" y="4657344"/>
            <a:ext cx="370880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Required fields present; columns match</a:t>
            </a:r>
          </a:p>
        </p:txBody>
      </p:sp>
      <p:sp>
        <p:nvSpPr>
          <p:cNvPr id="30" name="TextBox 29"/>
          <p:cNvSpPr txBox="1"/>
          <p:nvPr/>
        </p:nvSpPr>
        <p:spPr>
          <a:xfrm>
            <a:off x="749808" y="5181599"/>
            <a:ext cx="2602382"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Site ↔ browser</a:t>
            </a:r>
          </a:p>
        </p:txBody>
      </p:sp>
      <p:sp>
        <p:nvSpPr>
          <p:cNvPr id="31" name="TextBox 30"/>
          <p:cNvSpPr txBox="1"/>
          <p:nvPr/>
        </p:nvSpPr>
        <p:spPr>
          <a:xfrm>
            <a:off x="3626510" y="5181599"/>
            <a:ext cx="393009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HTTP on localhost:8080</a:t>
            </a:r>
          </a:p>
        </p:txBody>
      </p:sp>
      <p:sp>
        <p:nvSpPr>
          <p:cNvPr id="32" name="TextBox 31"/>
          <p:cNvSpPr txBox="1"/>
          <p:nvPr/>
        </p:nvSpPr>
        <p:spPr>
          <a:xfrm>
            <a:off x="7830921" y="5181599"/>
            <a:ext cx="3708806"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Page opens; links carry UTM tags</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Protocol mismatches show up as errors at the interface — not in the model's answer.</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ERRORS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Signs of Integration Errors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Most failures announce themselves. Read the sign, then go to the interface it points at.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115</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370880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SIGN</a:t>
            </a:r>
          </a:p>
        </p:txBody>
      </p:sp>
      <p:sp>
        <p:nvSpPr>
          <p:cNvPr id="10" name="TextBox 9"/>
          <p:cNvSpPr txBox="1"/>
          <p:nvPr/>
        </p:nvSpPr>
        <p:spPr>
          <a:xfrm>
            <a:off x="4732934" y="2203703"/>
            <a:ext cx="348752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LIKELY CAUSE</a:t>
            </a:r>
          </a:p>
        </p:txBody>
      </p:sp>
      <p:sp>
        <p:nvSpPr>
          <p:cNvPr id="11" name="TextBox 10"/>
          <p:cNvSpPr txBox="1"/>
          <p:nvPr/>
        </p:nvSpPr>
        <p:spPr>
          <a:xfrm>
            <a:off x="8494776" y="2203703"/>
            <a:ext cx="304495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WHERE TO LOOK</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370880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"I have no Drive tool"</a:t>
            </a:r>
          </a:p>
        </p:txBody>
      </p:sp>
      <p:sp>
        <p:nvSpPr>
          <p:cNvPr id="14" name="TextBox 13"/>
          <p:cNvSpPr txBox="1"/>
          <p:nvPr/>
        </p:nvSpPr>
        <p:spPr>
          <a:xfrm>
            <a:off x="4732934" y="2560320"/>
            <a:ext cx="348752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Connector not on the tools line, or an old session</a:t>
            </a:r>
          </a:p>
        </p:txBody>
      </p:sp>
      <p:sp>
        <p:nvSpPr>
          <p:cNvPr id="15" name="TextBox 14"/>
          <p:cNvSpPr txBox="1"/>
          <p:nvPr/>
        </p:nvSpPr>
        <p:spPr>
          <a:xfrm>
            <a:off x="8494776" y="2560320"/>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Agent file; /mcp; new session</a:t>
            </a:r>
          </a:p>
        </p:txBody>
      </p:sp>
      <p:sp>
        <p:nvSpPr>
          <p:cNvPr id="16" name="TextBox 15"/>
          <p:cNvSpPr txBox="1"/>
          <p:nvPr/>
        </p:nvSpPr>
        <p:spPr>
          <a:xfrm>
            <a:off x="749808" y="3084575"/>
            <a:ext cx="370880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"Insufficient scope" / 403</a:t>
            </a:r>
          </a:p>
        </p:txBody>
      </p:sp>
      <p:sp>
        <p:nvSpPr>
          <p:cNvPr id="17" name="TextBox 16"/>
          <p:cNvSpPr txBox="1"/>
          <p:nvPr/>
        </p:nvSpPr>
        <p:spPr>
          <a:xfrm>
            <a:off x="4732934" y="3084575"/>
            <a:ext cx="348752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Signed in without the access the job needs</a:t>
            </a:r>
          </a:p>
        </p:txBody>
      </p:sp>
      <p:sp>
        <p:nvSpPr>
          <p:cNvPr id="18" name="TextBox 17"/>
          <p:cNvSpPr txBox="1"/>
          <p:nvPr/>
        </p:nvSpPr>
        <p:spPr>
          <a:xfrm>
            <a:off x="8494776" y="3084575"/>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Reconnect; grant the scope</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370880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 figure not on the facts sheet</a:t>
            </a:r>
          </a:p>
        </p:txBody>
      </p:sp>
      <p:sp>
        <p:nvSpPr>
          <p:cNvPr id="21" name="TextBox 20"/>
          <p:cNvSpPr txBox="1"/>
          <p:nvPr/>
        </p:nvSpPr>
        <p:spPr>
          <a:xfrm>
            <a:off x="4732934" y="3608831"/>
            <a:ext cx="348752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agent used memory, not data/</a:t>
            </a:r>
          </a:p>
        </p:txBody>
      </p:sp>
      <p:sp>
        <p:nvSpPr>
          <p:cNvPr id="22" name="TextBox 21"/>
          <p:cNvSpPr txBox="1"/>
          <p:nvPr/>
        </p:nvSpPr>
        <p:spPr>
          <a:xfrm>
            <a:off x="8494776" y="3608831"/>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the source file</a:t>
            </a:r>
          </a:p>
        </p:txBody>
      </p:sp>
      <p:sp>
        <p:nvSpPr>
          <p:cNvPr id="23" name="TextBox 22"/>
          <p:cNvSpPr txBox="1"/>
          <p:nvPr/>
        </p:nvSpPr>
        <p:spPr>
          <a:xfrm>
            <a:off x="749808" y="4133087"/>
            <a:ext cx="370880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40 recipients, not 31</a:t>
            </a:r>
          </a:p>
        </p:txBody>
      </p:sp>
      <p:sp>
        <p:nvSpPr>
          <p:cNvPr id="24" name="TextBox 23"/>
          <p:cNvSpPr txBox="1"/>
          <p:nvPr/>
        </p:nvSpPr>
        <p:spPr>
          <a:xfrm>
            <a:off x="4732934" y="4133087"/>
            <a:ext cx="348752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consent filter was not applied</a:t>
            </a:r>
          </a:p>
        </p:txBody>
      </p:sp>
      <p:sp>
        <p:nvSpPr>
          <p:cNvPr id="25" name="TextBox 24"/>
          <p:cNvSpPr txBox="1"/>
          <p:nvPr/>
        </p:nvSpPr>
        <p:spPr>
          <a:xfrm>
            <a:off x="8494776" y="4133087"/>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contacts CSV columns</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370880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Publish refused: hash mismatch</a:t>
            </a:r>
          </a:p>
        </p:txBody>
      </p:sp>
      <p:sp>
        <p:nvSpPr>
          <p:cNvPr id="28" name="TextBox 27"/>
          <p:cNvSpPr txBox="1"/>
          <p:nvPr/>
        </p:nvSpPr>
        <p:spPr>
          <a:xfrm>
            <a:off x="4732934" y="4657344"/>
            <a:ext cx="348752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words changed after approval</a:t>
            </a:r>
          </a:p>
        </p:txBody>
      </p:sp>
      <p:sp>
        <p:nvSpPr>
          <p:cNvPr id="29" name="TextBox 28"/>
          <p:cNvSpPr txBox="1"/>
          <p:nvPr/>
        </p:nvSpPr>
        <p:spPr>
          <a:xfrm>
            <a:off x="8494776" y="4657344"/>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approvals.csv; approve again</a:t>
            </a:r>
          </a:p>
        </p:txBody>
      </p:sp>
      <p:sp>
        <p:nvSpPr>
          <p:cNvPr id="30" name="TextBox 29"/>
          <p:cNvSpPr txBox="1"/>
          <p:nvPr/>
        </p:nvSpPr>
        <p:spPr>
          <a:xfrm>
            <a:off x="749808" y="5181599"/>
            <a:ext cx="3708806"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Garbled S$ or dates</a:t>
            </a:r>
          </a:p>
        </p:txBody>
      </p:sp>
      <p:sp>
        <p:nvSpPr>
          <p:cNvPr id="31" name="TextBox 30"/>
          <p:cNvSpPr txBox="1"/>
          <p:nvPr/>
        </p:nvSpPr>
        <p:spPr>
          <a:xfrm>
            <a:off x="4732934" y="5181599"/>
            <a:ext cx="3487521"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Wrong encoding or date format</a:t>
            </a:r>
          </a:p>
        </p:txBody>
      </p:sp>
      <p:sp>
        <p:nvSpPr>
          <p:cNvPr id="32" name="TextBox 31"/>
          <p:cNvSpPr txBox="1"/>
          <p:nvPr/>
        </p:nvSpPr>
        <p:spPr>
          <a:xfrm>
            <a:off x="8494776" y="5181599"/>
            <a:ext cx="304495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Open the CSV; re-save as UTF-8</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 refusal from the gate is the integration working — not a bug.</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CAMPAIGN 2</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A Social Media Week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10, a demo: one LinkedIn and one Facebook post, each with a visual.</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116</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Reads the brief and the calendar; assigns the posts.</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Content Creator</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Two posts with hooks, UTM links, disclaimers.</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Creative Designer</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image per post, with alt text.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 review</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fact-check and fin-compliance; fixes go back.</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You</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Approve on the review page and paste the line in the chat; then post it yourself (or, optionally, through the API).</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117</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10</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~60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Week 1 of the campaign starts Monday. As a demo, one LinkedIn post and one Facebook post, each with a visual — and Rachel's one rule: nothing goes out unless a person approved that exact version.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two posts with images, reviewed, approved by you and posted by you (or, optionally, through the API)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(agent team) → LinkedIn, Facebook</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publisher kit and its hook · an agent team: creator, designer, Lead · teammates message each other · human approval → you post</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118</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10".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Test the gate  </a:t>
            </a:r>
            <a:r>
              <a:rPr sz="1300">
                <a:solidFill>
                  <a:srgbClr val="6B6862"/>
                </a:solidFill>
                <a:latin typeface="Calibri"/>
              </a:rPr>
              <a:t>Ask Claude to approve a post itself. The gate (set up in your folder since Lab 1) must block it.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Start the team  </a:t>
            </a:r>
            <a:r>
              <a:rPr sz="1300">
                <a:solidFill>
                  <a:srgbClr val="6B6862"/>
                </a:solidFill>
                <a:latin typeface="Calibri"/>
              </a:rPr>
              <a:t>Copy and paste Prompt A. The Lead starts two teammates and tells you as each one starts and finishes.</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Watch them talk  </a:t>
            </a:r>
            <a:r>
              <a:rPr sz="1300">
                <a:solidFill>
                  <a:srgbClr val="6B6862"/>
                </a:solidFill>
                <a:latin typeface="Calibri"/>
              </a:rPr>
              <a:t>The review page opens with a Team chat: the designer asking the creator for each hook, and the Lead's fixes.</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as a person  </a:t>
            </a:r>
            <a:r>
              <a:rPr sz="1300">
                <a:solidFill>
                  <a:srgbClr val="6B6862"/>
                </a:solidFill>
                <a:latin typeface="Calibri"/>
              </a:rPr>
              <a:t>Review in the artifact or the review email. Click Approve or Request changes, then Copy and paste into the chat.</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Get ready to post  </a:t>
            </a:r>
            <a:r>
              <a:rPr sz="1300">
                <a:solidFill>
                  <a:srgbClr val="6B6862"/>
                </a:solidFill>
                <a:latin typeface="Calibri"/>
              </a:rPr>
              <a:t>After you have approved the posts, copy and paste Prompt B. Each post gets a Copy button, and the folder with the two images opens.</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Post it yourself  </a:t>
            </a:r>
            <a:r>
              <a:rPr sz="1300">
                <a:solidFill>
                  <a:srgbClr val="6B6862"/>
                </a:solidFill>
                <a:latin typeface="Calibri"/>
              </a:rPr>
              <a:t>Paste the text, add the image, Post — on LinkedIn and a test Facebook Page. Or stop at the preview.</a:t>
            </a:r>
          </a:p>
        </p:txBody>
      </p:sp>
      <p:sp>
        <p:nvSpPr>
          <p:cNvPr id="22" name="Oval 21"/>
          <p:cNvSpPr/>
          <p:nvPr/>
        </p:nvSpPr>
        <p:spPr>
          <a:xfrm>
            <a:off x="621792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8</a:t>
            </a:r>
          </a:p>
        </p:txBody>
      </p:sp>
      <p:sp>
        <p:nvSpPr>
          <p:cNvPr id="23" name="TextBox 22"/>
          <p:cNvSpPr txBox="1"/>
          <p:nvPr/>
        </p:nvSpPr>
        <p:spPr>
          <a:xfrm>
            <a:off x="674827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Optional: post through the apps  </a:t>
            </a:r>
            <a:r>
              <a:rPr sz="1300">
                <a:solidFill>
                  <a:srgbClr val="6B6862"/>
                </a:solidFill>
                <a:latin typeface="Calibri"/>
              </a:rPr>
              <a:t>Follow "Optional: post through LinkedIn and Facebook" in this lab's README.</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119</a:t>
            </a:r>
          </a:p>
        </p:txBody>
      </p:sp>
      <p:sp>
        <p:nvSpPr>
          <p:cNvPr id="7" name="Rounded Rectangle 6"/>
          <p:cNvSpPr/>
          <p:nvPr/>
        </p:nvSpPr>
        <p:spPr>
          <a:xfrm>
            <a:off x="548640" y="1783080"/>
            <a:ext cx="11064240" cy="443484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social team</a:t>
            </a:r>
          </a:p>
        </p:txBody>
      </p:sp>
      <p:sp>
        <p:nvSpPr>
          <p:cNvPr id="9" name="TextBox 8"/>
          <p:cNvSpPr txBox="1"/>
          <p:nvPr/>
        </p:nvSpPr>
        <p:spPr>
          <a:xfrm>
            <a:off x="822960" y="2313432"/>
            <a:ext cx="10515600" cy="3694874"/>
          </a:xfrm>
          <a:prstGeom prst="rect">
            <a:avLst/>
          </a:prstGeom>
          <a:noFill/>
        </p:spPr>
        <p:txBody>
          <a:bodyPr wrap="square" lIns="18288" rIns="18288" tIns="9144" bIns="9144">
            <a:spAutoFit/>
          </a:bodyPr>
          <a:lstStyle/>
          <a:p>
            <a:pPr>
              <a:lnSpc>
                <a:spcPct val="110000"/>
              </a:lnSpc>
              <a:defRPr sz="1250" b="0">
                <a:solidFill>
                  <a:srgbClr val="21201C"/>
                </a:solidFill>
                <a:latin typeface="Calibri"/>
              </a:defRPr>
            </a:pPr>
            <a:r>
              <a:t>Create an agent team for Week 1 social from data/social-brief.md and strategy/calendar.csv. Spawn two teammates using the agent types content-creator and creative-designer; you are the Lead.</a:t>
            </a:r>
          </a:p>
          <a:p>
            <a:pPr>
              <a:lnSpc>
                <a:spcPct val="110000"/>
              </a:lnSpc>
              <a:defRPr sz="1250" b="0">
                <a:solidFill>
                  <a:srgbClr val="21201C"/>
                </a:solidFill>
                <a:latin typeface="Calibri"/>
              </a:defRPr>
            </a:pPr>
            <a:r>
              <a:t>- content-creator: 1 LinkedIn + 1 Facebook post with linkedin-post, facebook-post and copywriting, one file each in content/social/week-01/, with the frontmatter in data/publishing-spec.md. Each post links to my website, http://localhost:8080/, with UTM tags.</a:t>
            </a:r>
          </a:p>
          <a:p>
            <a:pPr>
              <a:lnSpc>
                <a:spcPct val="110000"/>
              </a:lnSpc>
              <a:defRPr sz="1250" b="0">
                <a:solidFill>
                  <a:srgbClr val="21201C"/>
                </a:solidFill>
                <a:latin typeface="Calibri"/>
              </a:defRPr>
            </a:pPr>
            <a:r>
              <a:t>- creative-designer: one image per post (a rendered card in Horizon colours: LinkedIn 1200 x 627, Facebook 1080 x 1080) with alt text; message the creator for each post's hook before designing. Save each as a PNG beside its post and fill in the post's image and alt lines.</a:t>
            </a:r>
          </a:p>
          <a:p>
            <a:pPr>
              <a:lnSpc>
                <a:spcPct val="110000"/>
              </a:lnSpc>
              <a:defRPr sz="1250" b="0">
                <a:solidFill>
                  <a:srgbClr val="21201C"/>
                </a:solidFill>
                <a:latin typeface="Calibri"/>
              </a:defRPr>
            </a:pPr>
            <a:r>
              <a:t>- You: fact-check and fin-compliance on every post and image; message fixes to the teammate who owns it. Before you start, ask me how I will review: in the artifact, or by email (then ask for the approver's address). When a post passes, submit it for review with scripts/submit.mjs. Publish the two posts as an artifact. At the top, a Team chat: the messages the teammates and you sent each other, in order, each with who sent it. Then each post as it will look in the feed, with its image and alt text; under each post put two working buttons (JavaScript): Approve turns the card green; Request changes opens a box for my note. A bar at the bottom asks my name once, builds the exact lines to paste in the chat ("approved &lt;id&gt; by &lt;name&gt;", "changes &lt;id&gt;: &lt;note&gt;") and has a Copy button that says "Copied - now paste it in the chat". Keep the lines on screen in case copying is blocked. If I chose email, send ONE review email to the approver with Gmail: the artifact link and what passed the checks. Send nothing else; publish nothing. Write for a business owner, in plain English: no codes, IDs, file names or line numbers; start with what it means and what I do next. Save a Word copy (.docx) of each result.</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120</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ready to post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For each Week 1 post approved in review/approvals.csv, publish a "ready to post" artifact: the post text with a Copy button, its image, and the steps to post it by hand on LinkedIn or our Facebook Page. Then open the folder with the two images on my computer. Publish nothing yourself.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Subagents report to one boss; teammates also talk to each other. A designer who can ask the writer for the hook makes a better image.</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121</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Which post do you expect to do best,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did the Lead send back to the writer,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Is anything here not ready to post? Explain in plain English.</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10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2: Social Media Posts (Demo)</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122</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gate stopped Claude from approving.</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Two teammates ran; the Lead said when each started and finished.</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Team chat shows the designer and the creator messaging each other.</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Two posts with images from the designer, alt text and UTM links.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reviewed in the artifact or by email and pasted the approval in the chat; the rows show your name and a hash.</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posted the approved text and image yourself (or, optionally, through the API after you said go).</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CAMPAIGN 3</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11: three specialists, one email and one page, consent first.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123</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Content Creator</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issue and the landing-page copy.</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Website Designer</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checklist page, page-qa, then a Claude artifact.</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Growth Analyst</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Recipients by consent: 31 of 40.</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Lead</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Checks everything; the build waits for you.</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Drafts</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Gmail drafts — one to you to test. Nothing sent.</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CONSENT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Consent Decides Who Gets Mail</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The PDPA, applied by an agent that counts.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124</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Opt-in only</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consent = yes and unsubscribed = no. Everyone else goes to excluded.csv with a reason.</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Every email carries</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An unsubscribe link, Horizon's address and the short disclaimer.</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page collects little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Name, email, a required consent box, a separate unticked newsletter opt-in.</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125</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11</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~60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Sunny Sunday email books chats most cheaply. November's issue promotes a new landing page for the free checklist — and must reach only the 31 people who opted in.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November newsletter, its recipient list, the landing page published, and Gmail drafts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(agent team) → Claude artifact, Gmail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creator writes, website designer builds the lead-magnet page, analyst filters by consent, the Lead checks · drafts only</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126</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11".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Start the campaign  </a:t>
            </a:r>
            <a:r>
              <a:rPr sz="1300">
                <a:solidFill>
                  <a:srgbClr val="6B6862"/>
                </a:solidFill>
                <a:latin typeface="Calibri"/>
              </a:rPr>
              <a:t>Copy and paste Prompt A.</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words  </a:t>
            </a:r>
            <a:r>
              <a:rPr sz="1300">
                <a:solidFill>
                  <a:srgbClr val="6B6862"/>
                </a:solidFill>
                <a:latin typeface="Calibri"/>
              </a:rPr>
              <a:t>Review the issue in the artifact (or the review email's link). Click Approve or Request changes, then Copy and paste into the chat.</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Publish the page  </a:t>
            </a:r>
            <a:r>
              <a:rPr sz="1300">
                <a:solidFill>
                  <a:srgbClr val="6B6862"/>
                </a:solidFill>
                <a:latin typeface="Calibri"/>
              </a:rPr>
              <a:t>The website designer runs page-qa and publishes web/checklist/ as a Claude artifact.</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list  </a:t>
            </a:r>
            <a:r>
              <a:rPr sz="1300">
                <a:solidFill>
                  <a:srgbClr val="6B6862"/>
                </a:solidFill>
                <a:latin typeface="Calibri"/>
              </a:rPr>
              <a:t>Only people with consent = yes and unsubscribed = no are on the recipient list.</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Create the drafts  </a:t>
            </a:r>
            <a:r>
              <a:rPr sz="1300">
                <a:solidFill>
                  <a:srgbClr val="6B6862"/>
                </a:solidFill>
                <a:latin typeface="Calibri"/>
              </a:rPr>
              <a:t>After the page is published and the list checked, copy and paste Prompt B.</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Send one test  </a:t>
            </a:r>
            <a:r>
              <a:rPr sz="1300">
                <a:solidFill>
                  <a:srgbClr val="6B6862"/>
                </a:solidFill>
                <a:latin typeface="Calibri"/>
              </a:rPr>
              <a:t>Send only the draft addressed to yourself, and read it on your phone.</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127</a:t>
            </a:r>
          </a:p>
        </p:txBody>
      </p:sp>
      <p:sp>
        <p:nvSpPr>
          <p:cNvPr id="7" name="Rounded Rectangle 6"/>
          <p:cNvSpPr/>
          <p:nvPr/>
        </p:nvSpPr>
        <p:spPr>
          <a:xfrm>
            <a:off x="548640" y="1783080"/>
            <a:ext cx="11064240" cy="443484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newsletter team</a:t>
            </a:r>
          </a:p>
        </p:txBody>
      </p:sp>
      <p:sp>
        <p:nvSpPr>
          <p:cNvPr id="9" name="TextBox 8"/>
          <p:cNvSpPr txBox="1"/>
          <p:nvPr/>
        </p:nvSpPr>
        <p:spPr>
          <a:xfrm>
            <a:off x="822960" y="2313432"/>
            <a:ext cx="10515600" cy="3822700"/>
          </a:xfrm>
          <a:prstGeom prst="rect">
            <a:avLst/>
          </a:prstGeom>
          <a:noFill/>
        </p:spPr>
        <p:txBody>
          <a:bodyPr wrap="square" lIns="18288" rIns="18288" tIns="9144" bIns="9144">
            <a:spAutoFit/>
          </a:bodyPr>
          <a:lstStyle/>
          <a:p>
            <a:pPr>
              <a:lnSpc>
                <a:spcPct val="110000"/>
              </a:lnSpc>
              <a:defRPr sz="1380" b="0">
                <a:solidFill>
                  <a:srgbClr val="21201C"/>
                </a:solidFill>
                <a:latin typeface="Calibri"/>
              </a:defRPr>
            </a:pPr>
            <a:r>
              <a:t>Create an agent team for the November Sunny Sunday email (data/newsletter-brief.md, data/newsletter-spec.md) and its landing page (data/landing-page-brief.md). Spawn three teammates:</a:t>
            </a:r>
          </a:p>
          <a:p>
            <a:pPr>
              <a:lnSpc>
                <a:spcPct val="110000"/>
              </a:lnSpc>
              <a:defRPr sz="1380" b="0">
                <a:solidFill>
                  <a:srgbClr val="21201C"/>
                </a:solidFill>
                <a:latin typeface="Calibri"/>
              </a:defRPr>
            </a:pPr>
            <a:r>
              <a:t>content-creator, website-designer and growth-analyst.</a:t>
            </a:r>
          </a:p>
          <a:p>
            <a:pPr>
              <a:lnSpc>
                <a:spcPct val="110000"/>
              </a:lnSpc>
              <a:defRPr sz="1380" b="0">
                <a:solidFill>
                  <a:srgbClr val="21201C"/>
                </a:solidFill>
                <a:latin typeface="Calibri"/>
              </a:defRPr>
            </a:pPr>
            <a:r>
              <a:t>- content-creator: issue.md (id nl-2026-11) with newsletter, and the landing-page copy.</a:t>
            </a:r>
          </a:p>
          <a:p>
            <a:pPr>
              <a:lnSpc>
                <a:spcPct val="110000"/>
              </a:lnSpc>
              <a:defRPr sz="1380" b="0">
                <a:solidFill>
                  <a:srgbClr val="21201C"/>
                </a:solidFill>
                <a:latin typeface="Calibri"/>
              </a:defRPr>
            </a:pPr>
            <a:r>
              <a:t>- website-designer: web/checklist/index.html with lead-magnet, web-design and landing-page from the approved copy; page-qa.</a:t>
            </a:r>
          </a:p>
          <a:p>
            <a:pPr>
              <a:lnSpc>
                <a:spcPct val="110000"/>
              </a:lnSpc>
              <a:defRPr sz="1380" b="0">
                <a:solidFill>
                  <a:srgbClr val="21201C"/>
                </a:solidFill>
                <a:latin typeface="Calibri"/>
              </a:defRPr>
            </a:pPr>
            <a:r>
              <a:t>- growth-analyst: recipients.csv and excluded.csv from data/subscribers.csv. Before you start, ask me how I will review: in the artifact, or by email (then ask for the approver's address). You check everything, then submit nl-2026-11 and publish the issue as an artifact, laid out as the email, with the counts of recipients and excluded, and two working buttons (JavaScript): Approve turns the page green; Request changes opens a box for my note. A bar at the bottom asks my name once, builds the exact line to paste in the chat ("approved &lt;id&gt; by &lt;name&gt;" or "changes &lt;id&gt;: &lt;note&gt;") and has a Copy button that says "Copied - now paste it in the chat". Keep the line on screen in case copying is blocked. If I chose email, send ONE review email to the approver with Gmail: the artifact link and what passed the checks. Only after I approve, build newsletter.html and .txt and publish the page as an artifact. Write for a business owner, in plain English: no codes, IDs, file names or line numbers; start with what it means and what I do next. Save a Word copy (.docx) of each result.</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128</a:t>
            </a:r>
          </a:p>
        </p:txBody>
      </p:sp>
      <p:sp>
        <p:nvSpPr>
          <p:cNvPr id="7" name="Rounded Rectangle 6"/>
          <p:cNvSpPr/>
          <p:nvPr/>
        </p:nvSpPr>
        <p:spPr>
          <a:xfrm>
            <a:off x="548640" y="1783080"/>
            <a:ext cx="11064240" cy="1692173"/>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Gmail drafts</a:t>
            </a:r>
          </a:p>
        </p:txBody>
      </p:sp>
      <p:sp>
        <p:nvSpPr>
          <p:cNvPr id="9" name="TextBox 8"/>
          <p:cNvSpPr txBox="1"/>
          <p:nvPr/>
        </p:nvSpPr>
        <p:spPr>
          <a:xfrm>
            <a:off x="822960" y="2313432"/>
            <a:ext cx="10515600" cy="942365"/>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Using the Gmail connector, create a DRAFT of newsletter.html for each address in recipients.csv, plus one draft addressed to me only. Send nothing. Publish a report as an artifact: how many drafts, how many people were excluded, and why, in a table.</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Consent decides who gets mail — not the agent and not the deadline. Marketing to people who did not opt in breaks the PDPA.</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129</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Explain the email in three sentences. What do we want readers to do?</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Who was left off the mailing list, and why?</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did the landing-page check look at, and did it pass?</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11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3: Newsletter and a Landing Page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130</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Three specialists worked on the campaign; the Lead checked all.</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reviewed nl-2026-11 in the artifact or by email and approved it in the chat before the build.</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landing page passed page-qa and is published.</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recipient list holds 31 people; 9 are excluded, with reasons.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email has unsubscribe, address and disclaimer.</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Drafts only — nothing was sent to the list.</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CAMPAIGN 4</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12: the team writes and designs; you approve twice.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131</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Strategist and Creator</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angle, then 5–7 scenes with words on screen and a description with chapters and an AI disclosure.</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Creative Designer</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Storyboard, thumbnail, then the render with video-render — ffmpeg, 1920×1080, under 90 s.</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Upload privately</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Approve the words, then the finished video. It uploads as private; a person makes it public.</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132</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12</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Pre-retirees say they would rather watch than read. Rachel wants the first 'Money in Plain English' video, uploaded privately until she has watched it.</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script, storyboard and thumbnail, the video, and a private YouTube upload (or dry run)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(agent team, render, upload)</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strategist angle · creator script · designer storyboard, thumbnail and render · approve twice · private upload</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133</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12".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Script it as a team  </a:t>
            </a:r>
            <a:r>
              <a:rPr sz="1300">
                <a:solidFill>
                  <a:srgbClr val="6B6862"/>
                </a:solidFill>
                <a:latin typeface="Calibri"/>
              </a:rPr>
              <a:t>Copy and paste Prompt A.</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script  </a:t>
            </a:r>
            <a:r>
              <a:rPr sz="1300">
                <a:solidFill>
                  <a:srgbClr val="6B6862"/>
                </a:solidFill>
                <a:latin typeface="Calibri"/>
              </a:rPr>
              <a:t>Read the scenes, title and description in the storyboard artifact; type: approved yt-ep01-script by &lt;your name&gt;.</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Render it  </a:t>
            </a:r>
            <a:r>
              <a:rPr sz="1300">
                <a:solidFill>
                  <a:srgbClr val="6B6862"/>
                </a:solidFill>
                <a:latin typeface="Calibri"/>
              </a:rPr>
              <a:t>After you approve the script, copy and paste Prompt B. The designer runs video-render.</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the video  </a:t>
            </a:r>
            <a:r>
              <a:rPr sz="1300">
                <a:solidFill>
                  <a:srgbClr val="6B6862"/>
                </a:solidFill>
                <a:latin typeface="Calibri"/>
              </a:rPr>
              <a:t>Ask the Lead to submit the video, watch ep01.mp4 to the end, then approve yt-ep01.</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Upload  </a:t>
            </a:r>
            <a:r>
              <a:rPr sz="1300">
                <a:solidFill>
                  <a:srgbClr val="6B6862"/>
                </a:solidFill>
                <a:latin typeface="Calibri"/>
              </a:rPr>
              <a:t>After you approve the video, copy and paste Prompt C. It goes up as private.</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Disclose  </a:t>
            </a:r>
            <a:r>
              <a:rPr sz="1300">
                <a:solidFill>
                  <a:srgbClr val="6B6862"/>
                </a:solidFill>
                <a:latin typeface="Calibri"/>
              </a:rPr>
              <a:t>In YouTube Studio, answer the altered or synthetic content question before making it public.</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134</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video team</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Create an agent team for YouTube episode 1 from data/youtube-brief.md. Spawn three teammates:</a:t>
            </a:r>
          </a:p>
          <a:p>
            <a:pPr>
              <a:lnSpc>
                <a:spcPct val="110000"/>
              </a:lnSpc>
              <a:defRPr sz="1700" b="0">
                <a:solidFill>
                  <a:srgbClr val="21201C"/>
                </a:solidFill>
                <a:latin typeface="Calibri"/>
              </a:defRPr>
            </a:pPr>
            <a:r>
              <a:t>growth-strategist (the angle and hook), content-creator (content/video/ep01/scenes.json, 5-7 scenes, and ep01.md with title, tags, description, chapters and the AI disclosure) and creative-designer (a storyboard of the scenes and a thumbnail, using brand-visuals). You fact-check and fin-compliance the script, then submit it as yt-ep01-script. Publish nothing. Publish the storyboard as an artifact: one frame per scene with its words, visual and timing, and the thumbnail. Write for a business owner, in plain English: no codes, IDs, file names or line numbers; start with what it means and what I do next. Save a Word copy (.docx) of each result.</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135</a:t>
            </a:r>
          </a:p>
        </p:txBody>
      </p:sp>
      <p:sp>
        <p:nvSpPr>
          <p:cNvPr id="7" name="Rounded Rectangle 6"/>
          <p:cNvSpPr/>
          <p:nvPr/>
        </p:nvSpPr>
        <p:spPr>
          <a:xfrm>
            <a:off x="548640" y="1783080"/>
            <a:ext cx="11064240" cy="3140862"/>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PROMPTS B and C — Claude Code: render and upload</a:t>
            </a:r>
          </a:p>
        </p:txBody>
      </p:sp>
      <p:sp>
        <p:nvSpPr>
          <p:cNvPr id="9" name="TextBox 8"/>
          <p:cNvSpPr txBox="1"/>
          <p:nvPr/>
        </p:nvSpPr>
        <p:spPr>
          <a:xfrm>
            <a:off x="822960" y="2313432"/>
            <a:ext cx="10515600" cy="2391054"/>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PROMPT B</a:t>
            </a:r>
          </a:p>
          <a:p>
            <a:pPr>
              <a:lnSpc>
                <a:spcPct val="110000"/>
              </a:lnSpc>
              <a:defRPr sz="1700" b="0">
                <a:solidFill>
                  <a:srgbClr val="21201C"/>
                </a:solidFill>
                <a:latin typeface="Calibri"/>
              </a:defRPr>
            </a:pPr>
            <a:r>
              <a:t>Use the creative-designer subagent with video-render on the approved scenes.json → content/video/ep01/ep01.mp4 (data/video-spec.md). Check its length and size. Do not change approved words. Publish the checks as an artifact: length, size, resolution and every scene, PASS or FAIL.</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PROMPT C</a:t>
            </a:r>
          </a:p>
          <a:p>
            <a:pPr>
              <a:lnSpc>
                <a:spcPct val="110000"/>
              </a:lnSpc>
              <a:defRPr sz="1700" b="0">
                <a:solidFill>
                  <a:srgbClr val="21201C"/>
                </a:solidFill>
                <a:latin typeface="Calibri"/>
              </a:defRPr>
            </a:pPr>
            <a:r>
              <a:t>Do a dry run of the YouTube upload for yt-ep01 (scripts/publish.mjs). If I say "go", upload it for real — as PRIVATE. Publish the request, then the YouTube Studio link, as an artifact.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Approve twice: once for the words, once for the finished video. Rendering can break what the script got right.</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136</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Walk me through the video scene by scene, in plain English.</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figure on screen should I double-check, and against what?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does the AI disclosure say, and why do we need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12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4: The YouTube Explainer</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137</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strategist, creator and designer each delivered their part.</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the script, then the finished video.</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ep01.mp4 is 1920x1080, under 90 seconds, every scene present.</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Every figure on screen matches Horizon's 2026 facts.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description has chapters, link, disclaimer and AI disclosure.</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upload is private (or the dry run printed the request).</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2 · RECAP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Where You Are Now</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Seven labs, each an integration test: every piece checked by the Lead and approved by a person. But how do you change the team safely?</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138</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Tested  ·  Labs 6–9</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Data paths: personas, cadence, the blog on your site, Gmail drafts and the checklist page.</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Troubleshot  ·  Labs 10–12</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gate, the consent filter, the render and the APIs — and the signs when they break.</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What is next</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Fix and improve without breaking what works: methods, versions, change proposals. That is Topic 3.</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66928" y="868680"/>
            <a:ext cx="10058400" cy="310896"/>
          </a:xfrm>
          <a:prstGeom prst="rect">
            <a:avLst/>
          </a:prstGeom>
          <a:noFill/>
        </p:spPr>
        <p:txBody>
          <a:bodyPr wrap="square" lIns="18288" rIns="18288" tIns="9144" bIns="9144">
            <a:spAutoFit/>
          </a:bodyPr>
          <a:lstStyle/>
          <a:p>
            <a:pPr>
              <a:lnSpc>
                <a:spcPct val="100000"/>
              </a:lnSpc>
              <a:defRPr sz="1300" b="1">
                <a:solidFill>
                  <a:srgbClr val="D97757"/>
                </a:solidFill>
                <a:latin typeface="Calibri"/>
              </a:defRPr>
            </a:pPr>
            <a:r>
              <a:t>TOPIC 3</a:t>
            </a:r>
          </a:p>
        </p:txBody>
      </p:sp>
      <p:sp>
        <p:nvSpPr>
          <p:cNvPr id="3" name="TextBox 2"/>
          <p:cNvSpPr txBox="1"/>
          <p:nvPr/>
        </p:nvSpPr>
        <p:spPr>
          <a:xfrm>
            <a:off x="548640" y="1261872"/>
            <a:ext cx="10881360" cy="1097280"/>
          </a:xfrm>
          <a:prstGeom prst="rect">
            <a:avLst/>
          </a:prstGeom>
          <a:noFill/>
        </p:spPr>
        <p:txBody>
          <a:bodyPr wrap="square" lIns="18288" rIns="18288" tIns="9144" bIns="9144">
            <a:spAutoFit/>
          </a:bodyPr>
          <a:lstStyle/>
          <a:p>
            <a:pPr>
              <a:lnSpc>
                <a:spcPct val="95000"/>
              </a:lnSpc>
              <a:defRPr sz="3100" b="0">
                <a:solidFill>
                  <a:srgbClr val="FFFFFF"/>
                </a:solidFill>
                <a:latin typeface="Cambria"/>
              </a:defRPr>
            </a:pPr>
            <a:r>
              <a:t>Versioning, Change Proposals and Integration Best Practices</a:t>
            </a:r>
          </a:p>
        </p:txBody>
      </p:sp>
      <p:sp>
        <p:nvSpPr>
          <p:cNvPr id="4" name="Rectangle 3"/>
          <p:cNvSpPr/>
          <p:nvPr/>
        </p:nvSpPr>
        <p:spPr>
          <a:xfrm>
            <a:off x="585216" y="2578608"/>
            <a:ext cx="1051560" cy="777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3504" y="2971800"/>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1</a:t>
            </a:r>
          </a:p>
        </p:txBody>
      </p:sp>
      <p:sp>
        <p:nvSpPr>
          <p:cNvPr id="6" name="TextBox 5"/>
          <p:cNvSpPr txBox="1"/>
          <p:nvPr/>
        </p:nvSpPr>
        <p:spPr>
          <a:xfrm>
            <a:off x="1280160" y="2990088"/>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Troubleshooting methodologies</a:t>
            </a:r>
          </a:p>
        </p:txBody>
      </p:sp>
      <p:sp>
        <p:nvSpPr>
          <p:cNvPr id="7" name="Oval 6"/>
          <p:cNvSpPr/>
          <p:nvPr/>
        </p:nvSpPr>
        <p:spPr>
          <a:xfrm>
            <a:off x="603504" y="3648456"/>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2</a:t>
            </a:r>
          </a:p>
        </p:txBody>
      </p:sp>
      <p:sp>
        <p:nvSpPr>
          <p:cNvPr id="8" name="TextBox 7"/>
          <p:cNvSpPr txBox="1"/>
          <p:nvPr/>
        </p:nvSpPr>
        <p:spPr>
          <a:xfrm>
            <a:off x="1280160" y="3666744"/>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Always on: from skill to schedule</a:t>
            </a:r>
          </a:p>
        </p:txBody>
      </p:sp>
      <p:sp>
        <p:nvSpPr>
          <p:cNvPr id="9" name="Oval 8"/>
          <p:cNvSpPr/>
          <p:nvPr/>
        </p:nvSpPr>
        <p:spPr>
          <a:xfrm>
            <a:off x="603504" y="4325112"/>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3</a:t>
            </a:r>
          </a:p>
        </p:txBody>
      </p:sp>
      <p:sp>
        <p:nvSpPr>
          <p:cNvPr id="10" name="TextBox 9"/>
          <p:cNvSpPr txBox="1"/>
          <p:nvPr/>
        </p:nvSpPr>
        <p:spPr>
          <a:xfrm>
            <a:off x="1280160" y="4343400"/>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Responsible AI; measure what matters</a:t>
            </a:r>
          </a:p>
        </p:txBody>
      </p:sp>
      <p:sp>
        <p:nvSpPr>
          <p:cNvPr id="11" name="Oval 10"/>
          <p:cNvSpPr/>
          <p:nvPr/>
        </p:nvSpPr>
        <p:spPr>
          <a:xfrm>
            <a:off x="603504" y="5001768"/>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4</a:t>
            </a:r>
          </a:p>
        </p:txBody>
      </p:sp>
      <p:sp>
        <p:nvSpPr>
          <p:cNvPr id="12" name="TextBox 11"/>
          <p:cNvSpPr txBox="1"/>
          <p:nvPr/>
        </p:nvSpPr>
        <p:spPr>
          <a:xfrm>
            <a:off x="1280160" y="5020056"/>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Version the team; propose a change; roll back</a:t>
            </a:r>
          </a:p>
        </p:txBody>
      </p:sp>
      <p:sp>
        <p:nvSpPr>
          <p:cNvPr id="13" name="Oval 12"/>
          <p:cNvSpPr/>
          <p:nvPr/>
        </p:nvSpPr>
        <p:spPr>
          <a:xfrm>
            <a:off x="603504" y="5678424"/>
            <a:ext cx="457200" cy="4572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500" b="1">
                <a:solidFill>
                  <a:srgbClr val="FFFFFF"/>
                </a:solidFill>
                <a:latin typeface="Cambria"/>
              </a:defRPr>
            </a:pPr>
            <a:r>
              <a:t>5</a:t>
            </a:r>
          </a:p>
        </p:txBody>
      </p:sp>
      <p:sp>
        <p:nvSpPr>
          <p:cNvPr id="14" name="TextBox 13"/>
          <p:cNvSpPr txBox="1"/>
          <p:nvPr/>
        </p:nvSpPr>
        <p:spPr>
          <a:xfrm>
            <a:off x="1280160" y="5696712"/>
            <a:ext cx="9966960" cy="438912"/>
          </a:xfrm>
          <a:prstGeom prst="rect">
            <a:avLst/>
          </a:prstGeom>
          <a:noFill/>
        </p:spPr>
        <p:txBody>
          <a:bodyPr wrap="square" lIns="18288" rIns="18288" tIns="9144" bIns="9144" anchor="ctr">
            <a:spAutoFit/>
          </a:bodyPr>
          <a:lstStyle/>
          <a:p>
            <a:pPr>
              <a:lnSpc>
                <a:spcPct val="100000"/>
              </a:lnSpc>
              <a:defRPr sz="1900" b="0">
                <a:solidFill>
                  <a:srgbClr val="E8E5DE"/>
                </a:solidFill>
                <a:latin typeface="Calibri"/>
              </a:defRPr>
            </a:pPr>
            <a:r>
              <a:t>Agent teams at work: argue a strategy, then a QA loop</a:t>
            </a:r>
          </a:p>
        </p:txBody>
      </p:sp>
      <p:sp>
        <p:nvSpPr>
          <p:cNvPr id="15" name="TextBox 1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C9C4B9"/>
                </a:solidFill>
                <a:latin typeface="Calibri"/>
              </a:defRPr>
            </a:pPr>
            <a:r>
              <a:t>© Tertiary Infotech Academy Pte Ltd</a:t>
            </a:r>
          </a:p>
        </p:txBody>
      </p:sp>
      <p:sp>
        <p:nvSpPr>
          <p:cNvPr id="16" name="TextBox 1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C9C4B9"/>
                </a:solidFill>
                <a:latin typeface="Calibri"/>
              </a:defRPr>
            </a:pPr>
            <a:r>
              <a:t>C141 · Claude AI for Digital Marketing</a:t>
            </a:r>
          </a:p>
        </p:txBody>
      </p:sp>
      <p:sp>
        <p:nvSpPr>
          <p:cNvPr id="17" name="TextBox 1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TROUBLESHOOTING</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Troubleshooting Method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Guessing changes three things and fixes none. A method changes one thing and proves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140</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Reproduce</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Make it fail again on purpose, with the same input.</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Isolate</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component at a time: /mcp, /status, one small test per agent.</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Inspect the interface</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Format, protocol, account and scope — where the two parts meet.</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Fix one thing</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smallest change that could explain the fault.</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Retest and record</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Run the same test; log the cause and the fix in the playbook.</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In Lab 15 the QA Auditor runs this loop: fail, fix, audit again — three rounds at most.</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TROUBLESHOOTING</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Five Ways to Find the Fault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Classic integration troubleshooting methods, applied to Horizon's team.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141</a:t>
            </a:r>
          </a:p>
        </p:txBody>
      </p:sp>
      <p:sp>
        <p:nvSpPr>
          <p:cNvPr id="8" name="Rounded Rectangle 7"/>
          <p:cNvSpPr/>
          <p:nvPr/>
        </p:nvSpPr>
        <p:spPr>
          <a:xfrm>
            <a:off x="548640"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Top-down</a:t>
            </a:r>
          </a:p>
        </p:txBody>
      </p:sp>
      <p:sp>
        <p:nvSpPr>
          <p:cNvPr id="11" name="TextBox 10"/>
          <p:cNvSpPr txBox="1"/>
          <p:nvPr/>
        </p:nvSpPr>
        <p:spPr>
          <a:xfrm>
            <a:off x="786384"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Start from the symptom — a wrong post — and trace back: Lead, agent, skill, data.</a:t>
            </a:r>
          </a:p>
        </p:txBody>
      </p:sp>
      <p:sp>
        <p:nvSpPr>
          <p:cNvPr id="12" name="Rounded Rectangle 11"/>
          <p:cNvSpPr/>
          <p:nvPr/>
        </p:nvSpPr>
        <p:spPr>
          <a:xfrm>
            <a:off x="4309872"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Bottom-up</a:t>
            </a:r>
          </a:p>
        </p:txBody>
      </p:sp>
      <p:sp>
        <p:nvSpPr>
          <p:cNvPr id="15" name="TextBox 14"/>
          <p:cNvSpPr txBox="1"/>
          <p:nvPr/>
        </p:nvSpPr>
        <p:spPr>
          <a:xfrm>
            <a:off x="4547615"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Test the lowest layer first: is the connector signed in? Does the file open? Then build up.</a:t>
            </a:r>
          </a:p>
        </p:txBody>
      </p:sp>
      <p:sp>
        <p:nvSpPr>
          <p:cNvPr id="16" name="Rounded Rectangle 15"/>
          <p:cNvSpPr/>
          <p:nvPr/>
        </p:nvSpPr>
        <p:spPr>
          <a:xfrm>
            <a:off x="8071104"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Divide and conquer</a:t>
            </a:r>
          </a:p>
        </p:txBody>
      </p:sp>
      <p:sp>
        <p:nvSpPr>
          <p:cNvPr id="19" name="TextBox 18"/>
          <p:cNvSpPr txBox="1"/>
          <p:nvPr/>
        </p:nvSpPr>
        <p:spPr>
          <a:xfrm>
            <a:off x="8308847"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Test the middle of the chain: did the analyst's list have 31 people before Gmail?</a:t>
            </a:r>
          </a:p>
        </p:txBody>
      </p:sp>
      <p:sp>
        <p:nvSpPr>
          <p:cNvPr id="20" name="Rounded Rectangle 19"/>
          <p:cNvSpPr/>
          <p:nvPr/>
        </p:nvSpPr>
        <p:spPr>
          <a:xfrm>
            <a:off x="548640"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Swap a known-good part</a:t>
            </a:r>
          </a:p>
        </p:txBody>
      </p:sp>
      <p:sp>
        <p:nvSpPr>
          <p:cNvPr id="23" name="TextBox 22"/>
          <p:cNvSpPr txBox="1"/>
          <p:nvPr/>
        </p:nvSpPr>
        <p:spPr>
          <a:xfrm>
            <a:off x="786384"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Use a sample you trust — e.g. sample-explainer.mp4 for the upload test.</a:t>
            </a:r>
          </a:p>
        </p:txBody>
      </p:sp>
      <p:sp>
        <p:nvSpPr>
          <p:cNvPr id="24" name="Rounded Rectangle 23"/>
          <p:cNvSpPr/>
          <p:nvPr/>
        </p:nvSpPr>
        <p:spPr>
          <a:xfrm>
            <a:off x="4309872"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09872"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7615"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Compare with the baseline</a:t>
            </a:r>
          </a:p>
        </p:txBody>
      </p:sp>
      <p:sp>
        <p:nvSpPr>
          <p:cNvPr id="27" name="TextBox 26"/>
          <p:cNvSpPr txBox="1"/>
          <p:nvPr/>
        </p:nvSpPr>
        <p:spPr>
          <a:xfrm>
            <a:off x="4547615"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What changed since it last worked? Version history shows the exact difference.</a:t>
            </a:r>
          </a:p>
        </p:txBody>
      </p:sp>
      <p:sp>
        <p:nvSpPr>
          <p:cNvPr id="28" name="Rounded Rectangle 27"/>
          <p:cNvSpPr/>
          <p:nvPr/>
        </p:nvSpPr>
        <p:spPr>
          <a:xfrm>
            <a:off x="8071104"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71104"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08847"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Escalate with evidence</a:t>
            </a:r>
          </a:p>
        </p:txBody>
      </p:sp>
      <p:sp>
        <p:nvSpPr>
          <p:cNvPr id="31" name="TextBox 30"/>
          <p:cNvSpPr txBox="1"/>
          <p:nvPr/>
        </p:nvSpPr>
        <p:spPr>
          <a:xfrm>
            <a:off x="8308847"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After three rounds, hand a person the test, the result and what you tried.</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ALWAYS 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From Skill to Schedule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13: do the job once, keep it as a skill, let a schedule run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142</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Do</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The Growth Analyst writes the weekly report once, from Drive.</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Verify</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Fix the sections until the report is right.</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Skill</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campaign-report holds the procedure.</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Schedule</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scheduled task runs it every Monday at 8am.</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Review</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It leaves a Gmail draft — a person decides.</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Pause scheduled tasks you are not using.</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ALWAYS 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Automate the Preparation, Not the Decision</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What a scheduled agent should and should not do for a regulated firm.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143</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Prepare</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Read the data, run the skill, draft the report, flag what needs a decision.</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Draft, never send</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Write "draft only — never send, publish or approve" in the skill AND the schedule.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Keep a human gate</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schedule fills an inbox. A named person still decides.</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144</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13</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~45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The team must keep working after class. Rachel wants the Growth Analyst's report in her inbox every Monday — as a draft she decides on.</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a scheduled task that drafts the weekly growth report every Monday at 8am, and one draft in Gmail</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(skill, routine, Drive, Gmail)</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the Growth Analyst's campaign-report skill · do · verify · schedule · draft-only delivery</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145</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New session  </a:t>
            </a:r>
            <a:r>
              <a:rPr sz="1550">
                <a:solidFill>
                  <a:srgbClr val="6B6862"/>
                </a:solidFill>
                <a:latin typeface="Calibri"/>
              </a:rPr>
              <a:t>Left sidebar: click + next to horizon-studio. Click the session title at the top and rename it "Lab 13". Run all of this lab's prompts in it.</a:t>
            </a:r>
          </a:p>
        </p:txBody>
      </p:sp>
      <p:sp>
        <p:nvSpPr>
          <p:cNvPr id="10" name="Oval 9"/>
          <p:cNvSpPr/>
          <p:nvPr/>
        </p:nvSpPr>
        <p:spPr>
          <a:xfrm>
            <a:off x="548640" y="2902305"/>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65729"/>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Do it once  </a:t>
            </a:r>
            <a:r>
              <a:rPr sz="1550">
                <a:solidFill>
                  <a:srgbClr val="6B6862"/>
                </a:solidFill>
                <a:latin typeface="Calibri"/>
              </a:rPr>
              <a:t>Copy and paste Prompt A. Refine the report until it is right.</a:t>
            </a:r>
          </a:p>
        </p:txBody>
      </p:sp>
      <p:sp>
        <p:nvSpPr>
          <p:cNvPr id="12" name="Oval 11"/>
          <p:cNvSpPr/>
          <p:nvPr/>
        </p:nvSpPr>
        <p:spPr>
          <a:xfrm>
            <a:off x="548640" y="36832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46627"/>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Schedule it  </a:t>
            </a:r>
            <a:r>
              <a:rPr sz="1550">
                <a:solidFill>
                  <a:srgbClr val="6B6862"/>
                </a:solidFill>
                <a:latin typeface="Calibri"/>
              </a:rPr>
              <a:t>After the report is right, copy and paste Prompt B into the instructions of a new routine: Routines → New routine → Local, Mondays at 8am.</a:t>
            </a:r>
          </a:p>
        </p:txBody>
      </p:sp>
      <p:sp>
        <p:nvSpPr>
          <p:cNvPr id="14" name="Oval 13"/>
          <p:cNvSpPr/>
          <p:nvPr/>
        </p:nvSpPr>
        <p:spPr>
          <a:xfrm>
            <a:off x="548640" y="44641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427524"/>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Run it now  </a:t>
            </a:r>
            <a:r>
              <a:rPr sz="1550">
                <a:solidFill>
                  <a:srgbClr val="6B6862"/>
                </a:solidFill>
                <a:latin typeface="Calibri"/>
              </a:rPr>
              <a:t>Click Run now once, approve any permission prompts, then open the Gmail draft.</a:t>
            </a:r>
          </a:p>
        </p:txBody>
      </p:sp>
      <p:sp>
        <p:nvSpPr>
          <p:cNvPr id="16" name="Oval 15"/>
          <p:cNvSpPr/>
          <p:nvPr/>
        </p:nvSpPr>
        <p:spPr>
          <a:xfrm>
            <a:off x="548640" y="524499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1078992" y="5208422"/>
            <a:ext cx="10442448" cy="726033"/>
          </a:xfrm>
          <a:prstGeom prst="rect">
            <a:avLst/>
          </a:prstGeom>
          <a:noFill/>
        </p:spPr>
        <p:txBody>
          <a:bodyPr wrap="square" lIns="18288" rIns="18288" tIns="9144" bIns="9144">
            <a:spAutoFit/>
          </a:bodyPr>
          <a:lstStyle/>
          <a:p>
            <a:pPr>
              <a:lnSpc>
                <a:spcPct val="108000"/>
              </a:lnSpc>
              <a:defRPr sz="1550" b="0">
                <a:solidFill>
                  <a:srgbClr val="6B6862"/>
                </a:solidFill>
                <a:latin typeface="Calibri"/>
              </a:defRPr>
            </a:pPr>
            <a:r>
              <a:rPr b="1" sz="1550">
                <a:solidFill>
                  <a:srgbClr val="21201C"/>
                </a:solidFill>
                <a:latin typeface="Calibri"/>
              </a:rPr>
              <a:t>Pause it  </a:t>
            </a:r>
            <a:r>
              <a:rPr sz="1550">
                <a:solidFill>
                  <a:srgbClr val="6B6862"/>
                </a:solidFill>
                <a:latin typeface="Calibri"/>
              </a:rPr>
              <a:t>After class, pause the routine.</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146</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do it once</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Act as Horizon's Growth Analyst. Using Google Drive, read campaign-results.csv in the Horizon Studio folder. Use the campaign-report skill and data/weekly-report-brief.md. Leave the report as a Gmail DRAFT to me, subject "Horizon weekly growth report" and today's date. Send nothing. Also publish the report as an artifact: cost per chat by channel as a chart, and the budget split. Write for a business owner, in plain English: no codes, IDs, file names or line numbers; start with what it means and what I do next. Save a Word copy (.docx) of each result.</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147</a:t>
            </a:r>
          </a:p>
        </p:txBody>
      </p:sp>
      <p:sp>
        <p:nvSpPr>
          <p:cNvPr id="7" name="Rounded Rectangle 6"/>
          <p:cNvSpPr/>
          <p:nvPr/>
        </p:nvSpPr>
        <p:spPr>
          <a:xfrm>
            <a:off x="548640" y="1783080"/>
            <a:ext cx="11064240" cy="1981911"/>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routine</a:t>
            </a:r>
          </a:p>
        </p:txBody>
      </p:sp>
      <p:sp>
        <p:nvSpPr>
          <p:cNvPr id="9" name="TextBox 8"/>
          <p:cNvSpPr txBox="1"/>
          <p:nvPr/>
        </p:nvSpPr>
        <p:spPr>
          <a:xfrm>
            <a:off x="822960" y="2313432"/>
            <a:ext cx="10515600" cy="1232103"/>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Run the campaign-report skill as Horizon's Growth Analyst. Read campaign-results.csv in the Horizon Studio folder on Google Drive and follow weekly-report-brief.md. Leave the report as a draft email to me in Gmail with the subject "Horizon weekly growth report" and today's date. Do not send it, and do not publish or approve anything.</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Automate the preparation, not the decision. The schedule fills an inbox; a person still decides.</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148</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What is the one decision this report asks me to make?</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Which channel gets us a chat most cheaply, and how sure are you?</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would you change in next month's budget, and why?</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13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Campaign 5: Always On — the Weekly Growth Report</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149</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report used the campaign-report skill from your folder.</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report names the cheapest channel per chat (the newsletter).</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recommends a budget split with a reason per channel.</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scheduled task runs Mondays at 8am with draft-only instructions.</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A manual run left a draft — nothing was sent.</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task is paused after class.</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RESPONSIBLE AI</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Responsible AI in the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Each risk has a control you built in this course.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150</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2381097"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RISK</a:t>
            </a:r>
          </a:p>
        </p:txBody>
      </p:sp>
      <p:sp>
        <p:nvSpPr>
          <p:cNvPr id="10" name="TextBox 9"/>
          <p:cNvSpPr txBox="1"/>
          <p:nvPr/>
        </p:nvSpPr>
        <p:spPr>
          <a:xfrm>
            <a:off x="3405225" y="2203703"/>
            <a:ext cx="5257800"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CONTROL</a:t>
            </a:r>
          </a:p>
        </p:txBody>
      </p:sp>
      <p:sp>
        <p:nvSpPr>
          <p:cNvPr id="11" name="TextBox 10"/>
          <p:cNvSpPr txBox="1"/>
          <p:nvPr/>
        </p:nvSpPr>
        <p:spPr>
          <a:xfrm>
            <a:off x="8937345"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WHERE</a:t>
            </a:r>
          </a:p>
        </p:txBody>
      </p:sp>
      <p:sp>
        <p:nvSpPr>
          <p:cNvPr id="12" name="Rectangle 11"/>
          <p:cNvSpPr/>
          <p:nvPr/>
        </p:nvSpPr>
        <p:spPr>
          <a:xfrm>
            <a:off x="548640" y="2560320"/>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Wrong figure</a:t>
            </a:r>
          </a:p>
        </p:txBody>
      </p:sp>
      <p:sp>
        <p:nvSpPr>
          <p:cNvPr id="14" name="TextBox 13"/>
          <p:cNvSpPr txBox="1"/>
          <p:nvPr/>
        </p:nvSpPr>
        <p:spPr>
          <a:xfrm>
            <a:off x="3405225" y="2560320"/>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fact-check skill; the Lead's review; facts sheet</a:t>
            </a:r>
          </a:p>
        </p:txBody>
      </p:sp>
      <p:sp>
        <p:nvSpPr>
          <p:cNvPr id="15" name="TextBox 14"/>
          <p:cNvSpPr txBox="1"/>
          <p:nvPr/>
        </p:nvSpPr>
        <p:spPr>
          <a:xfrm>
            <a:off x="8937345" y="2560320"/>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3, 5, 10–12</a:t>
            </a:r>
          </a:p>
        </p:txBody>
      </p:sp>
      <p:sp>
        <p:nvSpPr>
          <p:cNvPr id="16" name="TextBox 15"/>
          <p:cNvSpPr txBox="1"/>
          <p:nvPr/>
        </p:nvSpPr>
        <p:spPr>
          <a:xfrm>
            <a:off x="749808" y="3084575"/>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Read as advice or a promise</a:t>
            </a:r>
          </a:p>
        </p:txBody>
      </p:sp>
      <p:sp>
        <p:nvSpPr>
          <p:cNvPr id="17" name="TextBox 16"/>
          <p:cNvSpPr txBox="1"/>
          <p:nvPr/>
        </p:nvSpPr>
        <p:spPr>
          <a:xfrm>
            <a:off x="3405225" y="3084575"/>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fin-compliance; disclaimers; no returns</a:t>
            </a:r>
          </a:p>
        </p:txBody>
      </p:sp>
      <p:sp>
        <p:nvSpPr>
          <p:cNvPr id="18" name="TextBox 17"/>
          <p:cNvSpPr txBox="1"/>
          <p:nvPr/>
        </p:nvSpPr>
        <p:spPr>
          <a:xfrm>
            <a:off x="8937345" y="3084575"/>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3, 10–12</a:t>
            </a:r>
          </a:p>
        </p:txBody>
      </p:sp>
      <p:sp>
        <p:nvSpPr>
          <p:cNvPr id="19" name="Rectangle 18"/>
          <p:cNvSpPr/>
          <p:nvPr/>
        </p:nvSpPr>
        <p:spPr>
          <a:xfrm>
            <a:off x="548640" y="3608831"/>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608831"/>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An agent with too much access</a:t>
            </a:r>
          </a:p>
        </p:txBody>
      </p:sp>
      <p:sp>
        <p:nvSpPr>
          <p:cNvPr id="21" name="TextBox 20"/>
          <p:cNvSpPr txBox="1"/>
          <p:nvPr/>
        </p:nvSpPr>
        <p:spPr>
          <a:xfrm>
            <a:off x="3405225" y="3608831"/>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Least-privilege connectors per agent</a:t>
            </a:r>
          </a:p>
        </p:txBody>
      </p:sp>
      <p:sp>
        <p:nvSpPr>
          <p:cNvPr id="22" name="TextBox 21"/>
          <p:cNvSpPr txBox="1"/>
          <p:nvPr/>
        </p:nvSpPr>
        <p:spPr>
          <a:xfrm>
            <a:off x="8937345" y="3608831"/>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4</a:t>
            </a:r>
          </a:p>
        </p:txBody>
      </p:sp>
      <p:sp>
        <p:nvSpPr>
          <p:cNvPr id="23" name="TextBox 22"/>
          <p:cNvSpPr txBox="1"/>
          <p:nvPr/>
        </p:nvSpPr>
        <p:spPr>
          <a:xfrm>
            <a:off x="749808" y="4133087"/>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Unapproved post</a:t>
            </a:r>
          </a:p>
        </p:txBody>
      </p:sp>
      <p:sp>
        <p:nvSpPr>
          <p:cNvPr id="24" name="TextBox 23"/>
          <p:cNvSpPr txBox="1"/>
          <p:nvPr/>
        </p:nvSpPr>
        <p:spPr>
          <a:xfrm>
            <a:off x="3405225" y="4133087"/>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Approval typed by a person, hash, gate</a:t>
            </a:r>
          </a:p>
        </p:txBody>
      </p:sp>
      <p:sp>
        <p:nvSpPr>
          <p:cNvPr id="25" name="TextBox 24"/>
          <p:cNvSpPr txBox="1"/>
          <p:nvPr/>
        </p:nvSpPr>
        <p:spPr>
          <a:xfrm>
            <a:off x="8937345" y="4133087"/>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10</a:t>
            </a:r>
          </a:p>
        </p:txBody>
      </p:sp>
      <p:sp>
        <p:nvSpPr>
          <p:cNvPr id="26" name="Rectangle 25"/>
          <p:cNvSpPr/>
          <p:nvPr/>
        </p:nvSpPr>
        <p:spPr>
          <a:xfrm>
            <a:off x="548640" y="4657344"/>
            <a:ext cx="11064240" cy="524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657344"/>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Marketing without consent</a:t>
            </a:r>
          </a:p>
        </p:txBody>
      </p:sp>
      <p:sp>
        <p:nvSpPr>
          <p:cNvPr id="28" name="TextBox 27"/>
          <p:cNvSpPr txBox="1"/>
          <p:nvPr/>
        </p:nvSpPr>
        <p:spPr>
          <a:xfrm>
            <a:off x="3405225" y="4657344"/>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The Analyst filters by consent</a:t>
            </a:r>
          </a:p>
        </p:txBody>
      </p:sp>
      <p:sp>
        <p:nvSpPr>
          <p:cNvPr id="29" name="TextBox 28"/>
          <p:cNvSpPr txBox="1"/>
          <p:nvPr/>
        </p:nvSpPr>
        <p:spPr>
          <a:xfrm>
            <a:off x="8937345" y="4657344"/>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11</a:t>
            </a:r>
          </a:p>
        </p:txBody>
      </p:sp>
      <p:sp>
        <p:nvSpPr>
          <p:cNvPr id="30" name="TextBox 29"/>
          <p:cNvSpPr txBox="1"/>
          <p:nvPr/>
        </p:nvSpPr>
        <p:spPr>
          <a:xfrm>
            <a:off x="749808" y="5181599"/>
            <a:ext cx="2381097" cy="524256"/>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Undisclosed AI media</a:t>
            </a:r>
          </a:p>
        </p:txBody>
      </p:sp>
      <p:sp>
        <p:nvSpPr>
          <p:cNvPr id="31" name="TextBox 30"/>
          <p:cNvSpPr txBox="1"/>
          <p:nvPr/>
        </p:nvSpPr>
        <p:spPr>
          <a:xfrm>
            <a:off x="3405225" y="5181599"/>
            <a:ext cx="5257800"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Description line + YouTube disclosure</a:t>
            </a:r>
          </a:p>
        </p:txBody>
      </p:sp>
      <p:sp>
        <p:nvSpPr>
          <p:cNvPr id="32" name="TextBox 31"/>
          <p:cNvSpPr txBox="1"/>
          <p:nvPr/>
        </p:nvSpPr>
        <p:spPr>
          <a:xfrm>
            <a:off x="8937345" y="5181599"/>
            <a:ext cx="2602382" cy="524256"/>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12</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Keep keys in .env, client data out of prompts, and the approval records for audit.</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MEASURE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What Matters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14: the numbers decide next month — and which patterns earn their tokens.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151</a:t>
            </a:r>
          </a:p>
        </p:txBody>
      </p:sp>
      <p:sp>
        <p:nvSpPr>
          <p:cNvPr id="8" name="Rounded Rectangle 7"/>
          <p:cNvSpPr/>
          <p:nvPr/>
        </p:nvSpPr>
        <p:spPr>
          <a:xfrm>
            <a:off x="548640"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Cost per chat</a:t>
            </a:r>
          </a:p>
        </p:txBody>
      </p:sp>
      <p:sp>
        <p:nvSpPr>
          <p:cNvPr id="11" name="TextBox 10"/>
          <p:cNvSpPr txBox="1"/>
          <p:nvPr/>
        </p:nvSpPr>
        <p:spPr>
          <a:xfrm>
            <a:off x="786384"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Spend ÷ chats booked shows which channel works: email first, YouTube last.</a:t>
            </a:r>
          </a:p>
        </p:txBody>
      </p:sp>
      <p:sp>
        <p:nvSpPr>
          <p:cNvPr id="12" name="Rounded Rectangle 11"/>
          <p:cNvSpPr/>
          <p:nvPr/>
        </p:nvSpPr>
        <p:spPr>
          <a:xfrm>
            <a:off x="4309872"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Defects before a person</a:t>
            </a:r>
          </a:p>
        </p:txBody>
      </p:sp>
      <p:sp>
        <p:nvSpPr>
          <p:cNvPr id="15" name="TextBox 14"/>
          <p:cNvSpPr txBox="1"/>
          <p:nvPr/>
        </p:nvSpPr>
        <p:spPr>
          <a:xfrm>
            <a:off x="4547615"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Lead that catches mistakes saves the reviewer's time; one agent alone caught none.</a:t>
            </a:r>
          </a:p>
        </p:txBody>
      </p:sp>
      <p:sp>
        <p:nvSpPr>
          <p:cNvPr id="16" name="Rounded Rectangle 15"/>
          <p:cNvSpPr/>
          <p:nvPr/>
        </p:nvSpPr>
        <p:spPr>
          <a:xfrm>
            <a:off x="8071104" y="2084831"/>
            <a:ext cx="3541775"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playbook</a:t>
            </a:r>
          </a:p>
        </p:txBody>
      </p:sp>
      <p:sp>
        <p:nvSpPr>
          <p:cNvPr id="19" name="TextBox 18"/>
          <p:cNvSpPr txBox="1"/>
          <p:nvPr/>
        </p:nvSpPr>
        <p:spPr>
          <a:xfrm>
            <a:off x="8308847" y="2871215"/>
            <a:ext cx="3066287" cy="2688335"/>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Roster, instructions, skills, connectors, approval matrix, incidents — so the team runs without you.</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VERSIONING</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Versioning the Team</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Your agents, skills and rules are an integration plan. Version it, so every change can be compared — and undone.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152</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Baseline</a:t>
            </a:r>
          </a:p>
        </p:txBody>
      </p:sp>
      <p:sp>
        <p:nvSpPr>
          <p:cNvPr id="12" name="TextBox 11"/>
          <p:cNvSpPr txBox="1"/>
          <p:nvPr/>
        </p:nvSpPr>
        <p:spPr>
          <a:xfrm>
            <a:off x="676656" y="3694176"/>
            <a:ext cx="188366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Save the team as it works today: version 1.0, with a note.</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Observe</a:t>
            </a:r>
          </a:p>
        </p:txBody>
      </p:sp>
      <p:sp>
        <p:nvSpPr>
          <p:cNvPr id="17" name="TextBox 16"/>
          <p:cNvSpPr txBox="1"/>
          <p:nvPr/>
        </p:nvSpPr>
        <p:spPr>
          <a:xfrm>
            <a:off x="296265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Results, run log, QA rounds, incidents — what the outcomes say.</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Propose</a:t>
            </a:r>
          </a:p>
        </p:txBody>
      </p:sp>
      <p:sp>
        <p:nvSpPr>
          <p:cNvPr id="22" name="TextBox 21"/>
          <p:cNvSpPr txBox="1"/>
          <p:nvPr/>
        </p:nvSpPr>
        <p:spPr>
          <a:xfrm>
            <a:off x="515721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One change, with the evidence, the files it touches and the risk.</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Test</a:t>
            </a:r>
          </a:p>
        </p:txBody>
      </p:sp>
      <p:sp>
        <p:nvSpPr>
          <p:cNvPr id="27" name="TextBox 26"/>
          <p:cNvSpPr txBox="1"/>
          <p:nvPr/>
        </p:nvSpPr>
        <p:spPr>
          <a:xfrm>
            <a:off x="7351775"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Run the same checks as before: fact-check, fin-compliance, a dry run.</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4320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Release or roll back</a:t>
            </a:r>
          </a:p>
        </p:txBody>
      </p:sp>
      <p:sp>
        <p:nvSpPr>
          <p:cNvPr id="32" name="TextBox 31"/>
          <p:cNvSpPr txBox="1"/>
          <p:nvPr/>
        </p:nvSpPr>
        <p:spPr>
          <a:xfrm>
            <a:off x="9546336" y="3694176"/>
            <a:ext cx="1792223" cy="1828800"/>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Save version 1.1 — or go back to 1.0 if a check fails.</a:t>
            </a:r>
          </a:p>
        </p:txBody>
      </p:sp>
      <p:sp>
        <p:nvSpPr>
          <p:cNvPr id="33" name="Rounded Rectangle 32"/>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Claude Code keeps version history with git for you: ask in plain English, "save this as version 1.1".</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CHANGE PROPOSAL</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Good Change Proposal</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14: propose one change to how the team integrates, then prove it before it becomes the new version.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153</a:t>
            </a:r>
          </a:p>
        </p:txBody>
      </p:sp>
      <p:sp>
        <p:nvSpPr>
          <p:cNvPr id="8" name="Rounded Rectangle 7"/>
          <p:cNvSpPr/>
          <p:nvPr/>
        </p:nvSpPr>
        <p:spPr>
          <a:xfrm>
            <a:off x="548640"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What we saw</a:t>
            </a:r>
          </a:p>
        </p:txBody>
      </p:sp>
      <p:sp>
        <p:nvSpPr>
          <p:cNvPr id="11" name="TextBox 10"/>
          <p:cNvSpPr txBox="1"/>
          <p:nvPr/>
        </p:nvSpPr>
        <p:spPr>
          <a:xfrm>
            <a:off x="786384"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outcome that prompts the change, with numbers from the run log or the report.</a:t>
            </a:r>
          </a:p>
        </p:txBody>
      </p:sp>
      <p:sp>
        <p:nvSpPr>
          <p:cNvPr id="12" name="Rounded Rectangle 11"/>
          <p:cNvSpPr/>
          <p:nvPr/>
        </p:nvSpPr>
        <p:spPr>
          <a:xfrm>
            <a:off x="4309872"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09872"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7615"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The change</a:t>
            </a:r>
          </a:p>
        </p:txBody>
      </p:sp>
      <p:sp>
        <p:nvSpPr>
          <p:cNvPr id="15" name="TextBox 14"/>
          <p:cNvSpPr txBox="1"/>
          <p:nvPr/>
        </p:nvSpPr>
        <p:spPr>
          <a:xfrm>
            <a:off x="4547615"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One change: a rule, a skill, a connector or a pattern. Files it touches.</a:t>
            </a:r>
          </a:p>
        </p:txBody>
      </p:sp>
      <p:sp>
        <p:nvSpPr>
          <p:cNvPr id="16" name="Rounded Rectangle 15"/>
          <p:cNvSpPr/>
          <p:nvPr/>
        </p:nvSpPr>
        <p:spPr>
          <a:xfrm>
            <a:off x="8071104" y="2084831"/>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71104" y="2084831"/>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08847" y="2340863"/>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How we test it</a:t>
            </a:r>
          </a:p>
        </p:txBody>
      </p:sp>
      <p:sp>
        <p:nvSpPr>
          <p:cNvPr id="19" name="TextBox 18"/>
          <p:cNvSpPr txBox="1"/>
          <p:nvPr/>
        </p:nvSpPr>
        <p:spPr>
          <a:xfrm>
            <a:off x="8308847" y="2871215"/>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The check that must still pass, and the one that should now improve.</a:t>
            </a:r>
          </a:p>
        </p:txBody>
      </p:sp>
      <p:sp>
        <p:nvSpPr>
          <p:cNvPr id="20" name="Rounded Rectangle 19"/>
          <p:cNvSpPr/>
          <p:nvPr/>
        </p:nvSpPr>
        <p:spPr>
          <a:xfrm>
            <a:off x="548640"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Risk and roll back</a:t>
            </a:r>
          </a:p>
        </p:txBody>
      </p:sp>
      <p:sp>
        <p:nvSpPr>
          <p:cNvPr id="23" name="TextBox 22"/>
          <p:cNvSpPr txBox="1"/>
          <p:nvPr/>
        </p:nvSpPr>
        <p:spPr>
          <a:xfrm>
            <a:off x="786384"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What could break, and the version to return to.</a:t>
            </a:r>
          </a:p>
        </p:txBody>
      </p:sp>
      <p:sp>
        <p:nvSpPr>
          <p:cNvPr id="24" name="Rounded Rectangle 23"/>
          <p:cNvSpPr/>
          <p:nvPr/>
        </p:nvSpPr>
        <p:spPr>
          <a:xfrm>
            <a:off x="4309872"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09872"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7615"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Who approves</a:t>
            </a:r>
          </a:p>
        </p:txBody>
      </p:sp>
      <p:sp>
        <p:nvSpPr>
          <p:cNvPr id="27" name="TextBox 26"/>
          <p:cNvSpPr txBox="1"/>
          <p:nvPr/>
        </p:nvSpPr>
        <p:spPr>
          <a:xfrm>
            <a:off x="4547615"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A named person — Rachel for anything with CPF or tax figures.</a:t>
            </a:r>
          </a:p>
        </p:txBody>
      </p:sp>
      <p:sp>
        <p:nvSpPr>
          <p:cNvPr id="28" name="Rounded Rectangle 27"/>
          <p:cNvSpPr/>
          <p:nvPr/>
        </p:nvSpPr>
        <p:spPr>
          <a:xfrm>
            <a:off x="8071104" y="4032504"/>
            <a:ext cx="3541775" cy="1728215"/>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71104" y="4032504"/>
            <a:ext cx="3541775"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08847" y="4288536"/>
            <a:ext cx="3066287" cy="420623"/>
          </a:xfrm>
          <a:prstGeom prst="rect">
            <a:avLst/>
          </a:prstGeom>
          <a:noFill/>
        </p:spPr>
        <p:txBody>
          <a:bodyPr wrap="square" lIns="18288" rIns="18288" tIns="9144" bIns="9144">
            <a:spAutoFit/>
          </a:bodyPr>
          <a:lstStyle/>
          <a:p>
            <a:pPr>
              <a:lnSpc>
                <a:spcPct val="100000"/>
              </a:lnSpc>
              <a:defRPr sz="1800" b="1">
                <a:solidFill>
                  <a:srgbClr val="21201C"/>
                </a:solidFill>
                <a:latin typeface="Cambria"/>
              </a:defRPr>
            </a:pPr>
            <a:r>
              <a:t>Version note</a:t>
            </a:r>
          </a:p>
        </p:txBody>
      </p:sp>
      <p:sp>
        <p:nvSpPr>
          <p:cNvPr id="31" name="TextBox 30"/>
          <p:cNvSpPr txBox="1"/>
          <p:nvPr/>
        </p:nvSpPr>
        <p:spPr>
          <a:xfrm>
            <a:off x="8308847" y="4818888"/>
            <a:ext cx="3066287" cy="740663"/>
          </a:xfrm>
          <a:prstGeom prst="rect">
            <a:avLst/>
          </a:prstGeom>
          <a:noFill/>
        </p:spPr>
        <p:txBody>
          <a:bodyPr wrap="square" lIns="18288" rIns="18288" tIns="9144" bIns="9144">
            <a:spAutoFit/>
          </a:bodyPr>
          <a:lstStyle/>
          <a:p>
            <a:pPr>
              <a:lnSpc>
                <a:spcPct val="112000"/>
              </a:lnSpc>
              <a:defRPr sz="1400" b="0">
                <a:solidFill>
                  <a:srgbClr val="6B6862"/>
                </a:solidFill>
                <a:latin typeface="Calibri"/>
              </a:defRPr>
            </a:pPr>
            <a:r>
              <a:t>"1.1 — what changed and why", saved with the files.</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Version and Write the Team Playbook</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154</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14</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~60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Eight weeks in. Rachel asks which ways of running agents earned their tokens, and how the team runs safely after you leave.</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agent-pattern comparison, the team playbook, a change proposal, and versions 1.0 and 1.1 of the team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(subagents)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compare agent patterns · the roster: instructions, skills, connectors · approval matrix · responsible-AI controls · version history · a change proposal and a roll-back plan</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Version and Write the Team Playbook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155</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14".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Check the data  </a:t>
            </a:r>
            <a:r>
              <a:rPr sz="1300">
                <a:solidFill>
                  <a:srgbClr val="6B6862"/>
                </a:solidFill>
                <a:latin typeface="Calibri"/>
              </a:rPr>
              <a:t>The assets are already in data/. Open one and skim it.</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Compare the patterns  </a:t>
            </a:r>
            <a:r>
              <a:rPr sz="1300">
                <a:solidFill>
                  <a:srgbClr val="6B6862"/>
                </a:solidFill>
                <a:latin typeface="Calibri"/>
              </a:rPr>
              <a:t>Copy and paste Prompt A.</a:t>
            </a:r>
          </a:p>
        </p:txBody>
      </p:sp>
      <p:sp>
        <p:nvSpPr>
          <p:cNvPr id="14" name="Oval 13"/>
          <p:cNvSpPr/>
          <p:nvPr/>
        </p:nvSpPr>
        <p:spPr>
          <a:xfrm>
            <a:off x="548640" y="4425696"/>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1078992" y="4389120"/>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Write the playbook  </a:t>
            </a:r>
            <a:r>
              <a:rPr sz="1300">
                <a:solidFill>
                  <a:srgbClr val="6B6862"/>
                </a:solidFill>
                <a:latin typeface="Calibri"/>
              </a:rPr>
              <a:t>After the Lead shows the comparison, copy and paste Prompt B.</a:t>
            </a:r>
          </a:p>
        </p:txBody>
      </p:sp>
      <p:sp>
        <p:nvSpPr>
          <p:cNvPr id="16" name="Oval 15"/>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Review it as Rachel  </a:t>
            </a:r>
            <a:r>
              <a:rPr sz="1300">
                <a:solidFill>
                  <a:srgbClr val="6B6862"/>
                </a:solidFill>
                <a:latin typeface="Calibri"/>
              </a:rPr>
              <a:t>Add one rule of your own and say why.</a:t>
            </a:r>
          </a:p>
        </p:txBody>
      </p:sp>
      <p:sp>
        <p:nvSpPr>
          <p:cNvPr id="18" name="Oval 17"/>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Propose and version a change  </a:t>
            </a:r>
            <a:r>
              <a:rPr sz="1300">
                <a:solidFill>
                  <a:srgbClr val="6B6862"/>
                </a:solidFill>
                <a:latin typeface="Calibri"/>
              </a:rPr>
              <a:t>After you have added your rule, copy and paste Prompt C. Claude saves version 1.0, makes one change, tests it and saves 1.1.</a:t>
            </a:r>
          </a:p>
        </p:txBody>
      </p:sp>
      <p:sp>
        <p:nvSpPr>
          <p:cNvPr id="20" name="Oval 19"/>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7</a:t>
            </a:r>
          </a:p>
        </p:txBody>
      </p:sp>
      <p:sp>
        <p:nvSpPr>
          <p:cNvPr id="21" name="TextBox 20"/>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Compare the versions  </a:t>
            </a:r>
            <a:r>
              <a:rPr sz="1300">
                <a:solidFill>
                  <a:srgbClr val="6B6862"/>
                </a:solidFill>
                <a:latin typeface="Calibri"/>
              </a:rPr>
              <a:t>Read what changed between 1.0 and 1.1. If a check failed, ask: "Roll back to version 1.0."</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Version and Write the Team Playbook</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156</a:t>
            </a:r>
          </a:p>
        </p:txBody>
      </p:sp>
      <p:sp>
        <p:nvSpPr>
          <p:cNvPr id="7" name="Rounded Rectangle 6"/>
          <p:cNvSpPr/>
          <p:nvPr/>
        </p:nvSpPr>
        <p:spPr>
          <a:xfrm>
            <a:off x="548640" y="1783080"/>
            <a:ext cx="11064240" cy="2561386"/>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compare</a:t>
            </a:r>
          </a:p>
        </p:txBody>
      </p:sp>
      <p:sp>
        <p:nvSpPr>
          <p:cNvPr id="9" name="TextBox 8"/>
          <p:cNvSpPr txBox="1"/>
          <p:nvPr/>
        </p:nvSpPr>
        <p:spPr>
          <a:xfrm>
            <a:off x="822960" y="2313432"/>
            <a:ext cx="10515600" cy="1811578"/>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Use the growth-analyst subagent. From data/run-log.csv compare the patterns we used — one agent, subagents, agent teams and the scheduled task — on minutes, tokens, defects caught before a person and human edits. Which pattern pays off for which job? Save reports/agent-comparison.md. Publish it as an artifact: one chart per measure, comparing the patterns. Write for a business owner, in plain English: no codes, IDs, file names or line numbers; start with what it means and what I do next. Save a Word copy (.docx) of each result.</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Version and Write the Team Playbook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157</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playbook</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Write strategy/team-playbook.md with data/playbook-outline.md. Include the roster: for each agent its instructions file in .claude/agents/, its skills, connectors, model and what it may never do; the approval matrix by risk; the rules in data/responsible-ai-checklist.md; and what to do when a wrong post goes out. Then run fin-compliance on it. Publish the playbook as an artifact: the roster as cards, the approval matrix as a table. Write for a business owner, in plain English: no codes, IDs, file names or line numbers; start with what it means and what I do next. Save a Word copy (.docx) of each result.</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Version and Write the Team Playbook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158</a:t>
            </a:r>
          </a:p>
        </p:txBody>
      </p:sp>
      <p:sp>
        <p:nvSpPr>
          <p:cNvPr id="7" name="Rounded Rectangle 6"/>
          <p:cNvSpPr/>
          <p:nvPr/>
        </p:nvSpPr>
        <p:spPr>
          <a:xfrm>
            <a:off x="548640" y="1783080"/>
            <a:ext cx="11064240" cy="343060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version and propose a change</a:t>
            </a:r>
          </a:p>
        </p:txBody>
      </p:sp>
      <p:sp>
        <p:nvSpPr>
          <p:cNvPr id="9" name="TextBox 8"/>
          <p:cNvSpPr txBox="1"/>
          <p:nvPr/>
        </p:nvSpPr>
        <p:spPr>
          <a:xfrm>
            <a:off x="822960" y="2313432"/>
            <a:ext cx="10515600" cy="2680792"/>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Keep a version history of this folder (use git; set it up if it is not there yet). Save everything as version 1.0 with the note "The team as built in class". From reports/agent-comparison.md and data/run-log.csv, propose ONE change to how the team works. Write review/change-proposal.md: what we saw, the change, the files it touches, how we test it, the risk, who approves, and how we roll back. Make the change, test it on one recent piece with fact-check and fin-compliance, and save version 1.1 with a one-line note. Show me what changed between</a:t>
            </a:r>
          </a:p>
          <a:p>
            <a:pPr>
              <a:lnSpc>
                <a:spcPct val="110000"/>
              </a:lnSpc>
              <a:defRPr sz="1700" b="0">
                <a:solidFill>
                  <a:srgbClr val="21201C"/>
                </a:solidFill>
                <a:latin typeface="Calibri"/>
              </a:defRPr>
            </a:pPr>
            <a:r>
              <a:t>1.0 and 1.1, and how to go back to 1.0. Publish the proposal and the version history as an artifact. Write for a business owner, in plain English: no codes, IDs, file names or line numbers; start with what it means and what I do next. Save a Word copy (.docx) of each result.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Teams cost more tokens. The run log shows what you buy with them: defects caught before a person, and fewer edits.</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Version and Write the Team Playbook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159</a:t>
            </a:r>
          </a:p>
        </p:txBody>
      </p:sp>
      <p:sp>
        <p:nvSpPr>
          <p:cNvPr id="7" name="Rounded Rectangle 6"/>
          <p:cNvSpPr/>
          <p:nvPr/>
        </p:nvSpPr>
        <p:spPr>
          <a:xfrm>
            <a:off x="548640" y="1783080"/>
            <a:ext cx="11064240" cy="2851124"/>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2101316"/>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In one line each: when should we use one agent, subagents and an agent team?</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Who must approve a post that has a CPF figure in it?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A wrong post went out. What are the first three things we do?</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After Prompt C: In plain English, what changed in version 1.1, and how would we undo it?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14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Measure, Version and Write the Team Playbook</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160</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comparison shows the one-agent baseline caught 0 defects.</a:t>
            </a:r>
          </a:p>
        </p:txBody>
      </p:sp>
      <p:sp>
        <p:nvSpPr>
          <p:cNvPr id="13" name="Oval 12"/>
          <p:cNvSpPr/>
          <p:nvPr/>
        </p:nvSpPr>
        <p:spPr>
          <a:xfrm>
            <a:off x="841248" y="321476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169049"/>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says which pattern suits which job, with numbers.</a:t>
            </a:r>
          </a:p>
        </p:txBody>
      </p:sp>
      <p:sp>
        <p:nvSpPr>
          <p:cNvPr id="15" name="Oval 14"/>
          <p:cNvSpPr/>
          <p:nvPr/>
        </p:nvSpPr>
        <p:spPr>
          <a:xfrm>
            <a:off x="841248" y="3622330"/>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57661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roster lists all six agents with skills and connectors.</a:t>
            </a:r>
          </a:p>
        </p:txBody>
      </p:sp>
      <p:sp>
        <p:nvSpPr>
          <p:cNvPr id="17" name="Oval 16"/>
          <p:cNvSpPr/>
          <p:nvPr/>
        </p:nvSpPr>
        <p:spPr>
          <a:xfrm>
            <a:off x="841248" y="4029891"/>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3984171"/>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approval matrix says who approves CPF and tax figures.</a:t>
            </a:r>
          </a:p>
        </p:txBody>
      </p:sp>
      <p:sp>
        <p:nvSpPr>
          <p:cNvPr id="19" name="Oval 18"/>
          <p:cNvSpPr/>
          <p:nvPr/>
        </p:nvSpPr>
        <p:spPr>
          <a:xfrm>
            <a:off x="841248" y="443745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39173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It has an incident procedure, and your own rule.</a:t>
            </a:r>
          </a:p>
        </p:txBody>
      </p:sp>
      <p:sp>
        <p:nvSpPr>
          <p:cNvPr id="21" name="Oval 20"/>
          <p:cNvSpPr/>
          <p:nvPr/>
        </p:nvSpPr>
        <p:spPr>
          <a:xfrm>
            <a:off x="841248" y="484501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479929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Versions 1.0 and 1.1 are saved, each with a note.</a:t>
            </a:r>
          </a:p>
        </p:txBody>
      </p:sp>
      <p:sp>
        <p:nvSpPr>
          <p:cNvPr id="23" name="Oval 22"/>
          <p:cNvSpPr/>
          <p:nvPr/>
        </p:nvSpPr>
        <p:spPr>
          <a:xfrm>
            <a:off x="841248" y="5252574"/>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4" name="TextBox 23"/>
          <p:cNvSpPr txBox="1"/>
          <p:nvPr/>
        </p:nvSpPr>
        <p:spPr>
          <a:xfrm>
            <a:off x="1280160" y="5206854"/>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change proposal has the evidence, the test, the risk and the roll-back.</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AGENT TEAMS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Subagents vs Agent Teams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Same work, different wiring: who spawns whom, and who talks to whom.</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161</a:t>
            </a:r>
          </a:p>
        </p:txBody>
      </p:sp>
      <p:sp>
        <p:nvSpPr>
          <p:cNvPr id="8" name="TextBox 7"/>
          <p:cNvSpPr txBox="1"/>
          <p:nvPr/>
        </p:nvSpPr>
        <p:spPr>
          <a:xfrm>
            <a:off x="548640" y="2039112"/>
            <a:ext cx="2743200" cy="256032"/>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SUBAGENTS</a:t>
            </a:r>
          </a:p>
        </p:txBody>
      </p:sp>
      <p:sp>
        <p:nvSpPr>
          <p:cNvPr id="9" name="Rounded Rectangle 8"/>
          <p:cNvSpPr/>
          <p:nvPr/>
        </p:nvSpPr>
        <p:spPr>
          <a:xfrm>
            <a:off x="2308860" y="2359151"/>
            <a:ext cx="2286000" cy="457200"/>
          </a:xfrm>
          <a:prstGeom prst="roundRect">
            <a:avLst>
              <a:gd name="adj" fmla="val 18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350" b="1">
                <a:solidFill>
                  <a:srgbClr val="FFFFFF"/>
                </a:solidFill>
                <a:latin typeface="Calibri"/>
              </a:defRPr>
            </a:pPr>
            <a:r>
              <a:t>Main Agent</a:t>
            </a:r>
          </a:p>
        </p:txBody>
      </p:sp>
      <p:cxnSp>
        <p:nvCxnSpPr>
          <p:cNvPr id="10" name="Connector 9"/>
          <p:cNvCxnSpPr/>
          <p:nvPr/>
        </p:nvCxnSpPr>
        <p:spPr>
          <a:xfrm flipH="1">
            <a:off x="1879092" y="2816351"/>
            <a:ext cx="1069847" cy="548640"/>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229868" y="3364991"/>
            <a:ext cx="1298448" cy="402336"/>
          </a:xfrm>
          <a:prstGeom prst="roundRect">
            <a:avLst>
              <a:gd name="adj" fmla="val 18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Subagent</a:t>
            </a:r>
          </a:p>
        </p:txBody>
      </p:sp>
      <p:cxnSp>
        <p:nvCxnSpPr>
          <p:cNvPr id="12" name="Connector 11"/>
          <p:cNvCxnSpPr/>
          <p:nvPr/>
        </p:nvCxnSpPr>
        <p:spPr>
          <a:xfrm>
            <a:off x="1879092" y="3767328"/>
            <a:ext cx="0" cy="384048"/>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924812" y="3840480"/>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sp>
        <p:nvSpPr>
          <p:cNvPr id="14" name="Oval 13"/>
          <p:cNvSpPr/>
          <p:nvPr/>
        </p:nvSpPr>
        <p:spPr>
          <a:xfrm>
            <a:off x="1376172" y="4151376"/>
            <a:ext cx="1005840" cy="548640"/>
          </a:xfrm>
          <a:prstGeom prst="ellipse">
            <a:avLst/>
          </a:prstGeom>
          <a:noFill/>
          <a:ln w="15875">
            <a:solidFill>
              <a:srgbClr val="6B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00" b="1">
                <a:solidFill>
                  <a:srgbClr val="21201C"/>
                </a:solidFill>
                <a:latin typeface="Calibri"/>
              </a:defRPr>
            </a:pPr>
            <a:r>
              <a:t>Result</a:t>
            </a:r>
          </a:p>
        </p:txBody>
      </p:sp>
      <p:cxnSp>
        <p:nvCxnSpPr>
          <p:cNvPr id="15" name="Connector 14"/>
          <p:cNvCxnSpPr/>
          <p:nvPr/>
        </p:nvCxnSpPr>
        <p:spPr>
          <a:xfrm>
            <a:off x="1879092" y="4700016"/>
            <a:ext cx="0" cy="201167"/>
          </a:xfrm>
          <a:prstGeom prst="line">
            <a:avLst/>
          </a:prstGeom>
          <a:ln w="19050">
            <a:solidFill>
              <a:srgbClr val="6B686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451860" y="2816351"/>
            <a:ext cx="0" cy="548640"/>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802636" y="3364991"/>
            <a:ext cx="1298448" cy="402336"/>
          </a:xfrm>
          <a:prstGeom prst="roundRect">
            <a:avLst>
              <a:gd name="adj" fmla="val 18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Subagent</a:t>
            </a:r>
          </a:p>
        </p:txBody>
      </p:sp>
      <p:cxnSp>
        <p:nvCxnSpPr>
          <p:cNvPr id="18" name="Connector 17"/>
          <p:cNvCxnSpPr/>
          <p:nvPr/>
        </p:nvCxnSpPr>
        <p:spPr>
          <a:xfrm>
            <a:off x="3451860" y="3767328"/>
            <a:ext cx="0" cy="384048"/>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497580" y="3840480"/>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sp>
        <p:nvSpPr>
          <p:cNvPr id="20" name="Oval 19"/>
          <p:cNvSpPr/>
          <p:nvPr/>
        </p:nvSpPr>
        <p:spPr>
          <a:xfrm>
            <a:off x="2948940" y="4151376"/>
            <a:ext cx="1005840" cy="548640"/>
          </a:xfrm>
          <a:prstGeom prst="ellipse">
            <a:avLst/>
          </a:prstGeom>
          <a:noFill/>
          <a:ln w="15875">
            <a:solidFill>
              <a:srgbClr val="6B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00" b="1">
                <a:solidFill>
                  <a:srgbClr val="21201C"/>
                </a:solidFill>
                <a:latin typeface="Calibri"/>
              </a:defRPr>
            </a:pPr>
            <a:r>
              <a:t>Result</a:t>
            </a:r>
          </a:p>
        </p:txBody>
      </p:sp>
      <p:cxnSp>
        <p:nvCxnSpPr>
          <p:cNvPr id="21" name="Connector 20"/>
          <p:cNvCxnSpPr/>
          <p:nvPr/>
        </p:nvCxnSpPr>
        <p:spPr>
          <a:xfrm>
            <a:off x="3451860" y="4700016"/>
            <a:ext cx="0" cy="201167"/>
          </a:xfrm>
          <a:prstGeom prst="line">
            <a:avLst/>
          </a:prstGeom>
          <a:ln w="19050">
            <a:solidFill>
              <a:srgbClr val="6B6862"/>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954780" y="2816351"/>
            <a:ext cx="1069848" cy="548640"/>
          </a:xfrm>
          <a:prstGeom prst="line">
            <a:avLst/>
          </a:prstGeom>
          <a:ln w="19050">
            <a:solidFill>
              <a:srgbClr val="D97757"/>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375404" y="3364991"/>
            <a:ext cx="1298448" cy="402336"/>
          </a:xfrm>
          <a:prstGeom prst="roundRect">
            <a:avLst>
              <a:gd name="adj" fmla="val 18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Subagent</a:t>
            </a:r>
          </a:p>
        </p:txBody>
      </p:sp>
      <p:cxnSp>
        <p:nvCxnSpPr>
          <p:cNvPr id="24" name="Connector 23"/>
          <p:cNvCxnSpPr/>
          <p:nvPr/>
        </p:nvCxnSpPr>
        <p:spPr>
          <a:xfrm>
            <a:off x="5024628" y="3767328"/>
            <a:ext cx="0" cy="384048"/>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070348" y="3840480"/>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sp>
        <p:nvSpPr>
          <p:cNvPr id="26" name="Oval 25"/>
          <p:cNvSpPr/>
          <p:nvPr/>
        </p:nvSpPr>
        <p:spPr>
          <a:xfrm>
            <a:off x="4521708" y="4151376"/>
            <a:ext cx="1005840" cy="548640"/>
          </a:xfrm>
          <a:prstGeom prst="ellipse">
            <a:avLst/>
          </a:prstGeom>
          <a:noFill/>
          <a:ln w="15875">
            <a:solidFill>
              <a:srgbClr val="6B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00" b="1">
                <a:solidFill>
                  <a:srgbClr val="21201C"/>
                </a:solidFill>
                <a:latin typeface="Calibri"/>
              </a:defRPr>
            </a:pPr>
            <a:r>
              <a:t>Result</a:t>
            </a:r>
          </a:p>
        </p:txBody>
      </p:sp>
      <p:cxnSp>
        <p:nvCxnSpPr>
          <p:cNvPr id="27" name="Connector 26"/>
          <p:cNvCxnSpPr/>
          <p:nvPr/>
        </p:nvCxnSpPr>
        <p:spPr>
          <a:xfrm>
            <a:off x="5024628" y="4700016"/>
            <a:ext cx="0" cy="201167"/>
          </a:xfrm>
          <a:prstGeom prst="line">
            <a:avLst/>
          </a:prstGeom>
          <a:ln w="19050">
            <a:solidFill>
              <a:srgbClr val="6B6862"/>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640580" y="2980944"/>
            <a:ext cx="731520" cy="219456"/>
          </a:xfrm>
          <a:prstGeom prst="rect">
            <a:avLst/>
          </a:prstGeom>
          <a:noFill/>
        </p:spPr>
        <p:txBody>
          <a:bodyPr wrap="square" lIns="18288" rIns="18288" tIns="9144" bIns="9144">
            <a:spAutoFit/>
          </a:bodyPr>
          <a:lstStyle/>
          <a:p>
            <a:pPr>
              <a:lnSpc>
                <a:spcPct val="100000"/>
              </a:lnSpc>
              <a:defRPr sz="950" b="1">
                <a:solidFill>
                  <a:srgbClr val="D97757"/>
                </a:solidFill>
                <a:latin typeface="Calibri"/>
              </a:defRPr>
            </a:pPr>
            <a:r>
              <a:t>spawn</a:t>
            </a:r>
          </a:p>
        </p:txBody>
      </p:sp>
      <p:cxnSp>
        <p:nvCxnSpPr>
          <p:cNvPr id="29" name="Connector 28"/>
          <p:cNvCxnSpPr/>
          <p:nvPr/>
        </p:nvCxnSpPr>
        <p:spPr>
          <a:xfrm flipH="1">
            <a:off x="658368" y="4901183"/>
            <a:ext cx="4366260" cy="0"/>
          </a:xfrm>
          <a:prstGeom prst="line">
            <a:avLst/>
          </a:prstGeom>
          <a:ln w="22225">
            <a:solidFill>
              <a:srgbClr val="6B686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658368" y="2587751"/>
            <a:ext cx="0" cy="2313432"/>
          </a:xfrm>
          <a:prstGeom prst="line">
            <a:avLst/>
          </a:prstGeom>
          <a:ln w="22225">
            <a:solidFill>
              <a:srgbClr val="6B6862"/>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58368" y="2587751"/>
            <a:ext cx="1650492" cy="0"/>
          </a:xfrm>
          <a:prstGeom prst="line">
            <a:avLst/>
          </a:prstGeom>
          <a:ln w="22225">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696212" y="4937759"/>
            <a:ext cx="4206240" cy="237744"/>
          </a:xfrm>
          <a:prstGeom prst="rect">
            <a:avLst/>
          </a:prstGeom>
          <a:noFill/>
        </p:spPr>
        <p:txBody>
          <a:bodyPr wrap="square" lIns="18288" rIns="18288" tIns="9144" bIns="9144">
            <a:spAutoFit/>
          </a:bodyPr>
          <a:lstStyle/>
          <a:p>
            <a:pPr>
              <a:lnSpc>
                <a:spcPct val="100000"/>
              </a:lnSpc>
              <a:defRPr sz="950" b="1">
                <a:solidFill>
                  <a:srgbClr val="6B6862"/>
                </a:solidFill>
                <a:latin typeface="Calibri"/>
              </a:defRPr>
            </a:pPr>
            <a:r>
              <a:t>report results back — subagents never talk to each other</a:t>
            </a:r>
          </a:p>
        </p:txBody>
      </p:sp>
      <p:cxnSp>
        <p:nvCxnSpPr>
          <p:cNvPr id="33" name="Connector 32"/>
          <p:cNvCxnSpPr/>
          <p:nvPr/>
        </p:nvCxnSpPr>
        <p:spPr>
          <a:xfrm>
            <a:off x="6053328" y="2039112"/>
            <a:ext cx="0" cy="3465576"/>
          </a:xfrm>
          <a:prstGeom prst="line">
            <a:avLst/>
          </a:prstGeom>
          <a:ln w="15875">
            <a:solidFill>
              <a:srgbClr val="DCD8CF"/>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263640" y="2039112"/>
            <a:ext cx="2743200" cy="256032"/>
          </a:xfrm>
          <a:prstGeom prst="rect">
            <a:avLst/>
          </a:prstGeom>
          <a:noFill/>
        </p:spPr>
        <p:txBody>
          <a:bodyPr wrap="square" lIns="18288" rIns="18288" tIns="9144" bIns="9144">
            <a:spAutoFit/>
          </a:bodyPr>
          <a:lstStyle/>
          <a:p>
            <a:pPr>
              <a:lnSpc>
                <a:spcPct val="100000"/>
              </a:lnSpc>
              <a:defRPr sz="1200" b="1">
                <a:solidFill>
                  <a:srgbClr val="3A7D7B"/>
                </a:solidFill>
                <a:latin typeface="Calibri"/>
              </a:defRPr>
            </a:pPr>
            <a:r>
              <a:t>AGENT TEAM</a:t>
            </a:r>
          </a:p>
        </p:txBody>
      </p:sp>
      <p:sp>
        <p:nvSpPr>
          <p:cNvPr id="35" name="Rounded Rectangle 34"/>
          <p:cNvSpPr/>
          <p:nvPr/>
        </p:nvSpPr>
        <p:spPr>
          <a:xfrm>
            <a:off x="7795259" y="2359151"/>
            <a:ext cx="2286000" cy="457200"/>
          </a:xfrm>
          <a:prstGeom prst="roundRect">
            <a:avLst>
              <a:gd name="adj" fmla="val 18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350" b="1">
                <a:solidFill>
                  <a:srgbClr val="FFFFFF"/>
                </a:solidFill>
                <a:latin typeface="Calibri"/>
              </a:defRPr>
            </a:pPr>
            <a:r>
              <a:t>Team Lead</a:t>
            </a:r>
          </a:p>
        </p:txBody>
      </p:sp>
      <p:cxnSp>
        <p:nvCxnSpPr>
          <p:cNvPr id="36" name="Connector 35"/>
          <p:cNvCxnSpPr/>
          <p:nvPr/>
        </p:nvCxnSpPr>
        <p:spPr>
          <a:xfrm>
            <a:off x="8938259" y="2816351"/>
            <a:ext cx="0" cy="41148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011411" y="2907791"/>
            <a:ext cx="2377440" cy="219456"/>
          </a:xfrm>
          <a:prstGeom prst="rect">
            <a:avLst/>
          </a:prstGeom>
          <a:noFill/>
        </p:spPr>
        <p:txBody>
          <a:bodyPr wrap="square" lIns="18288" rIns="18288" tIns="9144" bIns="9144">
            <a:spAutoFit/>
          </a:bodyPr>
          <a:lstStyle/>
          <a:p>
            <a:pPr>
              <a:lnSpc>
                <a:spcPct val="100000"/>
              </a:lnSpc>
              <a:defRPr sz="950" b="1">
                <a:solidFill>
                  <a:srgbClr val="3A7D7B"/>
                </a:solidFill>
                <a:latin typeface="Calibri"/>
              </a:defRPr>
            </a:pPr>
            <a:r>
              <a:t>spawn team &amp; assign tasks</a:t>
            </a:r>
          </a:p>
        </p:txBody>
      </p:sp>
      <p:sp>
        <p:nvSpPr>
          <p:cNvPr id="38" name="Rounded Rectangle 37"/>
          <p:cNvSpPr/>
          <p:nvPr/>
        </p:nvSpPr>
        <p:spPr>
          <a:xfrm>
            <a:off x="6309359" y="3227831"/>
            <a:ext cx="5257800" cy="2103120"/>
          </a:xfrm>
          <a:prstGeom prst="roundRect">
            <a:avLst>
              <a:gd name="adj" fmla="val 6000"/>
            </a:avLst>
          </a:prstGeom>
          <a:noFill/>
          <a:ln w="15875">
            <a:solidFill>
              <a:srgbClr val="6B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6537959" y="3392423"/>
            <a:ext cx="4800600" cy="402336"/>
          </a:xfrm>
          <a:prstGeom prst="roundRect">
            <a:avLst>
              <a:gd name="adj" fmla="val 18000"/>
            </a:avLst>
          </a:prstGeom>
          <a:solidFill>
            <a:srgbClr val="FAF9F5"/>
          </a:solidFill>
          <a:ln w="15875">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250" b="1">
                <a:solidFill>
                  <a:srgbClr val="3A7D7B"/>
                </a:solidFill>
                <a:latin typeface="Calibri"/>
              </a:defRPr>
            </a:pPr>
            <a:r>
              <a:t>Shared Task List</a:t>
            </a:r>
          </a:p>
        </p:txBody>
      </p:sp>
      <p:cxnSp>
        <p:nvCxnSpPr>
          <p:cNvPr id="40" name="Connector 39"/>
          <p:cNvCxnSpPr/>
          <p:nvPr/>
        </p:nvCxnSpPr>
        <p:spPr>
          <a:xfrm>
            <a:off x="7228331" y="3794759"/>
            <a:ext cx="0" cy="566929"/>
          </a:xfrm>
          <a:prstGeom prst="line">
            <a:avLst/>
          </a:prstGeom>
          <a:ln w="19050">
            <a:solidFill>
              <a:srgbClr val="3A7D7B"/>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6565392" y="4361688"/>
            <a:ext cx="1325880" cy="548640"/>
          </a:xfrm>
          <a:prstGeom prst="roundRect">
            <a:avLst>
              <a:gd name="adj" fmla="val 18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Teammate</a:t>
            </a:r>
          </a:p>
        </p:txBody>
      </p:sp>
      <p:cxnSp>
        <p:nvCxnSpPr>
          <p:cNvPr id="42" name="Connector 41"/>
          <p:cNvCxnSpPr/>
          <p:nvPr/>
        </p:nvCxnSpPr>
        <p:spPr>
          <a:xfrm>
            <a:off x="7228331" y="4910327"/>
            <a:ext cx="0" cy="694944"/>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7274051" y="5367527"/>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cxnSp>
        <p:nvCxnSpPr>
          <p:cNvPr id="44" name="Connector 43"/>
          <p:cNvCxnSpPr/>
          <p:nvPr/>
        </p:nvCxnSpPr>
        <p:spPr>
          <a:xfrm>
            <a:off x="8938259" y="3794759"/>
            <a:ext cx="0" cy="566929"/>
          </a:xfrm>
          <a:prstGeom prst="line">
            <a:avLst/>
          </a:prstGeom>
          <a:ln w="19050">
            <a:solidFill>
              <a:srgbClr val="3A7D7B"/>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8275319" y="4361688"/>
            <a:ext cx="1325880" cy="548640"/>
          </a:xfrm>
          <a:prstGeom prst="roundRect">
            <a:avLst>
              <a:gd name="adj" fmla="val 18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Teammate</a:t>
            </a:r>
          </a:p>
        </p:txBody>
      </p:sp>
      <p:cxnSp>
        <p:nvCxnSpPr>
          <p:cNvPr id="46" name="Connector 45"/>
          <p:cNvCxnSpPr/>
          <p:nvPr/>
        </p:nvCxnSpPr>
        <p:spPr>
          <a:xfrm>
            <a:off x="7918703" y="4636007"/>
            <a:ext cx="329185" cy="0"/>
          </a:xfrm>
          <a:prstGeom prst="line">
            <a:avLst/>
          </a:prstGeom>
          <a:ln w="19050">
            <a:solidFill>
              <a:srgbClr val="5B4B8A"/>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938259" y="4910327"/>
            <a:ext cx="0" cy="694944"/>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8983980" y="5367527"/>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cxnSp>
        <p:nvCxnSpPr>
          <p:cNvPr id="49" name="Connector 48"/>
          <p:cNvCxnSpPr/>
          <p:nvPr/>
        </p:nvCxnSpPr>
        <p:spPr>
          <a:xfrm>
            <a:off x="10648188" y="3794759"/>
            <a:ext cx="0" cy="566929"/>
          </a:xfrm>
          <a:prstGeom prst="line">
            <a:avLst/>
          </a:prstGeom>
          <a:ln w="19050">
            <a:solidFill>
              <a:srgbClr val="3A7D7B"/>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9985248" y="4361688"/>
            <a:ext cx="1325880" cy="548640"/>
          </a:xfrm>
          <a:prstGeom prst="roundRect">
            <a:avLst>
              <a:gd name="adj" fmla="val 18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0" bIns="0"/>
          <a:lstStyle/>
          <a:p>
            <a:pPr algn="ctr">
              <a:defRPr sz="1150" b="1">
                <a:solidFill>
                  <a:srgbClr val="FFFFFF"/>
                </a:solidFill>
                <a:latin typeface="Calibri"/>
              </a:defRPr>
            </a:pPr>
            <a:r>
              <a:t>Teammate</a:t>
            </a:r>
          </a:p>
        </p:txBody>
      </p:sp>
      <p:cxnSp>
        <p:nvCxnSpPr>
          <p:cNvPr id="51" name="Connector 50"/>
          <p:cNvCxnSpPr/>
          <p:nvPr/>
        </p:nvCxnSpPr>
        <p:spPr>
          <a:xfrm>
            <a:off x="9628632" y="4636007"/>
            <a:ext cx="329184" cy="0"/>
          </a:xfrm>
          <a:prstGeom prst="line">
            <a:avLst/>
          </a:prstGeom>
          <a:ln w="19050">
            <a:solidFill>
              <a:srgbClr val="5B4B8A"/>
            </a:solidFill>
            <a:prstDash val="dash"/>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648188" y="4910327"/>
            <a:ext cx="0" cy="694944"/>
          </a:xfrm>
          <a:prstGeom prst="line">
            <a:avLst/>
          </a:prstGeom>
          <a:ln w="19050">
            <a:solidFill>
              <a:srgbClr val="6B6862"/>
            </a:solidFill>
            <a:tailEnd type="triangle"/>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0693908" y="5367527"/>
            <a:ext cx="548640" cy="219456"/>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work</a:t>
            </a:r>
          </a:p>
        </p:txBody>
      </p:sp>
      <p:sp>
        <p:nvSpPr>
          <p:cNvPr id="54" name="TextBox 53"/>
          <p:cNvSpPr txBox="1"/>
          <p:nvPr/>
        </p:nvSpPr>
        <p:spPr>
          <a:xfrm>
            <a:off x="7306056" y="3941063"/>
            <a:ext cx="1554480" cy="219456"/>
          </a:xfrm>
          <a:prstGeom prst="rect">
            <a:avLst/>
          </a:prstGeom>
          <a:noFill/>
        </p:spPr>
        <p:txBody>
          <a:bodyPr wrap="square" lIns="18288" rIns="18288" tIns="9144" bIns="9144">
            <a:spAutoFit/>
          </a:bodyPr>
          <a:lstStyle/>
          <a:p>
            <a:pPr algn="ctr">
              <a:lnSpc>
                <a:spcPct val="100000"/>
              </a:lnSpc>
              <a:defRPr sz="950" b="1">
                <a:solidFill>
                  <a:srgbClr val="3A7D7B"/>
                </a:solidFill>
                <a:latin typeface="Calibri"/>
              </a:defRPr>
            </a:pPr>
            <a:r>
              <a:t>claim &amp; update tasks</a:t>
            </a:r>
          </a:p>
        </p:txBody>
      </p:sp>
      <p:sp>
        <p:nvSpPr>
          <p:cNvPr id="55" name="TextBox 54"/>
          <p:cNvSpPr txBox="1"/>
          <p:nvPr/>
        </p:nvSpPr>
        <p:spPr>
          <a:xfrm>
            <a:off x="7306056" y="4983479"/>
            <a:ext cx="1554480" cy="219456"/>
          </a:xfrm>
          <a:prstGeom prst="rect">
            <a:avLst/>
          </a:prstGeom>
          <a:noFill/>
        </p:spPr>
        <p:txBody>
          <a:bodyPr wrap="square" lIns="18288" rIns="18288" tIns="9144" bIns="9144">
            <a:spAutoFit/>
          </a:bodyPr>
          <a:lstStyle/>
          <a:p>
            <a:pPr algn="ctr">
              <a:lnSpc>
                <a:spcPct val="100000"/>
              </a:lnSpc>
              <a:defRPr sz="950" b="1">
                <a:solidFill>
                  <a:srgbClr val="5B4B8A"/>
                </a:solidFill>
                <a:latin typeface="Calibri"/>
              </a:defRPr>
            </a:pPr>
            <a:r>
              <a:t>message each other</a:t>
            </a:r>
          </a:p>
        </p:txBody>
      </p:sp>
      <p:sp>
        <p:nvSpPr>
          <p:cNvPr id="56" name="Rounded Rectangle 55"/>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Subagents report back to one agent. Teammates share a task list and talk to each other.</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USE CASE 1</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 Team That Argues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15, Part 1: test a strategy before Horizon spends on it.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162</a:t>
            </a:r>
          </a:p>
        </p:txBody>
      </p:sp>
      <p:sp>
        <p:nvSpPr>
          <p:cNvPr id="8" name="Rounded Rectangle 7"/>
          <p:cNvSpPr/>
          <p:nvPr/>
        </p:nvSpPr>
        <p:spPr>
          <a:xfrm>
            <a:off x="548640" y="2084831"/>
            <a:ext cx="5394959"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5394959"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340863"/>
            <a:ext cx="4882896" cy="384048"/>
          </a:xfrm>
          <a:prstGeom prst="rect">
            <a:avLst/>
          </a:prstGeom>
          <a:noFill/>
        </p:spPr>
        <p:txBody>
          <a:bodyPr wrap="square" lIns="18288" rIns="18288" tIns="9144" bIns="9144">
            <a:spAutoFit/>
          </a:bodyPr>
          <a:lstStyle/>
          <a:p>
            <a:pPr>
              <a:lnSpc>
                <a:spcPct val="100000"/>
              </a:lnSpc>
              <a:defRPr sz="1900" b="1">
                <a:solidFill>
                  <a:srgbClr val="21201C"/>
                </a:solidFill>
                <a:latin typeface="Cambria"/>
              </a:defRPr>
            </a:pPr>
            <a:r>
              <a:t>Advocate · growth-strategist</a:t>
            </a:r>
          </a:p>
        </p:txBody>
      </p:sp>
      <p:sp>
        <p:nvSpPr>
          <p:cNvPr id="11" name="Rectangle 10"/>
          <p:cNvSpPr/>
          <p:nvPr/>
        </p:nvSpPr>
        <p:spPr>
          <a:xfrm>
            <a:off x="804672" y="3008375"/>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2889503"/>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Argues FOR the "Turning 55" CPF explainer</a:t>
            </a:r>
          </a:p>
        </p:txBody>
      </p:sp>
      <p:sp>
        <p:nvSpPr>
          <p:cNvPr id="13" name="Rectangle 12"/>
          <p:cNvSpPr/>
          <p:nvPr/>
        </p:nvSpPr>
        <p:spPr>
          <a:xfrm>
            <a:off x="804672" y="3898391"/>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3779519"/>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Cites results, personas and the facts sheet</a:t>
            </a:r>
          </a:p>
        </p:txBody>
      </p:sp>
      <p:sp>
        <p:nvSpPr>
          <p:cNvPr id="15" name="Rectangle 14"/>
          <p:cNvSpPr/>
          <p:nvPr/>
        </p:nvSpPr>
        <p:spPr>
          <a:xfrm>
            <a:off x="804672" y="4788407"/>
            <a:ext cx="82296" cy="8229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4669535"/>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Answers the critic directly — two rebuttals</a:t>
            </a:r>
          </a:p>
        </p:txBody>
      </p:sp>
      <p:sp>
        <p:nvSpPr>
          <p:cNvPr id="17" name="Rounded Rectangle 16"/>
          <p:cNvSpPr/>
          <p:nvPr/>
        </p:nvSpPr>
        <p:spPr>
          <a:xfrm>
            <a:off x="6217919" y="2084831"/>
            <a:ext cx="5394959" cy="3675887"/>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19" y="2084831"/>
            <a:ext cx="5394959"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3951" y="2340863"/>
            <a:ext cx="4882896" cy="384048"/>
          </a:xfrm>
          <a:prstGeom prst="rect">
            <a:avLst/>
          </a:prstGeom>
          <a:noFill/>
        </p:spPr>
        <p:txBody>
          <a:bodyPr wrap="square" lIns="18288" rIns="18288" tIns="9144" bIns="9144">
            <a:spAutoFit/>
          </a:bodyPr>
          <a:lstStyle/>
          <a:p>
            <a:pPr>
              <a:lnSpc>
                <a:spcPct val="100000"/>
              </a:lnSpc>
              <a:defRPr sz="1900" b="1">
                <a:solidFill>
                  <a:srgbClr val="21201C"/>
                </a:solidFill>
                <a:latin typeface="Cambria"/>
              </a:defRPr>
            </a:pPr>
            <a:r>
              <a:t>Critic · growth-analyst</a:t>
            </a:r>
          </a:p>
        </p:txBody>
      </p:sp>
      <p:sp>
        <p:nvSpPr>
          <p:cNvPr id="20" name="Rectangle 19"/>
          <p:cNvSpPr/>
          <p:nvPr/>
        </p:nvSpPr>
        <p:spPr>
          <a:xfrm>
            <a:off x="6473951" y="3008375"/>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93407" y="2889503"/>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Argues AGAINST it — cost, timing, audience</a:t>
            </a:r>
          </a:p>
        </p:txBody>
      </p:sp>
      <p:sp>
        <p:nvSpPr>
          <p:cNvPr id="22" name="Rectangle 21"/>
          <p:cNvSpPr/>
          <p:nvPr/>
        </p:nvSpPr>
        <p:spPr>
          <a:xfrm>
            <a:off x="6473951" y="3898391"/>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3407" y="3779519"/>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Every point backed by a file, not an opinion</a:t>
            </a:r>
          </a:p>
        </p:txBody>
      </p:sp>
      <p:sp>
        <p:nvSpPr>
          <p:cNvPr id="24" name="Rectangle 23"/>
          <p:cNvSpPr/>
          <p:nvPr/>
        </p:nvSpPr>
        <p:spPr>
          <a:xfrm>
            <a:off x="6473951" y="4788407"/>
            <a:ext cx="82296" cy="82296"/>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93407" y="4669535"/>
            <a:ext cx="4645151" cy="835151"/>
          </a:xfrm>
          <a:prstGeom prst="rect">
            <a:avLst/>
          </a:prstGeom>
          <a:noFill/>
        </p:spPr>
        <p:txBody>
          <a:bodyPr wrap="square" lIns="18288" rIns="18288" tIns="9144" bIns="9144">
            <a:spAutoFit/>
          </a:bodyPr>
          <a:lstStyle/>
          <a:p>
            <a:pPr>
              <a:lnSpc>
                <a:spcPct val="110000"/>
              </a:lnSpc>
              <a:defRPr sz="1350" b="0">
                <a:solidFill>
                  <a:srgbClr val="6B6862"/>
                </a:solidFill>
                <a:latin typeface="Calibri"/>
              </a:defRPr>
            </a:pPr>
            <a:r>
              <a:t>The Lead judges; a person makes the call</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TOPIC 3 · USE CASE 2</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The QA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Lab 15, Part 2: a failed audit goes straight back to the writer — not through the Lead.</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163</a:t>
            </a:r>
          </a:p>
        </p:txBody>
      </p:sp>
      <p:sp>
        <p:nvSpPr>
          <p:cNvPr id="8" name="Rounded Rectangle 7"/>
          <p:cNvSpPr/>
          <p:nvPr/>
        </p:nvSpPr>
        <p:spPr>
          <a:xfrm>
            <a:off x="548640" y="2587752"/>
            <a:ext cx="2606040" cy="1097280"/>
          </a:xfrm>
          <a:prstGeom prst="roundRect">
            <a:avLst>
              <a:gd name="adj" fmla="val 6000"/>
            </a:avLst>
          </a:prstGeom>
          <a:solidFill>
            <a:srgbClr val="FFFFFF"/>
          </a:solidFill>
          <a:ln w="22225">
            <a:solidFill>
              <a:srgbClr val="5B4B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87752"/>
            <a:ext cx="2606040" cy="68580"/>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752344"/>
            <a:ext cx="2276856" cy="329184"/>
          </a:xfrm>
          <a:prstGeom prst="rect">
            <a:avLst/>
          </a:prstGeom>
          <a:noFill/>
        </p:spPr>
        <p:txBody>
          <a:bodyPr wrap="square" lIns="18288" rIns="18288" tIns="9144" bIns="9144">
            <a:spAutoFit/>
          </a:bodyPr>
          <a:lstStyle/>
          <a:p>
            <a:pPr>
              <a:lnSpc>
                <a:spcPct val="100000"/>
              </a:lnSpc>
              <a:defRPr sz="1500" b="1">
                <a:solidFill>
                  <a:srgbClr val="21201C"/>
                </a:solidFill>
                <a:latin typeface="Cambria"/>
              </a:defRPr>
            </a:pPr>
            <a:r>
              <a:t>Writer</a:t>
            </a:r>
          </a:p>
        </p:txBody>
      </p:sp>
      <p:sp>
        <p:nvSpPr>
          <p:cNvPr id="11" name="TextBox 10"/>
          <p:cNvSpPr txBox="1"/>
          <p:nvPr/>
        </p:nvSpPr>
        <p:spPr>
          <a:xfrm>
            <a:off x="713232" y="3118104"/>
            <a:ext cx="2276856" cy="530352"/>
          </a:xfrm>
          <a:prstGeom prst="rect">
            <a:avLst/>
          </a:prstGeom>
          <a:noFill/>
        </p:spPr>
        <p:txBody>
          <a:bodyPr wrap="square" lIns="18288" rIns="18288" tIns="9144" bIns="9144">
            <a:spAutoFit/>
          </a:bodyPr>
          <a:lstStyle/>
          <a:p>
            <a:pPr>
              <a:lnSpc>
                <a:spcPct val="105000"/>
              </a:lnSpc>
              <a:defRPr sz="1100" b="0">
                <a:solidFill>
                  <a:srgbClr val="6B6862"/>
                </a:solidFill>
                <a:latin typeface="Calibri"/>
              </a:defRPr>
            </a:pPr>
            <a:r>
              <a:t>content-creator: rewrites the intern's draft into an email and a video script.</a:t>
            </a:r>
          </a:p>
        </p:txBody>
      </p:sp>
      <p:sp>
        <p:nvSpPr>
          <p:cNvPr id="12" name="Rounded Rectangle 11"/>
          <p:cNvSpPr/>
          <p:nvPr/>
        </p:nvSpPr>
        <p:spPr>
          <a:xfrm>
            <a:off x="4160520" y="2587752"/>
            <a:ext cx="2606040" cy="1097280"/>
          </a:xfrm>
          <a:prstGeom prst="roundRect">
            <a:avLst>
              <a:gd name="adj" fmla="val 6000"/>
            </a:avLst>
          </a:prstGeom>
          <a:solidFill>
            <a:srgbClr val="FFFFFF"/>
          </a:solidFill>
          <a:ln w="222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60520" y="2587752"/>
            <a:ext cx="2606040"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25112" y="2752344"/>
            <a:ext cx="2276856" cy="329184"/>
          </a:xfrm>
          <a:prstGeom prst="rect">
            <a:avLst/>
          </a:prstGeom>
          <a:noFill/>
        </p:spPr>
        <p:txBody>
          <a:bodyPr wrap="square" lIns="18288" rIns="18288" tIns="9144" bIns="9144">
            <a:spAutoFit/>
          </a:bodyPr>
          <a:lstStyle/>
          <a:p>
            <a:pPr>
              <a:lnSpc>
                <a:spcPct val="100000"/>
              </a:lnSpc>
              <a:defRPr sz="1500" b="1">
                <a:solidFill>
                  <a:srgbClr val="21201C"/>
                </a:solidFill>
                <a:latin typeface="Cambria"/>
              </a:defRPr>
            </a:pPr>
            <a:r>
              <a:t>QA Auditor</a:t>
            </a:r>
          </a:p>
        </p:txBody>
      </p:sp>
      <p:sp>
        <p:nvSpPr>
          <p:cNvPr id="15" name="TextBox 14"/>
          <p:cNvSpPr txBox="1"/>
          <p:nvPr/>
        </p:nvSpPr>
        <p:spPr>
          <a:xfrm>
            <a:off x="4325112" y="3118104"/>
            <a:ext cx="2276856" cy="530352"/>
          </a:xfrm>
          <a:prstGeom prst="rect">
            <a:avLst/>
          </a:prstGeom>
          <a:noFill/>
        </p:spPr>
        <p:txBody>
          <a:bodyPr wrap="square" lIns="18288" rIns="18288" tIns="9144" bIns="9144">
            <a:spAutoFit/>
          </a:bodyPr>
          <a:lstStyle/>
          <a:p>
            <a:pPr>
              <a:lnSpc>
                <a:spcPct val="105000"/>
              </a:lnSpc>
              <a:defRPr sz="1100" b="0">
                <a:solidFill>
                  <a:srgbClr val="6B6862"/>
                </a:solidFill>
                <a:latin typeface="Calibri"/>
              </a:defRPr>
            </a:pPr>
            <a:r>
              <a:t>fact-check + fin-compliance; PASS or FAIL per check, every round logged.</a:t>
            </a:r>
          </a:p>
        </p:txBody>
      </p:sp>
      <p:cxnSp>
        <p:nvCxnSpPr>
          <p:cNvPr id="16" name="Connector 15"/>
          <p:cNvCxnSpPr/>
          <p:nvPr/>
        </p:nvCxnSpPr>
        <p:spPr>
          <a:xfrm>
            <a:off x="3209544" y="2898648"/>
            <a:ext cx="896112" cy="0"/>
          </a:xfrm>
          <a:prstGeom prst="line">
            <a:avLst/>
          </a:prstGeom>
          <a:ln w="25400">
            <a:solidFill>
              <a:srgbClr val="5B4B8A"/>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3154680" y="2624328"/>
            <a:ext cx="1005839" cy="237744"/>
          </a:xfrm>
          <a:prstGeom prst="rect">
            <a:avLst/>
          </a:prstGeom>
          <a:noFill/>
        </p:spPr>
        <p:txBody>
          <a:bodyPr wrap="square" lIns="18288" rIns="18288" tIns="9144" bIns="9144">
            <a:spAutoFit/>
          </a:bodyPr>
          <a:lstStyle/>
          <a:p>
            <a:pPr algn="ctr">
              <a:lnSpc>
                <a:spcPct val="100000"/>
              </a:lnSpc>
              <a:defRPr sz="1050" b="1">
                <a:solidFill>
                  <a:srgbClr val="5B4B8A"/>
                </a:solidFill>
                <a:latin typeface="Calibri"/>
              </a:defRPr>
            </a:pPr>
            <a:r>
              <a:t>draft</a:t>
            </a:r>
          </a:p>
        </p:txBody>
      </p:sp>
      <p:cxnSp>
        <p:nvCxnSpPr>
          <p:cNvPr id="18" name="Connector 17"/>
          <p:cNvCxnSpPr/>
          <p:nvPr/>
        </p:nvCxnSpPr>
        <p:spPr>
          <a:xfrm flipH="1">
            <a:off x="3209544" y="3374136"/>
            <a:ext cx="896112" cy="0"/>
          </a:xfrm>
          <a:prstGeom prst="line">
            <a:avLst/>
          </a:prstGeom>
          <a:ln w="25400">
            <a:solidFill>
              <a:srgbClr val="D97757"/>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154680" y="3410712"/>
            <a:ext cx="1005839" cy="237744"/>
          </a:xfrm>
          <a:prstGeom prst="rect">
            <a:avLst/>
          </a:prstGeom>
          <a:noFill/>
        </p:spPr>
        <p:txBody>
          <a:bodyPr wrap="square" lIns="18288" rIns="18288" tIns="9144" bIns="9144">
            <a:spAutoFit/>
          </a:bodyPr>
          <a:lstStyle/>
          <a:p>
            <a:pPr algn="ctr">
              <a:lnSpc>
                <a:spcPct val="100000"/>
              </a:lnSpc>
              <a:defRPr sz="1050" b="1">
                <a:solidFill>
                  <a:srgbClr val="D97757"/>
                </a:solidFill>
                <a:latin typeface="Calibri"/>
              </a:defRPr>
            </a:pPr>
            <a:r>
              <a:t>FAIL → fixes</a:t>
            </a:r>
          </a:p>
        </p:txBody>
      </p:sp>
      <p:cxnSp>
        <p:nvCxnSpPr>
          <p:cNvPr id="20" name="Connector 19"/>
          <p:cNvCxnSpPr/>
          <p:nvPr/>
        </p:nvCxnSpPr>
        <p:spPr>
          <a:xfrm>
            <a:off x="6803136" y="3136392"/>
            <a:ext cx="640080" cy="0"/>
          </a:xfrm>
          <a:prstGeom prst="line">
            <a:avLst/>
          </a:prstGeom>
          <a:ln w="2540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784848" y="2843784"/>
            <a:ext cx="640080" cy="237744"/>
          </a:xfrm>
          <a:prstGeom prst="rect">
            <a:avLst/>
          </a:prstGeom>
          <a:noFill/>
        </p:spPr>
        <p:txBody>
          <a:bodyPr wrap="square" lIns="18288" rIns="18288" tIns="9144" bIns="9144">
            <a:spAutoFit/>
          </a:bodyPr>
          <a:lstStyle/>
          <a:p>
            <a:pPr algn="ctr">
              <a:lnSpc>
                <a:spcPct val="100000"/>
              </a:lnSpc>
              <a:defRPr sz="1050" b="1">
                <a:solidFill>
                  <a:srgbClr val="3A7D7B"/>
                </a:solidFill>
                <a:latin typeface="Calibri"/>
              </a:defRPr>
            </a:pPr>
            <a:r>
              <a:t>PASS</a:t>
            </a:r>
          </a:p>
        </p:txBody>
      </p:sp>
      <p:sp>
        <p:nvSpPr>
          <p:cNvPr id="22" name="Rounded Rectangle 21"/>
          <p:cNvSpPr/>
          <p:nvPr/>
        </p:nvSpPr>
        <p:spPr>
          <a:xfrm>
            <a:off x="7516368" y="2587752"/>
            <a:ext cx="1280159" cy="1097280"/>
          </a:xfrm>
          <a:prstGeom prst="roundRect">
            <a:avLst>
              <a:gd name="adj" fmla="val 6000"/>
            </a:avLst>
          </a:prstGeom>
          <a:solidFill>
            <a:srgbClr val="FAF9F5"/>
          </a:solidFill>
          <a:ln w="15875">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26096" y="2752344"/>
            <a:ext cx="1060703" cy="310896"/>
          </a:xfrm>
          <a:prstGeom prst="rect">
            <a:avLst/>
          </a:prstGeom>
          <a:noFill/>
        </p:spPr>
        <p:txBody>
          <a:bodyPr wrap="square" lIns="18288" rIns="18288" tIns="9144" bIns="9144">
            <a:spAutoFit/>
          </a:bodyPr>
          <a:lstStyle/>
          <a:p>
            <a:pPr>
              <a:lnSpc>
                <a:spcPct val="100000"/>
              </a:lnSpc>
              <a:defRPr sz="1300" b="1">
                <a:solidFill>
                  <a:srgbClr val="21201C"/>
                </a:solidFill>
                <a:latin typeface="Cambria"/>
              </a:defRPr>
            </a:pPr>
            <a:r>
              <a:t>Designer</a:t>
            </a:r>
          </a:p>
        </p:txBody>
      </p:sp>
      <p:sp>
        <p:nvSpPr>
          <p:cNvPr id="24" name="TextBox 23"/>
          <p:cNvSpPr txBox="1"/>
          <p:nvPr/>
        </p:nvSpPr>
        <p:spPr>
          <a:xfrm>
            <a:off x="7626096" y="3099816"/>
            <a:ext cx="1060703" cy="548640"/>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Asks the writer for the headline; one image.</a:t>
            </a:r>
          </a:p>
        </p:txBody>
      </p:sp>
      <p:sp>
        <p:nvSpPr>
          <p:cNvPr id="25" name="Rounded Rectangle 24"/>
          <p:cNvSpPr/>
          <p:nvPr/>
        </p:nvSpPr>
        <p:spPr>
          <a:xfrm>
            <a:off x="8924544" y="2587752"/>
            <a:ext cx="1280159" cy="1097280"/>
          </a:xfrm>
          <a:prstGeom prst="roundRect">
            <a:avLst>
              <a:gd name="adj" fmla="val 6000"/>
            </a:avLst>
          </a:prstGeom>
          <a:solidFill>
            <a:srgbClr val="FAF9F5"/>
          </a:solidFill>
          <a:ln w="15875">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34272" y="2752344"/>
            <a:ext cx="1060703" cy="310896"/>
          </a:xfrm>
          <a:prstGeom prst="rect">
            <a:avLst/>
          </a:prstGeom>
          <a:noFill/>
        </p:spPr>
        <p:txBody>
          <a:bodyPr wrap="square" lIns="18288" rIns="18288" tIns="9144" bIns="9144">
            <a:spAutoFit/>
          </a:bodyPr>
          <a:lstStyle/>
          <a:p>
            <a:pPr>
              <a:lnSpc>
                <a:spcPct val="100000"/>
              </a:lnSpc>
              <a:defRPr sz="1300" b="1">
                <a:solidFill>
                  <a:srgbClr val="21201C"/>
                </a:solidFill>
                <a:latin typeface="Cambria"/>
              </a:defRPr>
            </a:pPr>
            <a:r>
              <a:t>Lead</a:t>
            </a:r>
          </a:p>
        </p:txBody>
      </p:sp>
      <p:sp>
        <p:nvSpPr>
          <p:cNvPr id="27" name="TextBox 26"/>
          <p:cNvSpPr txBox="1"/>
          <p:nvPr/>
        </p:nvSpPr>
        <p:spPr>
          <a:xfrm>
            <a:off x="9034272" y="3099816"/>
            <a:ext cx="1060703" cy="548640"/>
          </a:xfrm>
          <a:prstGeom prst="rect">
            <a:avLst/>
          </a:prstGeom>
          <a:noFill/>
        </p:spPr>
        <p:txBody>
          <a:bodyPr wrap="square" lIns="18288" rIns="18288" tIns="9144" bIns="9144">
            <a:spAutoFit/>
          </a:bodyPr>
          <a:lstStyle/>
          <a:p>
            <a:pPr>
              <a:lnSpc>
                <a:spcPct val="105000"/>
              </a:lnSpc>
              <a:defRPr sz="1050" b="0">
                <a:solidFill>
                  <a:srgbClr val="6B6862"/>
                </a:solidFill>
                <a:latin typeface="Calibri"/>
              </a:defRPr>
            </a:pPr>
            <a:r>
              <a:t>Submits for approval; never rewrites.</a:t>
            </a:r>
          </a:p>
        </p:txBody>
      </p:sp>
      <p:cxnSp>
        <p:nvCxnSpPr>
          <p:cNvPr id="28" name="Connector 27"/>
          <p:cNvCxnSpPr/>
          <p:nvPr/>
        </p:nvCxnSpPr>
        <p:spPr>
          <a:xfrm>
            <a:off x="8805672" y="3136392"/>
            <a:ext cx="109728" cy="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10332720" y="2587752"/>
            <a:ext cx="1280159" cy="1097280"/>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442448" y="2752344"/>
            <a:ext cx="1060703" cy="310896"/>
          </a:xfrm>
          <a:prstGeom prst="rect">
            <a:avLst/>
          </a:prstGeom>
          <a:noFill/>
        </p:spPr>
        <p:txBody>
          <a:bodyPr wrap="square" lIns="18288" rIns="18288" tIns="9144" bIns="9144">
            <a:spAutoFit/>
          </a:bodyPr>
          <a:lstStyle/>
          <a:p>
            <a:pPr>
              <a:lnSpc>
                <a:spcPct val="100000"/>
              </a:lnSpc>
              <a:defRPr sz="1300" b="1">
                <a:solidFill>
                  <a:srgbClr val="FFFFFF"/>
                </a:solidFill>
                <a:latin typeface="Cambria"/>
              </a:defRPr>
            </a:pPr>
            <a:r>
              <a:t>Person</a:t>
            </a:r>
          </a:p>
        </p:txBody>
      </p:sp>
      <p:sp>
        <p:nvSpPr>
          <p:cNvPr id="31" name="TextBox 30"/>
          <p:cNvSpPr txBox="1"/>
          <p:nvPr/>
        </p:nvSpPr>
        <p:spPr>
          <a:xfrm>
            <a:off x="10442448" y="3099816"/>
            <a:ext cx="1060703" cy="548640"/>
          </a:xfrm>
          <a:prstGeom prst="rect">
            <a:avLst/>
          </a:prstGeom>
          <a:noFill/>
        </p:spPr>
        <p:txBody>
          <a:bodyPr wrap="square" lIns="18288" rIns="18288" tIns="9144" bIns="9144">
            <a:spAutoFit/>
          </a:bodyPr>
          <a:lstStyle/>
          <a:p>
            <a:pPr>
              <a:lnSpc>
                <a:spcPct val="105000"/>
              </a:lnSpc>
              <a:defRPr sz="1050" b="0">
                <a:solidFill>
                  <a:srgbClr val="C9C4B9"/>
                </a:solidFill>
                <a:latin typeface="Calibri"/>
              </a:defRPr>
            </a:pPr>
            <a:r>
              <a:t>Approves the exact version.</a:t>
            </a:r>
          </a:p>
        </p:txBody>
      </p:sp>
      <p:cxnSp>
        <p:nvCxnSpPr>
          <p:cNvPr id="32" name="Connector 31"/>
          <p:cNvCxnSpPr/>
          <p:nvPr/>
        </p:nvCxnSpPr>
        <p:spPr>
          <a:xfrm>
            <a:off x="10213848" y="3136392"/>
            <a:ext cx="109728" cy="0"/>
          </a:xfrm>
          <a:prstGeom prst="line">
            <a:avLst/>
          </a:prstGeom>
          <a:ln w="19050">
            <a:solidFill>
              <a:srgbClr val="3A7D7B"/>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48640" y="4050792"/>
            <a:ext cx="5486400" cy="256032"/>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THE AUDIT FAILS WHEN</a:t>
            </a:r>
          </a:p>
        </p:txBody>
      </p:sp>
      <p:sp>
        <p:nvSpPr>
          <p:cNvPr id="34" name="Oval 33"/>
          <p:cNvSpPr/>
          <p:nvPr/>
        </p:nvSpPr>
        <p:spPr>
          <a:xfrm>
            <a:off x="548640" y="437997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mbria"/>
              </a:defRPr>
            </a:pPr>
            <a:r>
              <a:t>1</a:t>
            </a:r>
          </a:p>
        </p:txBody>
      </p:sp>
      <p:sp>
        <p:nvSpPr>
          <p:cNvPr id="35" name="TextBox 34"/>
          <p:cNvSpPr txBox="1"/>
          <p:nvPr/>
        </p:nvSpPr>
        <p:spPr>
          <a:xfrm>
            <a:off x="932688" y="4389120"/>
            <a:ext cx="5074920" cy="292608"/>
          </a:xfrm>
          <a:prstGeom prst="rect">
            <a:avLst/>
          </a:prstGeom>
          <a:noFill/>
        </p:spPr>
        <p:txBody>
          <a:bodyPr wrap="square" lIns="18288" rIns="18288" tIns="9144" bIns="9144">
            <a:spAutoFit/>
          </a:bodyPr>
          <a:lstStyle/>
          <a:p>
            <a:pPr>
              <a:lnSpc>
                <a:spcPct val="100000"/>
              </a:lnSpc>
              <a:defRPr sz="1200" b="0">
                <a:solidFill>
                  <a:srgbClr val="21201C"/>
                </a:solidFill>
                <a:latin typeface="Calibri"/>
              </a:defRPr>
            </a:pPr>
            <a:r>
              <a:t>A figure is not in facts-2026.md</a:t>
            </a:r>
          </a:p>
        </p:txBody>
      </p:sp>
      <p:sp>
        <p:nvSpPr>
          <p:cNvPr id="36" name="Oval 35"/>
          <p:cNvSpPr/>
          <p:nvPr/>
        </p:nvSpPr>
        <p:spPr>
          <a:xfrm>
            <a:off x="548640" y="474573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mbria"/>
              </a:defRPr>
            </a:pPr>
            <a:r>
              <a:t>2</a:t>
            </a:r>
          </a:p>
        </p:txBody>
      </p:sp>
      <p:sp>
        <p:nvSpPr>
          <p:cNvPr id="37" name="TextBox 36"/>
          <p:cNvSpPr txBox="1"/>
          <p:nvPr/>
        </p:nvSpPr>
        <p:spPr>
          <a:xfrm>
            <a:off x="932688" y="4754880"/>
            <a:ext cx="5074920" cy="292608"/>
          </a:xfrm>
          <a:prstGeom prst="rect">
            <a:avLst/>
          </a:prstGeom>
          <a:noFill/>
        </p:spPr>
        <p:txBody>
          <a:bodyPr wrap="square" lIns="18288" rIns="18288" tIns="9144" bIns="9144">
            <a:spAutoFit/>
          </a:bodyPr>
          <a:lstStyle/>
          <a:p>
            <a:pPr>
              <a:lnSpc>
                <a:spcPct val="100000"/>
              </a:lnSpc>
              <a:defRPr sz="1200" b="0">
                <a:solidFill>
                  <a:srgbClr val="21201C"/>
                </a:solidFill>
                <a:latin typeface="Calibri"/>
              </a:defRPr>
            </a:pPr>
            <a:r>
              <a:t>A promise of savings or returns</a:t>
            </a:r>
          </a:p>
        </p:txBody>
      </p:sp>
      <p:sp>
        <p:nvSpPr>
          <p:cNvPr id="38" name="Oval 37"/>
          <p:cNvSpPr/>
          <p:nvPr/>
        </p:nvSpPr>
        <p:spPr>
          <a:xfrm>
            <a:off x="6126479" y="437997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mbria"/>
              </a:defRPr>
            </a:pPr>
            <a:r>
              <a:t>3</a:t>
            </a:r>
          </a:p>
        </p:txBody>
      </p:sp>
      <p:sp>
        <p:nvSpPr>
          <p:cNvPr id="39" name="TextBox 38"/>
          <p:cNvSpPr txBox="1"/>
          <p:nvPr/>
        </p:nvSpPr>
        <p:spPr>
          <a:xfrm>
            <a:off x="6510527" y="4389120"/>
            <a:ext cx="5074920" cy="292608"/>
          </a:xfrm>
          <a:prstGeom prst="rect">
            <a:avLst/>
          </a:prstGeom>
          <a:noFill/>
        </p:spPr>
        <p:txBody>
          <a:bodyPr wrap="square" lIns="18288" rIns="18288" tIns="9144" bIns="9144">
            <a:spAutoFit/>
          </a:bodyPr>
          <a:lstStyle/>
          <a:p>
            <a:pPr>
              <a:lnSpc>
                <a:spcPct val="100000"/>
              </a:lnSpc>
              <a:defRPr sz="1200" b="0">
                <a:solidFill>
                  <a:srgbClr val="21201C"/>
                </a:solidFill>
                <a:latin typeface="Calibri"/>
              </a:defRPr>
            </a:pPr>
            <a:r>
              <a:t>Advice ("everyone should…")</a:t>
            </a:r>
          </a:p>
        </p:txBody>
      </p:sp>
      <p:sp>
        <p:nvSpPr>
          <p:cNvPr id="40" name="Oval 39"/>
          <p:cNvSpPr/>
          <p:nvPr/>
        </p:nvSpPr>
        <p:spPr>
          <a:xfrm>
            <a:off x="6126479" y="474573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mbria"/>
              </a:defRPr>
            </a:pPr>
            <a:r>
              <a:t>4</a:t>
            </a:r>
          </a:p>
        </p:txBody>
      </p:sp>
      <p:sp>
        <p:nvSpPr>
          <p:cNvPr id="41" name="TextBox 40"/>
          <p:cNvSpPr txBox="1"/>
          <p:nvPr/>
        </p:nvSpPr>
        <p:spPr>
          <a:xfrm>
            <a:off x="6510527" y="4754880"/>
            <a:ext cx="5074920" cy="292608"/>
          </a:xfrm>
          <a:prstGeom prst="rect">
            <a:avLst/>
          </a:prstGeom>
          <a:noFill/>
        </p:spPr>
        <p:txBody>
          <a:bodyPr wrap="square" lIns="18288" rIns="18288" tIns="9144" bIns="9144">
            <a:spAutoFit/>
          </a:bodyPr>
          <a:lstStyle/>
          <a:p>
            <a:pPr>
              <a:lnSpc>
                <a:spcPct val="100000"/>
              </a:lnSpc>
              <a:defRPr sz="1200" b="0">
                <a:solidFill>
                  <a:srgbClr val="21201C"/>
                </a:solidFill>
                <a:latin typeface="Calibri"/>
              </a:defRPr>
            </a:pPr>
            <a:r>
              <a:t>A wrong age or a missing disclaimer</a:t>
            </a:r>
          </a:p>
        </p:txBody>
      </p:sp>
      <p:sp>
        <p:nvSpPr>
          <p:cNvPr id="42" name="Rounded Rectangle 41"/>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Three rounds at most — then the Lead escalates to a person.</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HANDS-ON</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164</a:t>
            </a:r>
          </a:p>
        </p:txBody>
      </p:sp>
      <p:sp>
        <p:nvSpPr>
          <p:cNvPr id="7" name="Rectangle 6"/>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847088"/>
            <a:ext cx="137160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LAB 15</a:t>
            </a:r>
          </a:p>
        </p:txBody>
      </p:sp>
      <p:sp>
        <p:nvSpPr>
          <p:cNvPr id="9" name="TextBox 8"/>
          <p:cNvSpPr txBox="1"/>
          <p:nvPr/>
        </p:nvSpPr>
        <p:spPr>
          <a:xfrm>
            <a:off x="2103120" y="1883664"/>
            <a:ext cx="3657600" cy="329184"/>
          </a:xfrm>
          <a:prstGeom prst="rect">
            <a:avLst/>
          </a:prstGeom>
          <a:noFill/>
        </p:spPr>
        <p:txBody>
          <a:bodyPr wrap="square" lIns="18288" rIns="18288" tIns="9144" bIns="9144">
            <a:spAutoFit/>
          </a:bodyPr>
          <a:lstStyle/>
          <a:p>
            <a:pPr>
              <a:lnSpc>
                <a:spcPct val="100000"/>
              </a:lnSpc>
              <a:defRPr sz="1200" b="1">
                <a:solidFill>
                  <a:srgbClr val="D97757"/>
                </a:solidFill>
                <a:latin typeface="Calibri"/>
              </a:defRPr>
            </a:pPr>
            <a:r>
              <a:t>DAY 2 · ~35 MIN</a:t>
            </a:r>
          </a:p>
        </p:txBody>
      </p:sp>
      <p:sp>
        <p:nvSpPr>
          <p:cNvPr id="10" name="Rectangle 9"/>
          <p:cNvSpPr/>
          <p:nvPr/>
        </p:nvSpPr>
        <p:spPr>
          <a:xfrm>
            <a:off x="5852160" y="1783080"/>
            <a:ext cx="5760720" cy="4572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0" y="1847088"/>
            <a:ext cx="5760720" cy="365760"/>
          </a:xfrm>
          <a:prstGeom prst="rect">
            <a:avLst/>
          </a:prstGeom>
          <a:noFill/>
        </p:spPr>
        <p:txBody>
          <a:bodyPr wrap="square" lIns="18288" rIns="18288" tIns="9144" bIns="9144">
            <a:spAutoFit/>
          </a:bodyPr>
          <a:lstStyle/>
          <a:p>
            <a:pPr algn="ctr">
              <a:lnSpc>
                <a:spcPct val="100000"/>
              </a:lnSpc>
              <a:defRPr sz="1400" b="1">
                <a:solidFill>
                  <a:srgbClr val="FFFFFF"/>
                </a:solidFill>
                <a:latin typeface="Calibri"/>
              </a:defRPr>
            </a:pPr>
            <a:r>
              <a:t>USE:  CLAUDE CODE</a:t>
            </a:r>
          </a:p>
        </p:txBody>
      </p:sp>
      <p:sp>
        <p:nvSpPr>
          <p:cNvPr id="12" name="TextBox 11"/>
          <p:cNvSpPr txBox="1"/>
          <p:nvPr/>
        </p:nvSpPr>
        <p:spPr>
          <a:xfrm>
            <a:off x="548640" y="2395728"/>
            <a:ext cx="548640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THE STORY SO FAR</a:t>
            </a:r>
          </a:p>
        </p:txBody>
      </p:sp>
      <p:sp>
        <p:nvSpPr>
          <p:cNvPr id="13" name="TextBox 12"/>
          <p:cNvSpPr txBox="1"/>
          <p:nvPr/>
        </p:nvSpPr>
        <p:spPr>
          <a:xfrm>
            <a:off x="548640" y="2670048"/>
            <a:ext cx="11064240" cy="1097280"/>
          </a:xfrm>
          <a:prstGeom prst="rect">
            <a:avLst/>
          </a:prstGeom>
          <a:noFill/>
        </p:spPr>
        <p:txBody>
          <a:bodyPr wrap="square" lIns="18288" rIns="18288" tIns="9144" bIns="9144">
            <a:spAutoFit/>
          </a:bodyPr>
          <a:lstStyle/>
          <a:p>
            <a:pPr>
              <a:lnSpc>
                <a:spcPct val="110000"/>
              </a:lnSpc>
              <a:defRPr sz="1500" b="0">
                <a:solidFill>
                  <a:srgbClr val="21201C"/>
                </a:solidFill>
                <a:latin typeface="Calibri"/>
              </a:defRPr>
            </a:pPr>
            <a:r>
              <a:t>January is for people turning 55. Before Horizon spends on a CPF explainer for them, Rachel wants it argued both ways — and the intern's draft checked until it passes.</a:t>
            </a:r>
          </a:p>
        </p:txBody>
      </p:sp>
      <p:sp>
        <p:nvSpPr>
          <p:cNvPr id="14" name="Rounded Rectangle 13"/>
          <p:cNvSpPr/>
          <p:nvPr/>
        </p:nvSpPr>
        <p:spPr>
          <a:xfrm>
            <a:off x="548640" y="3840480"/>
            <a:ext cx="11064240" cy="1965960"/>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840480"/>
            <a:ext cx="64008" cy="19659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023360"/>
            <a:ext cx="10424160" cy="292608"/>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YOU'LL BUILD</a:t>
            </a:r>
          </a:p>
        </p:txBody>
      </p:sp>
      <p:sp>
        <p:nvSpPr>
          <p:cNvPr id="17" name="TextBox 16"/>
          <p:cNvSpPr txBox="1"/>
          <p:nvPr/>
        </p:nvSpPr>
        <p:spPr>
          <a:xfrm>
            <a:off x="868680" y="4352544"/>
            <a:ext cx="10424160" cy="585216"/>
          </a:xfrm>
          <a:prstGeom prst="rect">
            <a:avLst/>
          </a:prstGeom>
          <a:noFill/>
        </p:spPr>
        <p:txBody>
          <a:bodyPr wrap="square" lIns="18288" rIns="18288" tIns="9144" bIns="9144">
            <a:spAutoFit/>
          </a:bodyPr>
          <a:lstStyle/>
          <a:p>
            <a:pPr>
              <a:lnSpc>
                <a:spcPct val="105000"/>
              </a:lnSpc>
              <a:defRPr sz="1700" b="1">
                <a:solidFill>
                  <a:srgbClr val="21201C"/>
                </a:solidFill>
                <a:latin typeface="Cambria"/>
              </a:defRPr>
            </a:pPr>
            <a:r>
              <a:t>the decision (pros, cons, verdict), then an email, a video script and a thumbnail that passed QA, submitted for your approval — shown as artifacts, with a Word copy of each</a:t>
            </a:r>
          </a:p>
        </p:txBody>
      </p:sp>
      <p:sp>
        <p:nvSpPr>
          <p:cNvPr id="18" name="TextBox 17"/>
          <p:cNvSpPr txBox="1"/>
          <p:nvPr/>
        </p:nvSpPr>
        <p:spPr>
          <a:xfrm>
            <a:off x="868680" y="4992624"/>
            <a:ext cx="10424160" cy="310896"/>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Surface:  Claude Code (agent teams: Lead, teammates, shared task list, direct messages)</a:t>
            </a:r>
          </a:p>
        </p:txBody>
      </p:sp>
      <p:sp>
        <p:nvSpPr>
          <p:cNvPr id="19" name="TextBox 18"/>
          <p:cNvSpPr txBox="1"/>
          <p:nvPr/>
        </p:nvSpPr>
        <p:spPr>
          <a:xfrm>
            <a:off x="868680" y="5321808"/>
            <a:ext cx="10424160" cy="365760"/>
          </a:xfrm>
          <a:prstGeom prst="rect">
            <a:avLst/>
          </a:prstGeom>
          <a:noFill/>
        </p:spPr>
        <p:txBody>
          <a:bodyPr wrap="square" lIns="18288" rIns="18288" tIns="9144" bIns="9144">
            <a:spAutoFit/>
          </a:bodyPr>
          <a:lstStyle/>
          <a:p>
            <a:pPr>
              <a:lnSpc>
                <a:spcPct val="100000"/>
              </a:lnSpc>
              <a:defRPr sz="1250" b="0">
                <a:solidFill>
                  <a:srgbClr val="6B6862"/>
                </a:solidFill>
                <a:latin typeface="Calibri"/>
              </a:defRPr>
            </a:pPr>
            <a:r>
              <a:t>Features:  an advocate and a critic argue the pros and cons · the Lead judges · a writer and a QA Auditor loop until PASS · FAIL goes straight back to the writer · human approval</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STEPS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USE CLAUDE CODE  ·  copy each prompt from the Prompts page (link in your lab README).</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165</a:t>
            </a:r>
          </a:p>
        </p:txBody>
      </p:sp>
      <p:sp>
        <p:nvSpPr>
          <p:cNvPr id="8" name="Oval 7"/>
          <p:cNvSpPr/>
          <p:nvPr/>
        </p:nvSpPr>
        <p:spPr>
          <a:xfrm>
            <a:off x="54864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1</a:t>
            </a:r>
          </a:p>
        </p:txBody>
      </p:sp>
      <p:sp>
        <p:nvSpPr>
          <p:cNvPr id="9" name="TextBox 8"/>
          <p:cNvSpPr txBox="1"/>
          <p:nvPr/>
        </p:nvSpPr>
        <p:spPr>
          <a:xfrm>
            <a:off x="107899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New session  </a:t>
            </a:r>
            <a:r>
              <a:rPr sz="1300">
                <a:solidFill>
                  <a:srgbClr val="6B6862"/>
                </a:solidFill>
                <a:latin typeface="Calibri"/>
              </a:rPr>
              <a:t>Left sidebar: click + next to horizon-studio. Click the session title at the top and rename it "Lab 15". Run all of this lab's prompts in it.</a:t>
            </a:r>
          </a:p>
        </p:txBody>
      </p:sp>
      <p:sp>
        <p:nvSpPr>
          <p:cNvPr id="10" name="Oval 9"/>
          <p:cNvSpPr/>
          <p:nvPr/>
        </p:nvSpPr>
        <p:spPr>
          <a:xfrm>
            <a:off x="54864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2</a:t>
            </a:r>
          </a:p>
        </p:txBody>
      </p:sp>
      <p:sp>
        <p:nvSpPr>
          <p:cNvPr id="11" name="TextBox 10"/>
          <p:cNvSpPr txBox="1"/>
          <p:nvPr/>
        </p:nvSpPr>
        <p:spPr>
          <a:xfrm>
            <a:off x="107899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Part 1: the debate  </a:t>
            </a:r>
            <a:r>
              <a:rPr sz="1300">
                <a:solidFill>
                  <a:srgbClr val="6B6862"/>
                </a:solidFill>
                <a:latin typeface="Calibri"/>
              </a:rPr>
              <a:t>Copy and paste Prompt A. The advocate and the critic message each other; the decision page shows their debate.</a:t>
            </a:r>
          </a:p>
        </p:txBody>
      </p:sp>
      <p:sp>
        <p:nvSpPr>
          <p:cNvPr id="12" name="Oval 11"/>
          <p:cNvSpPr/>
          <p:nvPr/>
        </p:nvSpPr>
        <p:spPr>
          <a:xfrm>
            <a:off x="54864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3</a:t>
            </a:r>
          </a:p>
        </p:txBody>
      </p:sp>
      <p:sp>
        <p:nvSpPr>
          <p:cNvPr id="13" name="TextBox 12"/>
          <p:cNvSpPr txBox="1"/>
          <p:nvPr/>
        </p:nvSpPr>
        <p:spPr>
          <a:xfrm>
            <a:off x="107899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Decide  </a:t>
            </a:r>
            <a:r>
              <a:rPr sz="1300">
                <a:solidFill>
                  <a:srgbClr val="6B6862"/>
                </a:solidFill>
                <a:latin typeface="Calibri"/>
              </a:rPr>
              <a:t>Read the decision artifact. Reply "go", "go with conditions" or "no-go" — the call is yours.</a:t>
            </a:r>
          </a:p>
        </p:txBody>
      </p:sp>
      <p:sp>
        <p:nvSpPr>
          <p:cNvPr id="14" name="Oval 13"/>
          <p:cNvSpPr/>
          <p:nvPr/>
        </p:nvSpPr>
        <p:spPr>
          <a:xfrm>
            <a:off x="6217920" y="2121408"/>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4</a:t>
            </a:r>
          </a:p>
        </p:txBody>
      </p:sp>
      <p:sp>
        <p:nvSpPr>
          <p:cNvPr id="15" name="TextBox 14"/>
          <p:cNvSpPr txBox="1"/>
          <p:nvPr/>
        </p:nvSpPr>
        <p:spPr>
          <a:xfrm>
            <a:off x="6748272" y="2084831"/>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Part 2: the QA loop  </a:t>
            </a:r>
            <a:r>
              <a:rPr sz="1300">
                <a:solidFill>
                  <a:srgbClr val="6B6862"/>
                </a:solidFill>
                <a:latin typeface="Calibri"/>
              </a:rPr>
              <a:t>After you have made the call, copy and paste Prompt B. The audit fails on round 1; watch the auditor message the writer directly.</a:t>
            </a:r>
          </a:p>
        </p:txBody>
      </p:sp>
      <p:sp>
        <p:nvSpPr>
          <p:cNvPr id="16" name="Oval 15"/>
          <p:cNvSpPr/>
          <p:nvPr/>
        </p:nvSpPr>
        <p:spPr>
          <a:xfrm>
            <a:off x="6217920" y="2889503"/>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5</a:t>
            </a:r>
          </a:p>
        </p:txBody>
      </p:sp>
      <p:sp>
        <p:nvSpPr>
          <p:cNvPr id="17" name="TextBox 16"/>
          <p:cNvSpPr txBox="1"/>
          <p:nvPr/>
        </p:nvSpPr>
        <p:spPr>
          <a:xfrm>
            <a:off x="6748272" y="2852927"/>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Approve as a person  </a:t>
            </a:r>
            <a:r>
              <a:rPr sz="1300">
                <a:solidFill>
                  <a:srgbClr val="6B6862"/>
                </a:solidFill>
                <a:latin typeface="Calibri"/>
              </a:rPr>
              <a:t>Read the pieces and the QA artifact, then type in the chat: approved &lt;id&gt; by &lt;your name&gt; (or: changes &lt;id&gt;: what to fix).</a:t>
            </a:r>
          </a:p>
        </p:txBody>
      </p:sp>
      <p:sp>
        <p:nvSpPr>
          <p:cNvPr id="18" name="Oval 17"/>
          <p:cNvSpPr/>
          <p:nvPr/>
        </p:nvSpPr>
        <p:spPr>
          <a:xfrm>
            <a:off x="6217920" y="3657600"/>
            <a:ext cx="365760" cy="365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200" b="1">
                <a:solidFill>
                  <a:srgbClr val="FFFFFF"/>
                </a:solidFill>
                <a:latin typeface="Cambria"/>
              </a:defRPr>
            </a:pPr>
            <a:r>
              <a:t>6</a:t>
            </a:r>
          </a:p>
        </p:txBody>
      </p:sp>
      <p:sp>
        <p:nvSpPr>
          <p:cNvPr id="19" name="TextBox 18"/>
          <p:cNvSpPr txBox="1"/>
          <p:nvPr/>
        </p:nvSpPr>
        <p:spPr>
          <a:xfrm>
            <a:off x="6748272" y="3621024"/>
            <a:ext cx="4818888" cy="713232"/>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rPr b="1" sz="1300">
                <a:solidFill>
                  <a:srgbClr val="21201C"/>
                </a:solidFill>
                <a:latin typeface="Calibri"/>
              </a:rPr>
              <a:t>Shut down  </a:t>
            </a:r>
            <a:r>
              <a:rPr sz="1300">
                <a:solidFill>
                  <a:srgbClr val="6B6862"/>
                </a:solidFill>
                <a:latin typeface="Calibri"/>
              </a:rPr>
              <a:t>After you have approved the pieces, copy and paste Prompt C. The Lead stops each teammate and cleans up the team.</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166</a:t>
            </a:r>
          </a:p>
        </p:txBody>
      </p:sp>
      <p:sp>
        <p:nvSpPr>
          <p:cNvPr id="7" name="Rounded Rectangle 6"/>
          <p:cNvSpPr/>
          <p:nvPr/>
        </p:nvSpPr>
        <p:spPr>
          <a:xfrm>
            <a:off x="548640" y="1783080"/>
            <a:ext cx="11064240" cy="443484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A — Claude Code: the strategy debate</a:t>
            </a:r>
          </a:p>
        </p:txBody>
      </p:sp>
      <p:sp>
        <p:nvSpPr>
          <p:cNvPr id="9" name="TextBox 8"/>
          <p:cNvSpPr txBox="1"/>
          <p:nvPr/>
        </p:nvSpPr>
        <p:spPr>
          <a:xfrm>
            <a:off x="822960" y="2313432"/>
            <a:ext cx="10515600" cy="3831221"/>
          </a:xfrm>
          <a:prstGeom prst="rect">
            <a:avLst/>
          </a:prstGeom>
          <a:noFill/>
        </p:spPr>
        <p:txBody>
          <a:bodyPr wrap="square" lIns="18288" rIns="18288" tIns="9144" bIns="9144">
            <a:spAutoFit/>
          </a:bodyPr>
          <a:lstStyle/>
          <a:p>
            <a:pPr>
              <a:lnSpc>
                <a:spcPct val="110000"/>
              </a:lnSpc>
              <a:defRPr sz="1580" b="0">
                <a:solidFill>
                  <a:srgbClr val="21201C"/>
                </a:solidFill>
                <a:latin typeface="Calibri"/>
              </a:defRPr>
            </a:pPr>
            <a:r>
              <a:t>Create an agent team to test the strategy in data/turning-55-brief.md before we spend on it. You are the Lead and the judge: do not argue. Spawn two teammates:</a:t>
            </a:r>
          </a:p>
          <a:p>
            <a:pPr>
              <a:lnSpc>
                <a:spcPct val="110000"/>
              </a:lnSpc>
              <a:defRPr sz="1580" b="0">
                <a:solidFill>
                  <a:srgbClr val="21201C"/>
                </a:solidFill>
                <a:latin typeface="Calibri"/>
              </a:defRPr>
            </a:pPr>
            <a:r>
              <a:t>- advocate, using the agent type growth-strategist:</a:t>
            </a:r>
          </a:p>
          <a:p>
            <a:pPr>
              <a:lnSpc>
                <a:spcPct val="110000"/>
              </a:lnSpc>
              <a:defRPr sz="1580" b="0">
                <a:solidFill>
                  <a:srgbClr val="21201C"/>
                </a:solidFill>
                <a:latin typeface="Calibri"/>
              </a:defRPr>
            </a:pPr>
            <a:r>
              <a:t>  argue FOR the strategy.</a:t>
            </a:r>
          </a:p>
          <a:p>
            <a:pPr>
              <a:lnSpc>
                <a:spcPct val="110000"/>
              </a:lnSpc>
              <a:defRPr sz="1580" b="0">
                <a:solidFill>
                  <a:srgbClr val="21201C"/>
                </a:solidFill>
                <a:latin typeface="Calibri"/>
              </a:defRPr>
            </a:pPr>
            <a:r>
              <a:t>- critic, using the agent type growth-analyst:</a:t>
            </a:r>
          </a:p>
          <a:p>
            <a:pPr>
              <a:lnSpc>
                <a:spcPct val="110000"/>
              </a:lnSpc>
              <a:defRPr sz="1580" b="0">
                <a:solidFill>
                  <a:srgbClr val="21201C"/>
                </a:solidFill>
                <a:latin typeface="Calibri"/>
              </a:defRPr>
            </a:pPr>
            <a:r>
              <a:t>  argue AGAINST it.</a:t>
            </a:r>
          </a:p>
          <a:p>
            <a:pPr>
              <a:lnSpc>
                <a:spcPct val="110000"/>
              </a:lnSpc>
              <a:defRPr sz="1580" b="0">
                <a:solidFill>
                  <a:srgbClr val="21201C"/>
                </a:solidFill>
                <a:latin typeface="Calibri"/>
              </a:defRPr>
            </a:pPr>
            <a:r>
              <a:t>- Both: cite data/campaign-results.csv, strategy/personas.md, data/facts-2026.md or data/compliance-checklist.md for every point; message each other directly; rebut twice at most.</a:t>
            </a:r>
          </a:p>
          <a:p>
            <a:pPr>
              <a:lnSpc>
                <a:spcPct val="110000"/>
              </a:lnSpc>
              <a:defRPr sz="1580" b="0">
                <a:solidFill>
                  <a:srgbClr val="21201C"/>
                </a:solidFill>
                <a:latin typeface="Calibri"/>
              </a:defRPr>
            </a:pPr>
            <a:r>
              <a:t>- You: write strategy/turning-55-decision.md with the pros, the cons, your verdict (go / go with conditions / no-go) and the conditions. Publish the decision as an artifact with the verdict on top, the pros and cons in two columns, the debate (the messages the advocate and critic sent each other, in order) and what I do next. Then wait for my decision. Write for a business owner, in plain English: no codes, IDs, file names or line numbers; start with what it means and what I do next. Save a Word copy (.docx) of each result.</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167</a:t>
            </a:r>
          </a:p>
        </p:txBody>
      </p:sp>
      <p:sp>
        <p:nvSpPr>
          <p:cNvPr id="7" name="Rounded Rectangle 6"/>
          <p:cNvSpPr/>
          <p:nvPr/>
        </p:nvSpPr>
        <p:spPr>
          <a:xfrm>
            <a:off x="548640" y="1783080"/>
            <a:ext cx="11064240" cy="4434840"/>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B — Claude Code: the QA loop</a:t>
            </a:r>
          </a:p>
        </p:txBody>
      </p:sp>
      <p:sp>
        <p:nvSpPr>
          <p:cNvPr id="9" name="TextBox 8"/>
          <p:cNvSpPr txBox="1"/>
          <p:nvPr/>
        </p:nvSpPr>
        <p:spPr>
          <a:xfrm>
            <a:off x="822960" y="2313432"/>
            <a:ext cx="10515600" cy="3728961"/>
          </a:xfrm>
          <a:prstGeom prst="rect">
            <a:avLst/>
          </a:prstGeom>
          <a:noFill/>
        </p:spPr>
        <p:txBody>
          <a:bodyPr wrap="square" lIns="18288" rIns="18288" tIns="9144" bIns="9144">
            <a:spAutoFit/>
          </a:bodyPr>
          <a:lstStyle/>
          <a:p>
            <a:pPr>
              <a:lnSpc>
                <a:spcPct val="110000"/>
              </a:lnSpc>
              <a:defRPr sz="1650" b="0">
                <a:solidFill>
                  <a:srgbClr val="21201C"/>
                </a:solidFill>
                <a:latin typeface="Calibri"/>
              </a:defRPr>
            </a:pPr>
            <a:r>
              <a:t>Clean up the debate team, then create a new agent team for Part 2 of data/turning-55-brief.md, using my decision. Spawn three teammates:</a:t>
            </a:r>
          </a:p>
          <a:p>
            <a:pPr>
              <a:lnSpc>
                <a:spcPct val="110000"/>
              </a:lnSpc>
              <a:defRPr sz="1650" b="0">
                <a:solidFill>
                  <a:srgbClr val="21201C"/>
                </a:solidFill>
                <a:latin typeface="Calibri"/>
              </a:defRPr>
            </a:pPr>
            <a:r>
              <a:t>- writer, agent type content-creator: rewrite data/turning-55-draft.md into content/turning-55/email.md and content/turning-55/video-script.md.</a:t>
            </a:r>
          </a:p>
          <a:p>
            <a:pPr>
              <a:lnSpc>
                <a:spcPct val="110000"/>
              </a:lnSpc>
              <a:defRPr sz="1650" b="0">
                <a:solidFill>
                  <a:srgbClr val="21201C"/>
                </a:solidFill>
                <a:latin typeface="Calibri"/>
              </a:defRPr>
            </a:pPr>
            <a:r>
              <a:t>- qa-auditor: audit each piece with fact-check and fin-compliance; write review/turning-55-qa.md, one section per round, PASS or FAIL per check. On FAIL, message the writer directly with the lines to fix and audit again. Three rounds at most.</a:t>
            </a:r>
          </a:p>
          <a:p>
            <a:pPr>
              <a:lnSpc>
                <a:spcPct val="110000"/>
              </a:lnSpc>
              <a:defRPr sz="1650" b="0">
                <a:solidFill>
                  <a:srgbClr val="21201C"/>
                </a:solidFill>
                <a:latin typeface="Calibri"/>
              </a:defRPr>
            </a:pPr>
            <a:r>
              <a:t>- designer, agent type creative-designer: once a piece passes, ask the writer for its headline and make one thumbnail with alt text.</a:t>
            </a:r>
          </a:p>
          <a:p>
            <a:pPr>
              <a:lnSpc>
                <a:spcPct val="110000"/>
              </a:lnSpc>
              <a:defRPr sz="1650" b="0">
                <a:solidFill>
                  <a:srgbClr val="21201C"/>
                </a:solidFill>
                <a:latin typeface="Calibri"/>
              </a:defRPr>
            </a:pPr>
            <a:r>
              <a:t>- You, the Lead: never write or fix content. When everything passes, submit each piece with scripts/submit.mjs. Publish nothing. Publish the QA report as an artifact, one row per round, PASS or FAIL per check, in colour. Write for a business owner, in plain English: no codes, IDs, file names or line numbers; start with what it means and what I do next. Save a Word copy (.docx) of each result.</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THE PROMPT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168</a:t>
            </a:r>
          </a:p>
        </p:txBody>
      </p:sp>
      <p:sp>
        <p:nvSpPr>
          <p:cNvPr id="7" name="Rounded Rectangle 6"/>
          <p:cNvSpPr/>
          <p:nvPr/>
        </p:nvSpPr>
        <p:spPr>
          <a:xfrm>
            <a:off x="548640" y="1783080"/>
            <a:ext cx="11064240" cy="1402435"/>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PROMPT C — Claude Code: shut down</a:t>
            </a:r>
          </a:p>
        </p:txBody>
      </p:sp>
      <p:sp>
        <p:nvSpPr>
          <p:cNvPr id="9" name="TextBox 8"/>
          <p:cNvSpPr txBox="1"/>
          <p:nvPr/>
        </p:nvSpPr>
        <p:spPr>
          <a:xfrm>
            <a:off x="822960" y="2313432"/>
            <a:ext cx="10515600" cy="652627"/>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Ask every teammate to shut down, then clean up the team. Show me the final task list and how many QA rounds each piece needed. Publish it as an artifact.</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Use subagents when only the result matters; use a team when the agents must talk — to argue, or to send work back. Every teammate is its own Claude session, so teams cost more tokens.</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ASK ABOUT THE RESULT</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 (cont.)</a:t>
            </a:r>
          </a:p>
        </p:txBody>
      </p:sp>
      <p:sp>
        <p:nvSpPr>
          <p:cNvPr id="4" name="TextBox 3"/>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5" name="TextBox 4"/>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6" name="TextBox 5"/>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169</a:t>
            </a:r>
          </a:p>
        </p:txBody>
      </p:sp>
      <p:sp>
        <p:nvSpPr>
          <p:cNvPr id="7" name="Rounded Rectangle 6"/>
          <p:cNvSpPr/>
          <p:nvPr/>
        </p:nvSpPr>
        <p:spPr>
          <a:xfrm>
            <a:off x="548640" y="1783080"/>
            <a:ext cx="11064240" cy="2271649"/>
          </a:xfrm>
          <a:prstGeom prst="roundRect">
            <a:avLst>
              <a:gd name="adj" fmla="val 6000"/>
            </a:avLst>
          </a:prstGeom>
          <a:solidFill>
            <a:srgbClr val="FFFFFF"/>
          </a:solidFill>
          <a:ln w="1587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10424160" cy="274320"/>
          </a:xfrm>
          <a:prstGeom prst="rect">
            <a:avLst/>
          </a:prstGeom>
          <a:noFill/>
        </p:spPr>
        <p:txBody>
          <a:bodyPr wrap="square" lIns="18288" rIns="18288" tIns="9144" bIns="9144">
            <a:spAutoFit/>
          </a:bodyPr>
          <a:lstStyle/>
          <a:p>
            <a:pPr>
              <a:lnSpc>
                <a:spcPct val="100000"/>
              </a:lnSpc>
              <a:defRPr sz="1100" b="1">
                <a:solidFill>
                  <a:srgbClr val="D97757"/>
                </a:solidFill>
                <a:latin typeface="Calibri"/>
              </a:defRPr>
            </a:pPr>
            <a:r>
              <a:t>FOLLOW-UP — type any of these in the chat</a:t>
            </a:r>
          </a:p>
        </p:txBody>
      </p:sp>
      <p:sp>
        <p:nvSpPr>
          <p:cNvPr id="9" name="TextBox 8"/>
          <p:cNvSpPr txBox="1"/>
          <p:nvPr/>
        </p:nvSpPr>
        <p:spPr>
          <a:xfrm>
            <a:off x="822960" y="2313432"/>
            <a:ext cx="10515600" cy="1521841"/>
          </a:xfrm>
          <a:prstGeom prst="rect">
            <a:avLst/>
          </a:prstGeom>
          <a:noFill/>
        </p:spPr>
        <p:txBody>
          <a:bodyPr wrap="square" lIns="18288" rIns="18288" tIns="9144" bIns="9144">
            <a:spAutoFit/>
          </a:bodyPr>
          <a:lstStyle/>
          <a:p>
            <a:pPr>
              <a:lnSpc>
                <a:spcPct val="110000"/>
              </a:lnSpc>
              <a:defRPr sz="1700" b="0">
                <a:solidFill>
                  <a:srgbClr val="21201C"/>
                </a:solidFill>
                <a:latin typeface="Calibri"/>
              </a:defRPr>
            </a:pPr>
            <a:r>
              <a:t>Summarise the debate: the best point for, the best point against, and your verdict.</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What failed in the first QA round, in plain English?</a:t>
            </a:r>
          </a:p>
          <a:p>
            <a:pPr>
              <a:lnSpc>
                <a:spcPct val="110000"/>
              </a:lnSpc>
              <a:defRPr sz="1700" b="0">
                <a:solidFill>
                  <a:srgbClr val="21201C"/>
                </a:solidFill>
                <a:latin typeface="Calibri"/>
              </a:defRPr>
            </a:pPr>
          </a:p>
          <a:p>
            <a:pPr>
              <a:lnSpc>
                <a:spcPct val="110000"/>
              </a:lnSpc>
              <a:defRPr sz="1700" b="0">
                <a:solidFill>
                  <a:srgbClr val="21201C"/>
                </a:solidFill>
                <a:latin typeface="Calibri"/>
              </a:defRPr>
            </a:pPr>
            <a:r>
              <a:t>How many rounds did each piece need, and why?</a:t>
            </a:r>
          </a:p>
        </p:txBody>
      </p:sp>
      <p:sp>
        <p:nvSpPr>
          <p:cNvPr id="10" name="TextBox 9"/>
          <p:cNvSpPr txBox="1"/>
          <p:nvPr/>
        </p:nvSpPr>
        <p:spPr>
          <a:xfrm>
            <a:off x="548640" y="5852160"/>
            <a:ext cx="11064240" cy="365760"/>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rPr b="1" sz="1200">
                <a:solidFill>
                  <a:srgbClr val="D97757"/>
                </a:solidFill>
                <a:latin typeface="Calibri"/>
              </a:rPr>
              <a:t>NOTE  </a:t>
            </a:r>
            <a:r>
              <a:rPr sz="1200">
                <a:solidFill>
                  <a:srgbClr val="6B6862"/>
                </a:solidFill>
                <a:latin typeface="Calibri"/>
              </a:rPr>
              <a:t>Ask until the result makes sense to you — then decide.</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LAB 15 · VERIFY</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Agent Teams: A Strategy Debate and a QA Loop</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Check your work before moving on.</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170</a:t>
            </a:r>
          </a:p>
        </p:txBody>
      </p:sp>
      <p:sp>
        <p:nvSpPr>
          <p:cNvPr id="8" name="Rounded Rectangle 7"/>
          <p:cNvSpPr/>
          <p:nvPr/>
        </p:nvSpPr>
        <p:spPr>
          <a:xfrm>
            <a:off x="548640" y="2084831"/>
            <a:ext cx="11064240" cy="3675887"/>
          </a:xfrm>
          <a:prstGeom prst="roundRect">
            <a:avLst>
              <a:gd name="adj" fmla="val 6000"/>
            </a:avLst>
          </a:prstGeom>
          <a:solidFill>
            <a:srgbClr val="FFFFFF"/>
          </a:solidFill>
          <a:ln w="12700">
            <a:solidFill>
              <a:srgbClr val="3A7D7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11064240"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22576"/>
            <a:ext cx="10515600" cy="274320"/>
          </a:xfrm>
          <a:prstGeom prst="rect">
            <a:avLst/>
          </a:prstGeom>
          <a:noFill/>
        </p:spPr>
        <p:txBody>
          <a:bodyPr wrap="square" lIns="18288" rIns="18288" tIns="9144" bIns="9144">
            <a:spAutoFit/>
          </a:bodyPr>
          <a:lstStyle/>
          <a:p>
            <a:pPr>
              <a:lnSpc>
                <a:spcPct val="100000"/>
              </a:lnSpc>
              <a:defRPr sz="1150" b="1">
                <a:solidFill>
                  <a:srgbClr val="3A7D7B"/>
                </a:solidFill>
                <a:latin typeface="Calibri"/>
              </a:defRPr>
            </a:pPr>
            <a:r>
              <a:t>CHECK YOUR WORK</a:t>
            </a:r>
          </a:p>
        </p:txBody>
      </p:sp>
      <p:sp>
        <p:nvSpPr>
          <p:cNvPr id="11" name="Oval 10"/>
          <p:cNvSpPr/>
          <p:nvPr/>
        </p:nvSpPr>
        <p:spPr>
          <a:xfrm>
            <a:off x="841248" y="280720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2" name="TextBox 11"/>
          <p:cNvSpPr txBox="1"/>
          <p:nvPr/>
        </p:nvSpPr>
        <p:spPr>
          <a:xfrm>
            <a:off x="1280160" y="276148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advocate and the critic messaged each other; every point cites a file.</a:t>
            </a:r>
          </a:p>
        </p:txBody>
      </p:sp>
      <p:sp>
        <p:nvSpPr>
          <p:cNvPr id="13" name="Oval 12"/>
          <p:cNvSpPr/>
          <p:nvPr/>
        </p:nvSpPr>
        <p:spPr>
          <a:xfrm>
            <a:off x="841248" y="3282695"/>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4" name="TextBox 13"/>
          <p:cNvSpPr txBox="1"/>
          <p:nvPr/>
        </p:nvSpPr>
        <p:spPr>
          <a:xfrm>
            <a:off x="1280160" y="3236975"/>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decision has pros, cons, a verdict — and you made the call.</a:t>
            </a:r>
          </a:p>
        </p:txBody>
      </p:sp>
      <p:sp>
        <p:nvSpPr>
          <p:cNvPr id="15" name="Oval 14"/>
          <p:cNvSpPr/>
          <p:nvPr/>
        </p:nvSpPr>
        <p:spPr>
          <a:xfrm>
            <a:off x="841248" y="3758183"/>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6" name="TextBox 15"/>
          <p:cNvSpPr txBox="1"/>
          <p:nvPr/>
        </p:nvSpPr>
        <p:spPr>
          <a:xfrm>
            <a:off x="1280160" y="3712463"/>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Round 1 of the QA report FAILED: the FRS figure, CPF LIFE "from 55", the promised payout, the advice and the missing disclaimer.</a:t>
            </a:r>
          </a:p>
        </p:txBody>
      </p:sp>
      <p:sp>
        <p:nvSpPr>
          <p:cNvPr id="17" name="Oval 16"/>
          <p:cNvSpPr/>
          <p:nvPr/>
        </p:nvSpPr>
        <p:spPr>
          <a:xfrm>
            <a:off x="841248" y="4233672"/>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18" name="TextBox 17"/>
          <p:cNvSpPr txBox="1"/>
          <p:nvPr/>
        </p:nvSpPr>
        <p:spPr>
          <a:xfrm>
            <a:off x="1280160" y="4187952"/>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The auditor sent the fixes to the writer directly; a later round PASSED.</a:t>
            </a:r>
          </a:p>
        </p:txBody>
      </p:sp>
      <p:sp>
        <p:nvSpPr>
          <p:cNvPr id="19" name="Oval 18"/>
          <p:cNvSpPr/>
          <p:nvPr/>
        </p:nvSpPr>
        <p:spPr>
          <a:xfrm>
            <a:off x="841248" y="4709159"/>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0" name="TextBox 19"/>
          <p:cNvSpPr txBox="1"/>
          <p:nvPr/>
        </p:nvSpPr>
        <p:spPr>
          <a:xfrm>
            <a:off x="1280160" y="4663440"/>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You approved by typing in the chat; the rows show your name and a hash.</a:t>
            </a:r>
          </a:p>
        </p:txBody>
      </p:sp>
      <p:sp>
        <p:nvSpPr>
          <p:cNvPr id="21" name="Oval 20"/>
          <p:cNvSpPr/>
          <p:nvPr/>
        </p:nvSpPr>
        <p:spPr>
          <a:xfrm>
            <a:off x="841248" y="5184647"/>
            <a:ext cx="274320" cy="27432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defRPr sz="1200" b="1">
                <a:solidFill>
                  <a:srgbClr val="FFFFFF"/>
                </a:solidFill>
              </a:defRPr>
            </a:pPr>
            <a:r>
              <a:t>✓</a:t>
            </a:r>
          </a:p>
        </p:txBody>
      </p:sp>
      <p:sp>
        <p:nvSpPr>
          <p:cNvPr id="22" name="TextBox 21"/>
          <p:cNvSpPr txBox="1"/>
          <p:nvPr/>
        </p:nvSpPr>
        <p:spPr>
          <a:xfrm>
            <a:off x="1280160" y="5138927"/>
            <a:ext cx="10149840" cy="384048"/>
          </a:xfrm>
          <a:prstGeom prst="rect">
            <a:avLst/>
          </a:prstGeom>
          <a:noFill/>
        </p:spPr>
        <p:txBody>
          <a:bodyPr wrap="square" lIns="18288" rIns="18288" tIns="9144" bIns="9144" anchor="ctr">
            <a:spAutoFit/>
          </a:bodyPr>
          <a:lstStyle/>
          <a:p>
            <a:pPr>
              <a:lnSpc>
                <a:spcPct val="100000"/>
              </a:lnSpc>
              <a:defRPr sz="1400" b="0">
                <a:solidFill>
                  <a:srgbClr val="6B6862"/>
                </a:solidFill>
                <a:latin typeface="Calibri"/>
              </a:defRPr>
            </a:pPr>
            <a:r>
              <a:t>Both teams were shut down and cleaned up.</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SUMMARY · BEST PRACTICES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Integration Best Practices</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Ten habits from the course — each one a control you built.</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171</a:t>
            </a:r>
          </a:p>
        </p:txBody>
      </p:sp>
      <p:sp>
        <p:nvSpPr>
          <p:cNvPr id="8" name="Rectangle 7"/>
          <p:cNvSpPr/>
          <p:nvPr/>
        </p:nvSpPr>
        <p:spPr>
          <a:xfrm>
            <a:off x="548640" y="2084831"/>
            <a:ext cx="11064240" cy="47548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203703"/>
            <a:ext cx="3487521"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PRACTICE</a:t>
            </a:r>
          </a:p>
        </p:txBody>
      </p:sp>
      <p:sp>
        <p:nvSpPr>
          <p:cNvPr id="10" name="TextBox 9"/>
          <p:cNvSpPr txBox="1"/>
          <p:nvPr/>
        </p:nvSpPr>
        <p:spPr>
          <a:xfrm>
            <a:off x="4511649" y="2203703"/>
            <a:ext cx="4151376"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WHY</a:t>
            </a:r>
          </a:p>
        </p:txBody>
      </p:sp>
      <p:sp>
        <p:nvSpPr>
          <p:cNvPr id="11" name="TextBox 10"/>
          <p:cNvSpPr txBox="1"/>
          <p:nvPr/>
        </p:nvSpPr>
        <p:spPr>
          <a:xfrm>
            <a:off x="8937345" y="2203703"/>
            <a:ext cx="2602382" cy="274320"/>
          </a:xfrm>
          <a:prstGeom prst="rect">
            <a:avLst/>
          </a:prstGeom>
          <a:noFill/>
        </p:spPr>
        <p:txBody>
          <a:bodyPr wrap="square" lIns="18288" rIns="18288" tIns="9144" bIns="9144">
            <a:spAutoFit/>
          </a:bodyPr>
          <a:lstStyle/>
          <a:p>
            <a:pPr>
              <a:lnSpc>
                <a:spcPct val="100000"/>
              </a:lnSpc>
              <a:defRPr sz="1150" b="1">
                <a:solidFill>
                  <a:srgbClr val="D97757"/>
                </a:solidFill>
                <a:latin typeface="Calibri"/>
              </a:defRPr>
            </a:pPr>
            <a:r>
              <a:t>LAB</a:t>
            </a:r>
          </a:p>
        </p:txBody>
      </p:sp>
      <p:sp>
        <p:nvSpPr>
          <p:cNvPr id="12" name="Rectangle 11"/>
          <p:cNvSpPr/>
          <p:nvPr/>
        </p:nvSpPr>
        <p:spPr>
          <a:xfrm>
            <a:off x="548640" y="2560320"/>
            <a:ext cx="11064240" cy="4493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560320"/>
            <a:ext cx="3487521"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Assess compatibility first</a:t>
            </a:r>
          </a:p>
        </p:txBody>
      </p:sp>
      <p:sp>
        <p:nvSpPr>
          <p:cNvPr id="14" name="TextBox 13"/>
          <p:cNvSpPr txBox="1"/>
          <p:nvPr/>
        </p:nvSpPr>
        <p:spPr>
          <a:xfrm>
            <a:off x="4511649" y="2560320"/>
            <a:ext cx="4151376"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 connection can work and still be wrong</a:t>
            </a:r>
          </a:p>
        </p:txBody>
      </p:sp>
      <p:sp>
        <p:nvSpPr>
          <p:cNvPr id="15" name="TextBox 14"/>
          <p:cNvSpPr txBox="1"/>
          <p:nvPr/>
        </p:nvSpPr>
        <p:spPr>
          <a:xfrm>
            <a:off x="8937345" y="2560320"/>
            <a:ext cx="2602382"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4</a:t>
            </a:r>
          </a:p>
        </p:txBody>
      </p:sp>
      <p:sp>
        <p:nvSpPr>
          <p:cNvPr id="16" name="TextBox 15"/>
          <p:cNvSpPr txBox="1"/>
          <p:nvPr/>
        </p:nvSpPr>
        <p:spPr>
          <a:xfrm>
            <a:off x="749808" y="3009682"/>
            <a:ext cx="3487521"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Least privilege per agent</a:t>
            </a:r>
          </a:p>
        </p:txBody>
      </p:sp>
      <p:sp>
        <p:nvSpPr>
          <p:cNvPr id="17" name="TextBox 16"/>
          <p:cNvSpPr txBox="1"/>
          <p:nvPr/>
        </p:nvSpPr>
        <p:spPr>
          <a:xfrm>
            <a:off x="4511649" y="3009682"/>
            <a:ext cx="4151376"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An agent cannot misuse what it cannot reach</a:t>
            </a:r>
          </a:p>
        </p:txBody>
      </p:sp>
      <p:sp>
        <p:nvSpPr>
          <p:cNvPr id="18" name="TextBox 17"/>
          <p:cNvSpPr txBox="1"/>
          <p:nvPr/>
        </p:nvSpPr>
        <p:spPr>
          <a:xfrm>
            <a:off x="8937345" y="3009682"/>
            <a:ext cx="2602382"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4</a:t>
            </a:r>
          </a:p>
        </p:txBody>
      </p:sp>
      <p:sp>
        <p:nvSpPr>
          <p:cNvPr id="19" name="Rectangle 18"/>
          <p:cNvSpPr/>
          <p:nvPr/>
        </p:nvSpPr>
        <p:spPr>
          <a:xfrm>
            <a:off x="548640" y="3459044"/>
            <a:ext cx="11064240" cy="4493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3459044"/>
            <a:ext cx="3487521"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Draft, never send</a:t>
            </a:r>
          </a:p>
        </p:txBody>
      </p:sp>
      <p:sp>
        <p:nvSpPr>
          <p:cNvPr id="21" name="TextBox 20"/>
          <p:cNvSpPr txBox="1"/>
          <p:nvPr/>
        </p:nvSpPr>
        <p:spPr>
          <a:xfrm>
            <a:off x="4511649" y="3459044"/>
            <a:ext cx="4151376"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 person sends and publishes</a:t>
            </a:r>
          </a:p>
        </p:txBody>
      </p:sp>
      <p:sp>
        <p:nvSpPr>
          <p:cNvPr id="22" name="TextBox 21"/>
          <p:cNvSpPr txBox="1"/>
          <p:nvPr/>
        </p:nvSpPr>
        <p:spPr>
          <a:xfrm>
            <a:off x="8937345" y="3459044"/>
            <a:ext cx="2602382"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9–13</a:t>
            </a:r>
          </a:p>
        </p:txBody>
      </p:sp>
      <p:sp>
        <p:nvSpPr>
          <p:cNvPr id="23" name="TextBox 22"/>
          <p:cNvSpPr txBox="1"/>
          <p:nvPr/>
        </p:nvSpPr>
        <p:spPr>
          <a:xfrm>
            <a:off x="749808" y="3908406"/>
            <a:ext cx="3487521"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Dry run before live</a:t>
            </a:r>
          </a:p>
        </p:txBody>
      </p:sp>
      <p:sp>
        <p:nvSpPr>
          <p:cNvPr id="24" name="TextBox 23"/>
          <p:cNvSpPr txBox="1"/>
          <p:nvPr/>
        </p:nvSpPr>
        <p:spPr>
          <a:xfrm>
            <a:off x="4511649" y="3908406"/>
            <a:ext cx="4151376"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See the exact request first</a:t>
            </a:r>
          </a:p>
        </p:txBody>
      </p:sp>
      <p:sp>
        <p:nvSpPr>
          <p:cNvPr id="25" name="TextBox 24"/>
          <p:cNvSpPr txBox="1"/>
          <p:nvPr/>
        </p:nvSpPr>
        <p:spPr>
          <a:xfrm>
            <a:off x="8937345" y="3908406"/>
            <a:ext cx="2602382"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10, 12</a:t>
            </a:r>
          </a:p>
        </p:txBody>
      </p:sp>
      <p:sp>
        <p:nvSpPr>
          <p:cNvPr id="26" name="Rectangle 25"/>
          <p:cNvSpPr/>
          <p:nvPr/>
        </p:nvSpPr>
        <p:spPr>
          <a:xfrm>
            <a:off x="548640" y="4357769"/>
            <a:ext cx="11064240" cy="4493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357769"/>
            <a:ext cx="3487521"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A human gate a hook enforces</a:t>
            </a:r>
          </a:p>
        </p:txBody>
      </p:sp>
      <p:sp>
        <p:nvSpPr>
          <p:cNvPr id="28" name="TextBox 27"/>
          <p:cNvSpPr txBox="1"/>
          <p:nvPr/>
        </p:nvSpPr>
        <p:spPr>
          <a:xfrm>
            <a:off x="4511649" y="4357769"/>
            <a:ext cx="4151376"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A prompt persuades; a hook holds</a:t>
            </a:r>
          </a:p>
        </p:txBody>
      </p:sp>
      <p:sp>
        <p:nvSpPr>
          <p:cNvPr id="29" name="TextBox 28"/>
          <p:cNvSpPr txBox="1"/>
          <p:nvPr/>
        </p:nvSpPr>
        <p:spPr>
          <a:xfrm>
            <a:off x="8937345" y="4357769"/>
            <a:ext cx="2602382"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10</a:t>
            </a:r>
          </a:p>
        </p:txBody>
      </p:sp>
      <p:sp>
        <p:nvSpPr>
          <p:cNvPr id="30" name="TextBox 29"/>
          <p:cNvSpPr txBox="1"/>
          <p:nvPr/>
        </p:nvSpPr>
        <p:spPr>
          <a:xfrm>
            <a:off x="749808" y="4807131"/>
            <a:ext cx="3487521"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Test with known answers</a:t>
            </a:r>
          </a:p>
        </p:txBody>
      </p:sp>
      <p:sp>
        <p:nvSpPr>
          <p:cNvPr id="31" name="TextBox 30"/>
          <p:cNvSpPr txBox="1"/>
          <p:nvPr/>
        </p:nvSpPr>
        <p:spPr>
          <a:xfrm>
            <a:off x="4511649" y="4807131"/>
            <a:ext cx="4151376"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31 of 40, under 90 s, facts-sheet figures</a:t>
            </a:r>
          </a:p>
        </p:txBody>
      </p:sp>
      <p:sp>
        <p:nvSpPr>
          <p:cNvPr id="32" name="TextBox 31"/>
          <p:cNvSpPr txBox="1"/>
          <p:nvPr/>
        </p:nvSpPr>
        <p:spPr>
          <a:xfrm>
            <a:off x="8937345" y="4807131"/>
            <a:ext cx="2602382"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Labs 6–12</a:t>
            </a:r>
          </a:p>
        </p:txBody>
      </p:sp>
      <p:sp>
        <p:nvSpPr>
          <p:cNvPr id="33" name="Rectangle 32"/>
          <p:cNvSpPr/>
          <p:nvPr/>
        </p:nvSpPr>
        <p:spPr>
          <a:xfrm>
            <a:off x="548640" y="5256493"/>
            <a:ext cx="11064240" cy="44936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8" y="5256493"/>
            <a:ext cx="3487521" cy="449362"/>
          </a:xfrm>
          <a:prstGeom prst="rect">
            <a:avLst/>
          </a:prstGeom>
          <a:noFill/>
        </p:spPr>
        <p:txBody>
          <a:bodyPr wrap="square" lIns="18288" rIns="18288" tIns="9144" bIns="9144" anchor="ctr">
            <a:spAutoFit/>
          </a:bodyPr>
          <a:lstStyle/>
          <a:p>
            <a:pPr>
              <a:lnSpc>
                <a:spcPct val="110000"/>
              </a:lnSpc>
              <a:defRPr sz="1400" b="1">
                <a:solidFill>
                  <a:srgbClr val="21201C"/>
                </a:solidFill>
                <a:latin typeface="Calibri"/>
              </a:defRPr>
            </a:pPr>
            <a:r>
              <a:t>Version, change one thing, roll back</a:t>
            </a:r>
          </a:p>
        </p:txBody>
      </p:sp>
      <p:sp>
        <p:nvSpPr>
          <p:cNvPr id="35" name="TextBox 34"/>
          <p:cNvSpPr txBox="1"/>
          <p:nvPr/>
        </p:nvSpPr>
        <p:spPr>
          <a:xfrm>
            <a:off x="4511649" y="5256493"/>
            <a:ext cx="4151376"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Every change can be compared and undone</a:t>
            </a:r>
          </a:p>
        </p:txBody>
      </p:sp>
      <p:sp>
        <p:nvSpPr>
          <p:cNvPr id="36" name="TextBox 35"/>
          <p:cNvSpPr txBox="1"/>
          <p:nvPr/>
        </p:nvSpPr>
        <p:spPr>
          <a:xfrm>
            <a:off x="8937345" y="5256493"/>
            <a:ext cx="2602382" cy="449362"/>
          </a:xfrm>
          <a:prstGeom prst="rect">
            <a:avLst/>
          </a:prstGeom>
          <a:noFill/>
        </p:spPr>
        <p:txBody>
          <a:bodyPr wrap="square" lIns="18288" rIns="18288" tIns="9144" bIns="9144" anchor="ctr">
            <a:spAutoFit/>
          </a:bodyPr>
          <a:lstStyle/>
          <a:p>
            <a:pPr>
              <a:lnSpc>
                <a:spcPct val="110000"/>
              </a:lnSpc>
              <a:defRPr sz="1350" b="0">
                <a:solidFill>
                  <a:srgbClr val="6B6862"/>
                </a:solidFill>
                <a:latin typeface="Calibri"/>
              </a:defRPr>
            </a:pPr>
            <a:r>
              <a:t>Lab 14</a:t>
            </a:r>
          </a:p>
        </p:txBody>
      </p:sp>
      <p:sp>
        <p:nvSpPr>
          <p:cNvPr id="37" name="Rounded Rectangle 36"/>
          <p:cNvSpPr/>
          <p:nvPr/>
        </p:nvSpPr>
        <p:spPr>
          <a:xfrm>
            <a:off x="548640" y="5897880"/>
            <a:ext cx="11064240" cy="420624"/>
          </a:xfrm>
          <a:prstGeom prst="roundRect">
            <a:avLst>
              <a:gd name="adj" fmla="val 6000"/>
            </a:avLst>
          </a:prstGeom>
          <a:noFill/>
          <a:ln w="12700">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48640" y="5897880"/>
            <a:ext cx="77724" cy="4206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8096" y="5971032"/>
            <a:ext cx="10698480" cy="292608"/>
          </a:xfrm>
          <a:prstGeom prst="rect">
            <a:avLst/>
          </a:prstGeom>
          <a:noFill/>
        </p:spPr>
        <p:txBody>
          <a:bodyPr wrap="square" lIns="18288" rIns="18288" tIns="9144" bIns="9144">
            <a:spAutoFit/>
          </a:bodyPr>
          <a:lstStyle/>
          <a:p>
            <a:pPr>
              <a:lnSpc>
                <a:spcPct val="100000"/>
              </a:lnSpc>
              <a:defRPr sz="1200" b="0">
                <a:solidFill>
                  <a:srgbClr val="6B6862"/>
                </a:solidFill>
                <a:latin typeface="Calibri"/>
              </a:defRPr>
            </a:pPr>
            <a:r>
              <a:t>TIP   Also: keys only in .env, client data out of prompts, pause routines you are not using.</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SUMMARY · KEY CONCEPTS</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How Each Pattern Is Triggered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Five ways your team runs. The difference is what sets each one off.</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172</a:t>
            </a:r>
          </a:p>
        </p:txBody>
      </p:sp>
      <p:sp>
        <p:nvSpPr>
          <p:cNvPr id="8" name="Rounded Rectangle 7"/>
          <p:cNvSpPr/>
          <p:nvPr/>
        </p:nvSpPr>
        <p:spPr>
          <a:xfrm>
            <a:off x="548640"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84831"/>
            <a:ext cx="2095804" cy="68580"/>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13232" y="2322576"/>
            <a:ext cx="1766620" cy="310896"/>
          </a:xfrm>
          <a:prstGeom prst="roundRect">
            <a:avLst>
              <a:gd name="adj" fmla="val 50000"/>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BY DELEGATION</a:t>
            </a:r>
          </a:p>
        </p:txBody>
      </p:sp>
      <p:sp>
        <p:nvSpPr>
          <p:cNvPr id="11" name="TextBox 10"/>
          <p:cNvSpPr txBox="1"/>
          <p:nvPr/>
        </p:nvSpPr>
        <p:spPr>
          <a:xfrm>
            <a:off x="713232"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Subagents</a:t>
            </a:r>
          </a:p>
        </p:txBody>
      </p:sp>
      <p:sp>
        <p:nvSpPr>
          <p:cNvPr id="12" name="TextBox 11"/>
          <p:cNvSpPr txBox="1"/>
          <p:nvPr/>
        </p:nvSpPr>
        <p:spPr>
          <a:xfrm>
            <a:off x="713232"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The Lead starts them when you ask — or when a task matches an agent's description.</a:t>
            </a:r>
          </a:p>
        </p:txBody>
      </p:sp>
      <p:sp>
        <p:nvSpPr>
          <p:cNvPr id="13" name="TextBox 12"/>
          <p:cNvSpPr txBox="1"/>
          <p:nvPr/>
        </p:nvSpPr>
        <p:spPr>
          <a:xfrm>
            <a:off x="713232"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14" name="TextBox 13"/>
          <p:cNvSpPr txBox="1"/>
          <p:nvPr/>
        </p:nvSpPr>
        <p:spPr>
          <a:xfrm>
            <a:off x="713232"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"use subagents,</a:t>
            </a:r>
          </a:p>
          <a:p>
            <a:pPr>
              <a:lnSpc>
                <a:spcPct val="100000"/>
              </a:lnSpc>
              <a:defRPr sz="1050" b="0">
                <a:solidFill>
                  <a:srgbClr val="21201C"/>
                </a:solidFill>
                <a:latin typeface="Courier New"/>
              </a:defRPr>
            </a:pPr>
            <a:r>
              <a:t>one per role"</a:t>
            </a:r>
          </a:p>
        </p:txBody>
      </p:sp>
      <p:sp>
        <p:nvSpPr>
          <p:cNvPr id="15" name="Rectangle 14"/>
          <p:cNvSpPr/>
          <p:nvPr/>
        </p:nvSpPr>
        <p:spPr>
          <a:xfrm>
            <a:off x="713232"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.claude/agents/</a:t>
            </a:r>
          </a:p>
        </p:txBody>
      </p:sp>
      <p:sp>
        <p:nvSpPr>
          <p:cNvPr id="17" name="Rounded Rectangle 16"/>
          <p:cNvSpPr/>
          <p:nvPr/>
        </p:nvSpPr>
        <p:spPr>
          <a:xfrm>
            <a:off x="2790748"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790748" y="2084831"/>
            <a:ext cx="2095804" cy="685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955340" y="2322576"/>
            <a:ext cx="1766620" cy="310896"/>
          </a:xfrm>
          <a:prstGeom prst="roundRect">
            <a:avLst>
              <a:gd name="adj" fmla="val 50000"/>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BY THE LEAD</a:t>
            </a:r>
          </a:p>
        </p:txBody>
      </p:sp>
      <p:sp>
        <p:nvSpPr>
          <p:cNvPr id="20" name="TextBox 19"/>
          <p:cNvSpPr txBox="1"/>
          <p:nvPr/>
        </p:nvSpPr>
        <p:spPr>
          <a:xfrm>
            <a:off x="2955340"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Agent teams</a:t>
            </a:r>
          </a:p>
        </p:txBody>
      </p:sp>
      <p:sp>
        <p:nvSpPr>
          <p:cNvPr id="21" name="TextBox 20"/>
          <p:cNvSpPr txBox="1"/>
          <p:nvPr/>
        </p:nvSpPr>
        <p:spPr>
          <a:xfrm>
            <a:off x="2955340"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The Lead spawns teammates who share a task list and message each other.</a:t>
            </a:r>
          </a:p>
        </p:txBody>
      </p:sp>
      <p:sp>
        <p:nvSpPr>
          <p:cNvPr id="22" name="TextBox 21"/>
          <p:cNvSpPr txBox="1"/>
          <p:nvPr/>
        </p:nvSpPr>
        <p:spPr>
          <a:xfrm>
            <a:off x="2955340"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23" name="TextBox 22"/>
          <p:cNvSpPr txBox="1"/>
          <p:nvPr/>
        </p:nvSpPr>
        <p:spPr>
          <a:xfrm>
            <a:off x="2955340"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"spawn teammates</a:t>
            </a:r>
          </a:p>
          <a:p>
            <a:pPr>
              <a:lnSpc>
                <a:spcPct val="100000"/>
              </a:lnSpc>
              <a:defRPr sz="1050" b="0">
                <a:solidFill>
                  <a:srgbClr val="21201C"/>
                </a:solidFill>
                <a:latin typeface="Courier New"/>
              </a:defRPr>
            </a:pPr>
            <a:r>
              <a:t>using agent types…"</a:t>
            </a:r>
          </a:p>
        </p:txBody>
      </p:sp>
      <p:sp>
        <p:nvSpPr>
          <p:cNvPr id="24" name="Rectangle 23"/>
          <p:cNvSpPr/>
          <p:nvPr/>
        </p:nvSpPr>
        <p:spPr>
          <a:xfrm>
            <a:off x="2955340"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55340"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 Code (experimental)</a:t>
            </a:r>
          </a:p>
        </p:txBody>
      </p:sp>
      <p:sp>
        <p:nvSpPr>
          <p:cNvPr id="26" name="Rounded Rectangle 25"/>
          <p:cNvSpPr/>
          <p:nvPr/>
        </p:nvSpPr>
        <p:spPr>
          <a:xfrm>
            <a:off x="5032857"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32857" y="2084831"/>
            <a:ext cx="2095804" cy="6858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197449" y="2322576"/>
            <a:ext cx="1766620" cy="310896"/>
          </a:xfrm>
          <a:prstGeom prst="roundRect">
            <a:avLst>
              <a:gd name="adj" fmla="val 50000"/>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DEMAND</a:t>
            </a:r>
          </a:p>
        </p:txBody>
      </p:sp>
      <p:sp>
        <p:nvSpPr>
          <p:cNvPr id="29" name="TextBox 28"/>
          <p:cNvSpPr txBox="1"/>
          <p:nvPr/>
        </p:nvSpPr>
        <p:spPr>
          <a:xfrm>
            <a:off x="5197449"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Skills</a:t>
            </a:r>
          </a:p>
        </p:txBody>
      </p:sp>
      <p:sp>
        <p:nvSpPr>
          <p:cNvPr id="30" name="TextBox 29"/>
          <p:cNvSpPr txBox="1"/>
          <p:nvPr/>
        </p:nvSpPr>
        <p:spPr>
          <a:xfrm>
            <a:off x="5197449"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Loaded when the task matches the description. Free until then.</a:t>
            </a:r>
          </a:p>
        </p:txBody>
      </p:sp>
      <p:sp>
        <p:nvSpPr>
          <p:cNvPr id="31" name="TextBox 30"/>
          <p:cNvSpPr txBox="1"/>
          <p:nvPr/>
        </p:nvSpPr>
        <p:spPr>
          <a:xfrm>
            <a:off x="5197449"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32" name="TextBox 31"/>
          <p:cNvSpPr txBox="1"/>
          <p:nvPr/>
        </p:nvSpPr>
        <p:spPr>
          <a:xfrm>
            <a:off x="5197449"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campaign-brief</a:t>
            </a:r>
          </a:p>
          <a:p>
            <a:pPr>
              <a:lnSpc>
                <a:spcPct val="100000"/>
              </a:lnSpc>
              <a:defRPr sz="1050" b="0">
                <a:solidFill>
                  <a:srgbClr val="21201C"/>
                </a:solidFill>
                <a:latin typeface="Courier New"/>
              </a:defRPr>
            </a:pPr>
            <a:r>
              <a:t>video-render</a:t>
            </a:r>
          </a:p>
        </p:txBody>
      </p:sp>
      <p:sp>
        <p:nvSpPr>
          <p:cNvPr id="33" name="Rectangle 32"/>
          <p:cNvSpPr/>
          <p:nvPr/>
        </p:nvSpPr>
        <p:spPr>
          <a:xfrm>
            <a:off x="5197449"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197449"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.claude/skills/</a:t>
            </a:r>
          </a:p>
        </p:txBody>
      </p:sp>
      <p:sp>
        <p:nvSpPr>
          <p:cNvPr id="35" name="Rounded Rectangle 34"/>
          <p:cNvSpPr/>
          <p:nvPr/>
        </p:nvSpPr>
        <p:spPr>
          <a:xfrm>
            <a:off x="7274966"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74966" y="2084831"/>
            <a:ext cx="2095804" cy="68580"/>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439558" y="2322576"/>
            <a:ext cx="1766620" cy="310896"/>
          </a:xfrm>
          <a:prstGeom prst="roundRect">
            <a:avLst>
              <a:gd name="adj" fmla="val 50000"/>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AN EVENT</a:t>
            </a:r>
          </a:p>
        </p:txBody>
      </p:sp>
      <p:sp>
        <p:nvSpPr>
          <p:cNvPr id="38" name="TextBox 37"/>
          <p:cNvSpPr txBox="1"/>
          <p:nvPr/>
        </p:nvSpPr>
        <p:spPr>
          <a:xfrm>
            <a:off x="7439558"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Hooks</a:t>
            </a:r>
          </a:p>
        </p:txBody>
      </p:sp>
      <p:sp>
        <p:nvSpPr>
          <p:cNvPr id="39" name="TextBox 38"/>
          <p:cNvSpPr txBox="1"/>
          <p:nvPr/>
        </p:nvSpPr>
        <p:spPr>
          <a:xfrm>
            <a:off x="7439558"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Run every time an event fires — before a tool runs. The model cannot skip them.</a:t>
            </a:r>
          </a:p>
        </p:txBody>
      </p:sp>
      <p:sp>
        <p:nvSpPr>
          <p:cNvPr id="40" name="TextBox 39"/>
          <p:cNvSpPr txBox="1"/>
          <p:nvPr/>
        </p:nvSpPr>
        <p:spPr>
          <a:xfrm>
            <a:off x="7439558"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41" name="TextBox 40"/>
          <p:cNvSpPr txBox="1"/>
          <p:nvPr/>
        </p:nvSpPr>
        <p:spPr>
          <a:xfrm>
            <a:off x="7439558"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PreToolUse:</a:t>
            </a:r>
          </a:p>
          <a:p>
            <a:pPr>
              <a:lnSpc>
                <a:spcPct val="100000"/>
              </a:lnSpc>
              <a:defRPr sz="1050" b="0">
                <a:solidFill>
                  <a:srgbClr val="21201C"/>
                </a:solidFill>
                <a:latin typeface="Courier New"/>
              </a:defRPr>
            </a:pPr>
            <a:r>
              <a:t>gate-hook.mjs</a:t>
            </a:r>
          </a:p>
        </p:txBody>
      </p:sp>
      <p:sp>
        <p:nvSpPr>
          <p:cNvPr id="42" name="Rectangle 41"/>
          <p:cNvSpPr/>
          <p:nvPr/>
        </p:nvSpPr>
        <p:spPr>
          <a:xfrm>
            <a:off x="7439558"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39558"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.claude/settings.json</a:t>
            </a:r>
          </a:p>
        </p:txBody>
      </p:sp>
      <p:sp>
        <p:nvSpPr>
          <p:cNvPr id="44" name="Rounded Rectangle 43"/>
          <p:cNvSpPr/>
          <p:nvPr/>
        </p:nvSpPr>
        <p:spPr>
          <a:xfrm>
            <a:off x="9517075" y="2084831"/>
            <a:ext cx="2095804" cy="3447288"/>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517075" y="2084831"/>
            <a:ext cx="2095804" cy="68580"/>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681667" y="2322576"/>
            <a:ext cx="1766620" cy="310896"/>
          </a:xfrm>
          <a:prstGeom prst="roundRect">
            <a:avLst>
              <a:gd name="adj" fmla="val 50000"/>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50" b="1">
                <a:solidFill>
                  <a:srgbClr val="FFFFFF"/>
                </a:solidFill>
                <a:latin typeface="Calibri"/>
              </a:defRPr>
            </a:pPr>
            <a:r>
              <a:t>ON THE CLOCK</a:t>
            </a:r>
          </a:p>
        </p:txBody>
      </p:sp>
      <p:sp>
        <p:nvSpPr>
          <p:cNvPr id="47" name="TextBox 46"/>
          <p:cNvSpPr txBox="1"/>
          <p:nvPr/>
        </p:nvSpPr>
        <p:spPr>
          <a:xfrm>
            <a:off x="9681667" y="2798063"/>
            <a:ext cx="1766620" cy="402336"/>
          </a:xfrm>
          <a:prstGeom prst="rect">
            <a:avLst/>
          </a:prstGeom>
          <a:noFill/>
        </p:spPr>
        <p:txBody>
          <a:bodyPr wrap="square" lIns="18288" rIns="18288" tIns="9144" bIns="9144">
            <a:spAutoFit/>
          </a:bodyPr>
          <a:lstStyle/>
          <a:p>
            <a:pPr>
              <a:lnSpc>
                <a:spcPct val="100000"/>
              </a:lnSpc>
              <a:defRPr sz="1700" b="1">
                <a:solidFill>
                  <a:srgbClr val="21201C"/>
                </a:solidFill>
                <a:latin typeface="Cambria"/>
              </a:defRPr>
            </a:pPr>
            <a:r>
              <a:t>Scheduled tasks</a:t>
            </a:r>
          </a:p>
        </p:txBody>
      </p:sp>
      <p:sp>
        <p:nvSpPr>
          <p:cNvPr id="48" name="TextBox 47"/>
          <p:cNvSpPr txBox="1"/>
          <p:nvPr/>
        </p:nvSpPr>
        <p:spPr>
          <a:xfrm>
            <a:off x="9681667" y="3218687"/>
            <a:ext cx="1766620" cy="1051560"/>
          </a:xfrm>
          <a:prstGeom prst="rect">
            <a:avLst/>
          </a:prstGeom>
          <a:noFill/>
        </p:spPr>
        <p:txBody>
          <a:bodyPr wrap="square" lIns="18288" rIns="18288" tIns="9144" bIns="9144">
            <a:spAutoFit/>
          </a:bodyPr>
          <a:lstStyle/>
          <a:p>
            <a:pPr>
              <a:lnSpc>
                <a:spcPct val="106000"/>
              </a:lnSpc>
              <a:defRPr sz="1150" b="0">
                <a:solidFill>
                  <a:srgbClr val="6B6862"/>
                </a:solidFill>
                <a:latin typeface="Calibri"/>
              </a:defRPr>
            </a:pPr>
            <a:r>
              <a:t>Run a skill on a schedule and leave the result for a person.</a:t>
            </a:r>
          </a:p>
        </p:txBody>
      </p:sp>
      <p:sp>
        <p:nvSpPr>
          <p:cNvPr id="49" name="TextBox 48"/>
          <p:cNvSpPr txBox="1"/>
          <p:nvPr/>
        </p:nvSpPr>
        <p:spPr>
          <a:xfrm>
            <a:off x="9681667" y="4297679"/>
            <a:ext cx="1766620" cy="219456"/>
          </a:xfrm>
          <a:prstGeom prst="rect">
            <a:avLst/>
          </a:prstGeom>
          <a:noFill/>
        </p:spPr>
        <p:txBody>
          <a:bodyPr wrap="square" lIns="18288" rIns="18288" tIns="9144" bIns="9144">
            <a:spAutoFit/>
          </a:bodyPr>
          <a:lstStyle/>
          <a:p>
            <a:pPr>
              <a:lnSpc>
                <a:spcPct val="100000"/>
              </a:lnSpc>
              <a:defRPr sz="1000" b="1">
                <a:solidFill>
                  <a:srgbClr val="D97757"/>
                </a:solidFill>
                <a:latin typeface="Calibri"/>
              </a:defRPr>
            </a:pPr>
            <a:r>
              <a:t>e.g.</a:t>
            </a:r>
          </a:p>
        </p:txBody>
      </p:sp>
      <p:sp>
        <p:nvSpPr>
          <p:cNvPr id="50" name="TextBox 49"/>
          <p:cNvSpPr txBox="1"/>
          <p:nvPr/>
        </p:nvSpPr>
        <p:spPr>
          <a:xfrm>
            <a:off x="9681667" y="4517136"/>
            <a:ext cx="1766620" cy="512064"/>
          </a:xfrm>
          <a:prstGeom prst="rect">
            <a:avLst/>
          </a:prstGeom>
          <a:noFill/>
        </p:spPr>
        <p:txBody>
          <a:bodyPr wrap="square" lIns="18288" rIns="18288" tIns="9144" bIns="9144">
            <a:spAutoFit/>
          </a:bodyPr>
          <a:lstStyle/>
          <a:p>
            <a:pPr>
              <a:lnSpc>
                <a:spcPct val="100000"/>
              </a:lnSpc>
              <a:defRPr sz="1050" b="0">
                <a:solidFill>
                  <a:srgbClr val="21201C"/>
                </a:solidFill>
                <a:latin typeface="Courier New"/>
              </a:defRPr>
            </a:pPr>
            <a:r>
              <a:t>Mondays 8am:</a:t>
            </a:r>
          </a:p>
          <a:p>
            <a:pPr>
              <a:lnSpc>
                <a:spcPct val="100000"/>
              </a:lnSpc>
              <a:defRPr sz="1050" b="0">
                <a:solidFill>
                  <a:srgbClr val="21201C"/>
                </a:solidFill>
                <a:latin typeface="Courier New"/>
              </a:defRPr>
            </a:pPr>
            <a:r>
              <a:t>campaign-report</a:t>
            </a:r>
          </a:p>
        </p:txBody>
      </p:sp>
      <p:sp>
        <p:nvSpPr>
          <p:cNvPr id="51" name="Rectangle 50"/>
          <p:cNvSpPr/>
          <p:nvPr/>
        </p:nvSpPr>
        <p:spPr>
          <a:xfrm>
            <a:off x="9681667" y="5056631"/>
            <a:ext cx="1766620" cy="10972"/>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681667" y="5120640"/>
            <a:ext cx="1766620" cy="329184"/>
          </a:xfrm>
          <a:prstGeom prst="rect">
            <a:avLst/>
          </a:prstGeom>
          <a:noFill/>
        </p:spPr>
        <p:txBody>
          <a:bodyPr wrap="square" lIns="18288" rIns="18288" tIns="9144" bIns="9144">
            <a:spAutoFit/>
          </a:bodyPr>
          <a:lstStyle/>
          <a:p>
            <a:pPr>
              <a:lnSpc>
                <a:spcPct val="100000"/>
              </a:lnSpc>
              <a:defRPr sz="950" b="0">
                <a:solidFill>
                  <a:srgbClr val="6B6862"/>
                </a:solidFill>
                <a:latin typeface="Calibri"/>
              </a:defRPr>
            </a:pPr>
            <a:r>
              <a:t>Claude</a:t>
            </a:r>
          </a:p>
        </p:txBody>
      </p:sp>
      <p:sp>
        <p:nvSpPr>
          <p:cNvPr id="53" name="Rounded Rectangle 52"/>
          <p:cNvSpPr/>
          <p:nvPr/>
        </p:nvSpPr>
        <p:spPr>
          <a:xfrm>
            <a:off x="548640" y="5669280"/>
            <a:ext cx="11064240" cy="475488"/>
          </a:xfrm>
          <a:prstGeom prst="roundRect">
            <a:avLst>
              <a:gd name="adj" fmla="val 6000"/>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7240" y="5751576"/>
            <a:ext cx="10607040" cy="329184"/>
          </a:xfrm>
          <a:prstGeom prst="rect">
            <a:avLst/>
          </a:prstGeom>
          <a:noFill/>
        </p:spPr>
        <p:txBody>
          <a:bodyPr wrap="square" lIns="18288" rIns="18288" tIns="9144" bIns="9144" anchor="ctr">
            <a:spAutoFit/>
          </a:bodyPr>
          <a:lstStyle/>
          <a:p>
            <a:pPr algn="ctr">
              <a:lnSpc>
                <a:spcPct val="100000"/>
              </a:lnSpc>
              <a:defRPr sz="1250" b="0">
                <a:solidFill>
                  <a:srgbClr val="FFFFFF"/>
                </a:solidFill>
                <a:latin typeface="Calibri"/>
              </a:defRPr>
            </a:pPr>
            <a:r>
              <a:t>Who decides?  You: the approval  ·  the model: delegation and skills  ·  the system, every time: hooks and the clock</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WRAP UP</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Horizon: One Team, Integrated and Tested</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Two days, one regulated business, three learning outcomes.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173</a:t>
            </a:r>
          </a:p>
        </p:txBody>
      </p:sp>
      <p:sp>
        <p:nvSpPr>
          <p:cNvPr id="8" name="Pentagon 7"/>
          <p:cNvSpPr/>
          <p:nvPr/>
        </p:nvSpPr>
        <p:spPr>
          <a:xfrm>
            <a:off x="548640" y="2084831"/>
            <a:ext cx="2286000" cy="731520"/>
          </a:xfrm>
          <a:prstGeom prst="homePlat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201168" tIns="0" bIns="0"/>
          <a:lstStyle/>
          <a:p>
            <a:pPr algn="ctr">
              <a:defRPr sz="1100" b="1">
                <a:solidFill>
                  <a:srgbClr val="FFFFFF"/>
                </a:solidFill>
                <a:latin typeface="Calibri"/>
              </a:defRPr>
            </a:pPr>
            <a:r>
              <a:t>01</a:t>
            </a:r>
          </a:p>
        </p:txBody>
      </p:sp>
      <p:sp>
        <p:nvSpPr>
          <p:cNvPr id="9" name="Rounded Rectangle 8"/>
          <p:cNvSpPr/>
          <p:nvPr/>
        </p:nvSpPr>
        <p:spPr>
          <a:xfrm>
            <a:off x="548640" y="2962656"/>
            <a:ext cx="2139696"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962656"/>
            <a:ext cx="2139696"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 y="3127248"/>
            <a:ext cx="188366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Assess</a:t>
            </a:r>
          </a:p>
        </p:txBody>
      </p:sp>
      <p:sp>
        <p:nvSpPr>
          <p:cNvPr id="12" name="TextBox 11"/>
          <p:cNvSpPr txBox="1"/>
          <p:nvPr/>
        </p:nvSpPr>
        <p:spPr>
          <a:xfrm>
            <a:off x="676656" y="3694176"/>
            <a:ext cx="188366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Systems, components and interfaces; a compatibility matrix (LO1).</a:t>
            </a:r>
          </a:p>
        </p:txBody>
      </p:sp>
      <p:sp>
        <p:nvSpPr>
          <p:cNvPr id="13" name="Chevron 12"/>
          <p:cNvSpPr/>
          <p:nvPr/>
        </p:nvSpPr>
        <p:spPr>
          <a:xfrm>
            <a:off x="2743200" y="2084831"/>
            <a:ext cx="2286000" cy="731520"/>
          </a:xfrm>
          <a:prstGeom prst="chevron">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02</a:t>
            </a:r>
          </a:p>
        </p:txBody>
      </p:sp>
      <p:sp>
        <p:nvSpPr>
          <p:cNvPr id="14" name="Rounded Rectangle 13"/>
          <p:cNvSpPr/>
          <p:nvPr/>
        </p:nvSpPr>
        <p:spPr>
          <a:xfrm>
            <a:off x="2834640"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34640" y="2962656"/>
            <a:ext cx="2048255" cy="54864"/>
          </a:xfrm>
          <a:prstGeom prst="rect">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6265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Integrate</a:t>
            </a:r>
          </a:p>
        </p:txBody>
      </p:sp>
      <p:sp>
        <p:nvSpPr>
          <p:cNvPr id="17" name="TextBox 16"/>
          <p:cNvSpPr txBox="1"/>
          <p:nvPr/>
        </p:nvSpPr>
        <p:spPr>
          <a:xfrm>
            <a:off x="296265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Six agents with instructions, skills and connectors (LO1).</a:t>
            </a:r>
          </a:p>
        </p:txBody>
      </p:sp>
      <p:sp>
        <p:nvSpPr>
          <p:cNvPr id="18" name="Chevron 17"/>
          <p:cNvSpPr/>
          <p:nvPr/>
        </p:nvSpPr>
        <p:spPr>
          <a:xfrm>
            <a:off x="4937759" y="2084831"/>
            <a:ext cx="2286000" cy="731520"/>
          </a:xfrm>
          <a:prstGeom prst="chevron">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03</a:t>
            </a:r>
          </a:p>
        </p:txBody>
      </p:sp>
      <p:sp>
        <p:nvSpPr>
          <p:cNvPr id="19" name="Rounded Rectangle 18"/>
          <p:cNvSpPr/>
          <p:nvPr/>
        </p:nvSpPr>
        <p:spPr>
          <a:xfrm>
            <a:off x="502919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199" y="2962656"/>
            <a:ext cx="2048255" cy="54864"/>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5721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Test</a:t>
            </a:r>
          </a:p>
        </p:txBody>
      </p:sp>
      <p:sp>
        <p:nvSpPr>
          <p:cNvPr id="22" name="TextBox 21"/>
          <p:cNvSpPr txBox="1"/>
          <p:nvPr/>
        </p:nvSpPr>
        <p:spPr>
          <a:xfrm>
            <a:off x="515721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Seven campaigns, each with a known answer (LO2).</a:t>
            </a:r>
          </a:p>
        </p:txBody>
      </p:sp>
      <p:sp>
        <p:nvSpPr>
          <p:cNvPr id="23" name="Chevron 22"/>
          <p:cNvSpPr/>
          <p:nvPr/>
        </p:nvSpPr>
        <p:spPr>
          <a:xfrm>
            <a:off x="7132319" y="2084831"/>
            <a:ext cx="2286000" cy="731520"/>
          </a:xfrm>
          <a:prstGeom prst="chevron">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04</a:t>
            </a:r>
          </a:p>
        </p:txBody>
      </p:sp>
      <p:sp>
        <p:nvSpPr>
          <p:cNvPr id="24" name="Rounded Rectangle 23"/>
          <p:cNvSpPr/>
          <p:nvPr/>
        </p:nvSpPr>
        <p:spPr>
          <a:xfrm>
            <a:off x="722375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23759" y="2962656"/>
            <a:ext cx="2048255" cy="54864"/>
          </a:xfrm>
          <a:prstGeom prst="rect">
            <a:avLst/>
          </a:prstGeom>
          <a:solidFill>
            <a:srgbClr val="5B4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51775"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Troubleshoot</a:t>
            </a:r>
          </a:p>
        </p:txBody>
      </p:sp>
      <p:sp>
        <p:nvSpPr>
          <p:cNvPr id="27" name="TextBox 26"/>
          <p:cNvSpPr txBox="1"/>
          <p:nvPr/>
        </p:nvSpPr>
        <p:spPr>
          <a:xfrm>
            <a:off x="7351775"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Read the sign, isolate, fix one thing, retest (LO2).</a:t>
            </a:r>
          </a:p>
        </p:txBody>
      </p:sp>
      <p:sp>
        <p:nvSpPr>
          <p:cNvPr id="28" name="Chevron 27"/>
          <p:cNvSpPr/>
          <p:nvPr/>
        </p:nvSpPr>
        <p:spPr>
          <a:xfrm>
            <a:off x="9326880" y="2084831"/>
            <a:ext cx="2286000" cy="731520"/>
          </a:xfrm>
          <a:prstGeom prst="chevron">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01168" tIns="0" bIns="0"/>
          <a:lstStyle/>
          <a:p>
            <a:pPr algn="ctr">
              <a:defRPr sz="1100" b="1">
                <a:solidFill>
                  <a:srgbClr val="FFFFFF"/>
                </a:solidFill>
                <a:latin typeface="Calibri"/>
              </a:defRPr>
            </a:pPr>
            <a:r>
              <a:t>05</a:t>
            </a:r>
          </a:p>
        </p:txBody>
      </p:sp>
      <p:sp>
        <p:nvSpPr>
          <p:cNvPr id="29" name="Rounded Rectangle 28"/>
          <p:cNvSpPr/>
          <p:nvPr/>
        </p:nvSpPr>
        <p:spPr>
          <a:xfrm>
            <a:off x="9418319" y="2962656"/>
            <a:ext cx="2048255" cy="2798063"/>
          </a:xfrm>
          <a:prstGeom prst="roundRect">
            <a:avLst>
              <a:gd name="adj" fmla="val 6000"/>
            </a:avLst>
          </a:prstGeom>
          <a:solidFill>
            <a:srgbClr val="FFFFFF"/>
          </a:solidFill>
          <a:ln w="12700">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18319" y="2962656"/>
            <a:ext cx="2048255" cy="54864"/>
          </a:xfrm>
          <a:prstGeom prst="rect">
            <a:avLst/>
          </a:prstGeom>
          <a:solidFill>
            <a:srgbClr val="264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3127248"/>
            <a:ext cx="1792223" cy="566928"/>
          </a:xfrm>
          <a:prstGeom prst="rect">
            <a:avLst/>
          </a:prstGeom>
          <a:noFill/>
        </p:spPr>
        <p:txBody>
          <a:bodyPr wrap="square" lIns="18288" rIns="18288" tIns="9144" bIns="9144">
            <a:spAutoFit/>
          </a:bodyPr>
          <a:lstStyle/>
          <a:p>
            <a:pPr>
              <a:lnSpc>
                <a:spcPct val="100000"/>
              </a:lnSpc>
              <a:defRPr sz="1550" b="1">
                <a:solidFill>
                  <a:srgbClr val="21201C"/>
                </a:solidFill>
                <a:latin typeface="Cambria"/>
              </a:defRPr>
            </a:pPr>
            <a:r>
              <a:t>Version</a:t>
            </a:r>
          </a:p>
        </p:txBody>
      </p:sp>
      <p:sp>
        <p:nvSpPr>
          <p:cNvPr id="32" name="TextBox 31"/>
          <p:cNvSpPr txBox="1"/>
          <p:nvPr/>
        </p:nvSpPr>
        <p:spPr>
          <a:xfrm>
            <a:off x="9546336" y="3694176"/>
            <a:ext cx="1792223" cy="1883663"/>
          </a:xfrm>
          <a:prstGeom prst="rect">
            <a:avLst/>
          </a:prstGeom>
          <a:noFill/>
        </p:spPr>
        <p:txBody>
          <a:bodyPr wrap="square" lIns="18288" rIns="18288" tIns="9144" bIns="9144">
            <a:spAutoFit/>
          </a:bodyPr>
          <a:lstStyle/>
          <a:p>
            <a:pPr>
              <a:lnSpc>
                <a:spcPct val="108000"/>
              </a:lnSpc>
              <a:defRPr sz="1300" b="0">
                <a:solidFill>
                  <a:srgbClr val="6B6862"/>
                </a:solidFill>
                <a:latin typeface="Calibri"/>
              </a:defRPr>
            </a:pPr>
            <a:r>
              <a:t>A versioned playbook and a change proposal (LO3).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AF9F5"/>
        </a:solidFill>
      </p:bgPr>
    </p:bg>
    <p:spTree>
      <p:nvGrpSpPr>
        <p:cNvPr id="1" name=""/>
        <p:cNvGrpSpPr/>
        <p:nvPr/>
      </p:nvGrpSpPr>
      <p:grpSpPr/>
      <p:sp>
        <p:nvSpPr>
          <p:cNvPr id="2" name="Text 0"/>
          <p:cNvSpPr/>
          <p:nvPr/>
        </p:nvSpPr>
        <p:spPr>
          <a:xfrm>
            <a:off x="548640" y="384048"/>
            <a:ext cx="10058400" cy="274320"/>
          </a:xfrm>
          <a:prstGeom prst="rect">
            <a:avLst/>
          </a:prstGeom>
          <a:noFill/>
          <a:ln/>
        </p:spPr>
        <p:txBody>
          <a:bodyPr wrap="square" rtlCol="0" anchor="ctr"/>
          <a:lstStyle/>
          <a:p>
            <a:pPr indent="0" marL="0">
              <a:buNone/>
            </a:pPr>
            <a:r>
              <a:rPr lang="en-US" sz="1200" b="1" spc="300" kern="0" dirty="0">
                <a:solidFill>
                  <a:srgbClr val="D97757"/>
                </a:solidFill>
                <a:latin typeface="Calibri" pitchFamily="34" charset="0"/>
                <a:ea typeface="Calibri" pitchFamily="34" charset="-122"/>
                <a:cs typeface="Calibri" pitchFamily="34" charset="-120"/>
              </a:rPr>
              <a:t>BEFORE YOU GO</a:t>
            </a:r>
            <a:endParaRPr lang="en-US" sz="1200" dirty="0"/>
          </a:p>
        </p:txBody>
      </p:sp>
      <p:sp>
        <p:nvSpPr>
          <p:cNvPr id="3" name="Text 1"/>
          <p:cNvSpPr/>
          <p:nvPr/>
        </p:nvSpPr>
        <p:spPr>
          <a:xfrm>
            <a:off x="548640" y="658368"/>
            <a:ext cx="11064240" cy="731520"/>
          </a:xfrm>
          <a:prstGeom prst="rect">
            <a:avLst/>
          </a:prstGeom>
          <a:noFill/>
          <a:ln/>
        </p:spPr>
        <p:txBody>
          <a:bodyPr wrap="square" rtlCol="0" anchor="ctr"/>
          <a:lstStyle/>
          <a:p>
            <a:pPr indent="0" marL="0">
              <a:buNone/>
            </a:pPr>
            <a:r>
              <a:rPr lang="en-US" sz="3000" b="1" dirty="0">
                <a:solidFill>
                  <a:srgbClr val="21201C"/>
                </a:solidFill>
                <a:latin typeface="Cambria" pitchFamily="34" charset="0"/>
                <a:ea typeface="Cambria" pitchFamily="34" charset="-122"/>
                <a:cs typeface="Cambria" pitchFamily="34" charset="-120"/>
              </a:rPr>
              <a:t>Course Feedback</a:t>
            </a:r>
            <a:endParaRPr lang="en-US" sz="3000" dirty="0"/>
          </a:p>
        </p:txBody>
      </p:sp>
      <p:sp>
        <p:nvSpPr>
          <p:cNvPr id="4" name="Shape 2"/>
          <p:cNvSpPr/>
          <p:nvPr/>
        </p:nvSpPr>
        <p:spPr>
          <a:xfrm>
            <a:off x="548640" y="1920240"/>
            <a:ext cx="5394960" cy="3108960"/>
          </a:xfrm>
          <a:prstGeom prst="roundRect">
            <a:avLst>
              <a:gd name="adj" fmla="val 2353"/>
            </a:avLst>
          </a:prstGeom>
          <a:solidFill>
            <a:srgbClr val="FFFFFF"/>
          </a:solidFill>
          <a:ln/>
          <a:effectLst>
            <a:outerShdw sx="100000" sy="100000" kx="0" ky="0" algn="bl" rotWithShape="0" blurRad="101600" dist="38100" dir="5400000">
              <a:srgbClr val="000000">
                <a:alpha val="16000"/>
              </a:srgbClr>
            </a:outerShdw>
          </a:effectLst>
        </p:spPr>
        <p:txBody>
          <a:bodyPr/>
          <a:p/>
        </p:txBody>
      </p:sp>
      <p:sp>
        <p:nvSpPr>
          <p:cNvPr id="5" name="Shape 3"/>
          <p:cNvSpPr/>
          <p:nvPr/>
        </p:nvSpPr>
        <p:spPr>
          <a:xfrm>
            <a:off x="86868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6" name="Image 0" descr="preencoded.png">    </p:cNvPr>
          <p:cNvPicPr>
            <a:picLocks noChangeAspect="1"/>
          </p:cNvPicPr>
          <p:nvPr/>
        </p:nvPicPr>
        <p:blipFill>
          <a:blip r:embed="rId2"/>
          <a:stretch>
            <a:fillRect/>
          </a:stretch>
        </p:blipFill>
        <p:spPr>
          <a:xfrm>
            <a:off x="1005840" y="2331720"/>
            <a:ext cx="292608" cy="292608"/>
          </a:xfrm>
          <a:prstGeom prst="rect">
            <a:avLst/>
          </a:prstGeom>
        </p:spPr>
      </p:pic>
      <p:sp>
        <p:nvSpPr>
          <p:cNvPr id="7" name="Text 4"/>
          <p:cNvSpPr/>
          <p:nvPr/>
        </p:nvSpPr>
        <p:spPr>
          <a:xfrm>
            <a:off x="1554480" y="2240280"/>
            <a:ext cx="4206240" cy="548640"/>
          </a:xfrm>
          <a:prstGeom prst="rect">
            <a:avLst/>
          </a:prstGeom>
          <a:noFill/>
          <a:ln/>
        </p:spPr>
        <p:txBody>
          <a:bodyPr wrap="square" rtlCol="0" anchor="ctr"/>
          <a:lstStyle/>
          <a:p>
            <a:pPr indent="0" marL="0">
              <a:buNone/>
            </a:pPr>
            <a:r>
              <a:rPr lang="en-US" sz="1700" b="1" dirty="0">
                <a:solidFill>
                  <a:srgbClr val="21201C"/>
                </a:solidFill>
                <a:latin typeface="Cambria" pitchFamily="34" charset="0"/>
                <a:ea typeface="Cambria" pitchFamily="34" charset="-122"/>
                <a:cs typeface="Cambria" pitchFamily="34" charset="-120"/>
              </a:rPr>
              <a:t>Share Your Feedback</a:t>
            </a:r>
            <a:endParaRPr lang="en-US" sz="1700" dirty="0"/>
          </a:p>
        </p:txBody>
      </p:sp>
      <p:sp>
        <p:nvSpPr>
          <p:cNvPr id="8" name="Text 5"/>
          <p:cNvSpPr/>
          <p:nvPr/>
        </p:nvSpPr>
        <p:spPr>
          <a:xfrm>
            <a:off x="868680" y="3017520"/>
            <a:ext cx="4754880" cy="1828800"/>
          </a:xfrm>
          <a:prstGeom prst="rect">
            <a:avLst/>
          </a:prstGeom>
          <a:noFill/>
          <a:ln/>
        </p:spPr>
        <p:txBody>
          <a:bodyPr wrap="square" rtlCol="0" anchor="ctr"/>
          <a:lstStyle/>
          <a:p>
            <a:pPr indent="0" marL="0">
              <a:buNone/>
            </a:pPr>
            <a:r>
              <a:rPr lang="en-US" sz="1400" dirty="0">
                <a:solidFill>
                  <a:srgbClr val="21201C"/>
                </a:solidFill>
                <a:latin typeface="Calibri" pitchFamily="34" charset="0"/>
                <a:ea typeface="Calibri" pitchFamily="34" charset="-122"/>
                <a:cs typeface="Calibri" pitchFamily="34" charset="-120"/>
              </a:rPr>
              <a:t>Please complete the course feedback form before you leave — it helps us improve this course.</a:t>
            </a:r>
            <a:endParaRPr lang="en-US" sz="1400" dirty="0"/>
          </a:p>
          <a:p>
            <a:pPr indent="0" marL="0">
              <a:buNone/>
            </a:pPr>
            <a:endParaRPr lang="en-US" sz="1400" dirty="0"/>
          </a:p>
          <a:p>
            <a:pPr indent="0" marL="0">
              <a:buNone/>
            </a:pPr>
            <a:r>
              <a:rPr lang="en-US" sz="1400" dirty="0">
                <a:solidFill>
                  <a:srgbClr val="21201C"/>
                </a:solidFill>
                <a:latin typeface="Calibri" pitchFamily="34" charset="0"/>
                <a:ea typeface="Calibri" pitchFamily="34" charset="-122"/>
                <a:cs typeface="Calibri" pitchFamily="34" charset="-120"/>
              </a:rPr>
              <a:t>https://lms-tms.tertiaryinfotech.com/</a:t>
            </a:r>
            <a:endParaRPr lang="en-US" sz="1400" dirty="0"/>
          </a:p>
        </p:txBody>
      </p:sp>
      <p:sp>
        <p:nvSpPr>
          <p:cNvPr id="9" name="Shape 6"/>
          <p:cNvSpPr/>
          <p:nvPr/>
        </p:nvSpPr>
        <p:spPr>
          <a:xfrm>
            <a:off x="6217920" y="1920240"/>
            <a:ext cx="5394960" cy="3108960"/>
          </a:xfrm>
          <a:prstGeom prst="roundRect">
            <a:avLst>
              <a:gd name="adj" fmla="val 2353"/>
            </a:avLst>
          </a:prstGeom>
          <a:solidFill>
            <a:srgbClr val="21201C"/>
          </a:solidFill>
          <a:ln/>
          <a:effectLst>
            <a:outerShdw sx="100000" sy="100000" kx="0" ky="0" algn="bl" rotWithShape="0" blurRad="101600" dist="38100" dir="5400000">
              <a:srgbClr val="000000">
                <a:alpha val="16000"/>
              </a:srgbClr>
            </a:outerShdw>
          </a:effectLst>
        </p:spPr>
        <p:txBody>
          <a:bodyPr/>
          <a:p/>
        </p:txBody>
      </p:sp>
      <p:sp>
        <p:nvSpPr>
          <p:cNvPr id="10" name="Shape 7"/>
          <p:cNvSpPr/>
          <p:nvPr/>
        </p:nvSpPr>
        <p:spPr>
          <a:xfrm>
            <a:off x="6537960" y="2194560"/>
            <a:ext cx="566928" cy="566928"/>
          </a:xfrm>
          <a:prstGeom prst="ellipse">
            <a:avLst/>
          </a:prstGeom>
          <a:solidFill>
            <a:srgbClr val="D97757"/>
          </a:solidFill>
          <a:ln/>
          <a:effectLst>
            <a:outerShdw sx="100000" sy="100000" kx="0" ky="0" algn="bl" rotWithShape="0" blurRad="101600" dist="38100" dir="5400000">
              <a:srgbClr val="000000">
                <a:alpha val="16000"/>
              </a:srgbClr>
            </a:outerShdw>
          </a:effectLst>
        </p:spPr>
        <p:txBody>
          <a:bodyPr/>
          <a:p/>
        </p:txBody>
      </p:sp>
      <p:pic>
        <p:nvPicPr>
          <p:cNvPr id="11" name="Image 1" descr="preencoded.png">    </p:cNvPr>
          <p:cNvPicPr>
            <a:picLocks noChangeAspect="1"/>
          </p:cNvPicPr>
          <p:nvPr/>
        </p:nvPicPr>
        <p:blipFill>
          <a:blip r:embed="rId3"/>
          <a:stretch>
            <a:fillRect/>
          </a:stretch>
        </p:blipFill>
        <p:spPr>
          <a:xfrm>
            <a:off x="6675120" y="2331720"/>
            <a:ext cx="292608" cy="292608"/>
          </a:xfrm>
          <a:prstGeom prst="rect">
            <a:avLst/>
          </a:prstGeom>
        </p:spPr>
      </p:pic>
      <p:sp>
        <p:nvSpPr>
          <p:cNvPr id="12" name="Text 8"/>
          <p:cNvSpPr/>
          <p:nvPr/>
        </p:nvSpPr>
        <p:spPr>
          <a:xfrm>
            <a:off x="7223760" y="2240280"/>
            <a:ext cx="4206240" cy="54864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Certificate</a:t>
            </a:r>
            <a:endParaRPr lang="en-US" sz="1700" dirty="0"/>
          </a:p>
        </p:txBody>
      </p:sp>
      <p:sp>
        <p:nvSpPr>
          <p:cNvPr id="13" name="Text 9"/>
          <p:cNvSpPr/>
          <p:nvPr/>
        </p:nvSpPr>
        <p:spPr>
          <a:xfrm>
            <a:off x="6537960" y="3017520"/>
            <a:ext cx="4754880" cy="1828800"/>
          </a:xfrm>
          <a:prstGeom prst="rect">
            <a:avLst/>
          </a:prstGeom>
          <a:noFill/>
          <a:ln/>
        </p:spPr>
        <p:txBody>
          <a:bodyPr wrap="square" rtlCol="0" anchor="ctr"/>
          <a:lstStyle/>
          <a:p>
            <a:pPr indent="0" marL="0">
              <a:buNone/>
            </a:pPr>
            <a:r>
              <a:rPr lang="en-US" sz="1400" dirty="0">
                <a:solidFill>
                  <a:srgbClr val="C9C4B9"/>
                </a:solidFill>
                <a:latin typeface="Calibri" pitchFamily="34" charset="0"/>
                <a:ea typeface="Calibri" pitchFamily="34" charset="-122"/>
                <a:cs typeface="Calibri" pitchFamily="34" charset="-120"/>
              </a:rPr>
              <a:t>Your certificate of completion will be emailed to you after the course.</a:t>
            </a:r>
            <a:endParaRPr lang="en-US" sz="1400" dirty="0"/>
          </a:p>
        </p:txBody>
      </p:sp>
      <p:sp>
        <p:nvSpPr>
          <p:cNvPr id="14" name="Text 10"/>
          <p:cNvSpPr/>
          <p:nvPr/>
        </p:nvSpPr>
        <p:spPr>
          <a:xfrm>
            <a:off x="457200" y="6473952"/>
            <a:ext cx="6400800" cy="274320"/>
          </a:xfrm>
          <a:prstGeom prst="rect">
            <a:avLst/>
          </a:prstGeom>
          <a:noFill/>
          <a:ln/>
        </p:spPr>
        <p:txBody>
          <a:bodyPr wrap="square" rtlCol="0" anchor="ctr"/>
          <a:lstStyle/>
          <a:p>
            <a:pPr algn="l" indent="0" marL="0">
              <a:buNone/>
            </a:pPr>
            <a:r>
              <a:rPr lang="en-US" sz="900" dirty="0">
                <a:solidFill>
                  <a:srgbClr val="6B6862"/>
                </a:solidFill>
                <a:latin typeface="Calibri" pitchFamily="34" charset="0"/>
                <a:ea typeface="Calibri" pitchFamily="34" charset="-122"/>
                <a:cs typeface="Calibri" pitchFamily="34" charset="-120"/>
              </a:rPr>
              <a:t>© Tertiary Infotech Academy Pte Ltd</a:t>
            </a:r>
            <a:endParaRPr lang="en-US" sz="900" dirty="0"/>
          </a:p>
        </p:txBody>
      </p:sp>
      <p:sp>
        <p:nvSpPr>
          <p:cNvPr id="15" name="Text 11"/>
          <p:cNvSpPr/>
          <p:nvPr/>
        </p:nvSpPr>
        <p:spPr>
          <a:xfrm>
            <a:off x="6400800" y="6473952"/>
            <a:ext cx="484632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C141 · Claude AI for Digital Marketing</a:t>
            </a:r>
            <a:endParaRPr lang="en-US" sz="900" dirty="0"/>
          </a:p>
        </p:txBody>
      </p:sp>
      <p:sp>
        <p:nvSpPr>
          <p:cNvPr id="16" name="Text 12"/>
          <p:cNvSpPr/>
          <p:nvPr/>
        </p:nvSpPr>
        <p:spPr>
          <a:xfrm>
            <a:off x="11368735" y="6473952"/>
            <a:ext cx="457200" cy="274320"/>
          </a:xfrm>
          <a:prstGeom prst="rect">
            <a:avLst/>
          </a:prstGeom>
          <a:noFill/>
          <a:ln/>
        </p:spPr>
        <p:txBody>
          <a:bodyPr wrap="square" rtlCol="0" anchor="ctr"/>
          <a:lstStyle/>
          <a:p>
            <a:pPr algn="r" indent="0" marL="0">
              <a:buNone/>
            </a:pPr>
            <a:r>
              <a:rPr lang="en-US" sz="900" dirty="0">
                <a:solidFill>
                  <a:srgbClr val="6B6862"/>
                </a:solidFill>
                <a:latin typeface="Calibri" pitchFamily="34" charset="0"/>
                <a:ea typeface="Calibri" pitchFamily="34" charset="-122"/>
                <a:cs typeface="Calibri" pitchFamily="34" charset="-120"/>
              </a:rPr>
              <a:t>174</a:t>
            </a:r>
            <a:endParaRPr lang="en-US" sz="900" dirty="0"/>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058400" cy="274320"/>
          </a:xfrm>
          <a:prstGeom prst="rect">
            <a:avLst/>
          </a:prstGeom>
          <a:noFill/>
        </p:spPr>
        <p:txBody>
          <a:bodyPr wrap="square" lIns="18288" rIns="18288" tIns="9144" bIns="9144">
            <a:spAutoFit/>
          </a:bodyPr>
          <a:lstStyle/>
          <a:p>
            <a:pPr>
              <a:lnSpc>
                <a:spcPct val="90000"/>
              </a:lnSpc>
              <a:defRPr sz="1150" b="1">
                <a:solidFill>
                  <a:srgbClr val="D97757"/>
                </a:solidFill>
                <a:latin typeface="Calibri"/>
              </a:defRPr>
            </a:pPr>
            <a:r>
              <a:t>AFTER THE COURSE</a:t>
            </a:r>
          </a:p>
        </p:txBody>
      </p:sp>
      <p:sp>
        <p:nvSpPr>
          <p:cNvPr id="3" name="TextBox 2"/>
          <p:cNvSpPr txBox="1"/>
          <p:nvPr/>
        </p:nvSpPr>
        <p:spPr>
          <a:xfrm>
            <a:off x="548640" y="658368"/>
            <a:ext cx="11064240" cy="731520"/>
          </a:xfrm>
          <a:prstGeom prst="rect">
            <a:avLst/>
          </a:prstGeom>
          <a:noFill/>
        </p:spPr>
        <p:txBody>
          <a:bodyPr wrap="square" lIns="18288" rIns="18288" tIns="9144" bIns="9144">
            <a:spAutoFit/>
          </a:bodyPr>
          <a:lstStyle/>
          <a:p>
            <a:pPr>
              <a:lnSpc>
                <a:spcPct val="100000"/>
              </a:lnSpc>
              <a:defRPr sz="3000" b="0">
                <a:solidFill>
                  <a:srgbClr val="21201C"/>
                </a:solidFill>
                <a:latin typeface="Cambria"/>
              </a:defRPr>
            </a:pPr>
            <a:r>
              <a:t>Practice Exam: Claude Certified Associate</a:t>
            </a:r>
          </a:p>
        </p:txBody>
      </p:sp>
      <p:sp>
        <p:nvSpPr>
          <p:cNvPr id="4" name="TextBox 3"/>
          <p:cNvSpPr txBox="1"/>
          <p:nvPr/>
        </p:nvSpPr>
        <p:spPr>
          <a:xfrm>
            <a:off x="548640" y="1444752"/>
            <a:ext cx="11064240" cy="475488"/>
          </a:xfrm>
          <a:prstGeom prst="rect">
            <a:avLst/>
          </a:prstGeom>
          <a:noFill/>
        </p:spPr>
        <p:txBody>
          <a:bodyPr wrap="square" lIns="18288" rIns="18288" tIns="9144" bIns="9144">
            <a:spAutoFit/>
          </a:bodyPr>
          <a:lstStyle/>
          <a:p>
            <a:pPr>
              <a:lnSpc>
                <a:spcPct val="100000"/>
              </a:lnSpc>
              <a:defRPr sz="1450" b="0">
                <a:solidFill>
                  <a:srgbClr val="6B6862"/>
                </a:solidFill>
                <a:latin typeface="Calibri"/>
              </a:defRPr>
            </a:pPr>
            <a:r>
              <a:t>exams.tertiaryinfotech.com/practice-exams/anthropic/anthropic-ccao-foundations</a:t>
            </a:r>
          </a:p>
        </p:txBody>
      </p:sp>
      <p:sp>
        <p:nvSpPr>
          <p:cNvPr id="5" name="TextBox 4"/>
          <p:cNvSpPr txBox="1"/>
          <p:nvPr/>
        </p:nvSpPr>
        <p:spPr>
          <a:xfrm>
            <a:off x="457200" y="6473952"/>
            <a:ext cx="5669280" cy="274320"/>
          </a:xfrm>
          <a:prstGeom prst="rect">
            <a:avLst/>
          </a:prstGeom>
          <a:noFill/>
        </p:spPr>
        <p:txBody>
          <a:bodyPr wrap="square" lIns="18288" rIns="18288" tIns="9144" bIns="9144">
            <a:spAutoFit/>
          </a:bodyPr>
          <a:lstStyle/>
          <a:p>
            <a:pPr>
              <a:lnSpc>
                <a:spcPct val="100000"/>
              </a:lnSpc>
              <a:defRPr sz="900" b="0">
                <a:solidFill>
                  <a:srgbClr val="6B6862"/>
                </a:solidFill>
                <a:latin typeface="Calibri"/>
              </a:defRPr>
            </a:pPr>
            <a:r>
              <a:t>© Tertiary Infotech Academy Pte Ltd</a:t>
            </a:r>
          </a:p>
        </p:txBody>
      </p:sp>
      <p:sp>
        <p:nvSpPr>
          <p:cNvPr id="6" name="TextBox 5"/>
          <p:cNvSpPr txBox="1"/>
          <p:nvPr/>
        </p:nvSpPr>
        <p:spPr>
          <a:xfrm>
            <a:off x="5852160" y="6473952"/>
            <a:ext cx="5394960" cy="274320"/>
          </a:xfrm>
          <a:prstGeom prst="rect">
            <a:avLst/>
          </a:prstGeom>
          <a:noFill/>
        </p:spPr>
        <p:txBody>
          <a:bodyPr wrap="square" lIns="18288" rIns="18288" tIns="9144" bIns="9144">
            <a:spAutoFit/>
          </a:bodyPr>
          <a:lstStyle/>
          <a:p>
            <a:pPr algn="r">
              <a:lnSpc>
                <a:spcPct val="100000"/>
              </a:lnSpc>
              <a:defRPr sz="900" b="0">
                <a:solidFill>
                  <a:srgbClr val="6B6862"/>
                </a:solidFill>
                <a:latin typeface="Calibri"/>
              </a:defRPr>
            </a:pPr>
            <a:r>
              <a:t>C141 · Claude AI for Digital Marketing</a:t>
            </a:r>
          </a:p>
        </p:txBody>
      </p:sp>
      <p:sp>
        <p:nvSpPr>
          <p:cNvPr id="7" name="TextBox 6"/>
          <p:cNvSpPr txBox="1"/>
          <p:nvPr/>
        </p:nvSpPr>
        <p:spPr>
          <a:xfrm>
            <a:off x="11365992" y="6473952"/>
            <a:ext cx="457200" cy="274320"/>
          </a:xfrm>
          <a:prstGeom prst="rect">
            <a:avLst/>
          </a:prstGeom>
          <a:noFill/>
        </p:spPr>
        <p:txBody>
          <a:bodyPr wrap="square" lIns="18288" rIns="18288" tIns="9144" bIns="9144">
            <a:spAutoFit/>
          </a:bodyPr>
          <a:lstStyle/>
          <a:p>
            <a:pPr algn="r">
              <a:lnSpc>
                <a:spcPct val="100000"/>
              </a:lnSpc>
              <a:defRPr sz="900" b="1">
                <a:solidFill>
                  <a:srgbClr val="D97757"/>
                </a:solidFill>
                <a:latin typeface="Calibri"/>
              </a:defRPr>
            </a:pPr>
            <a:r>
              <a:t>175</a:t>
            </a:r>
          </a:p>
        </p:txBody>
      </p:sp>
      <p:sp>
        <p:nvSpPr>
          <p:cNvPr id="8" name="Rectangle 7"/>
          <p:cNvSpPr/>
          <p:nvPr/>
        </p:nvSpPr>
        <p:spPr>
          <a:xfrm>
            <a:off x="512064" y="2048255"/>
            <a:ext cx="5312876" cy="3593591"/>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ractice-exam.png">
            <a:hlinkClick r:id="rId3"/>
          </p:cNvPr>
          <p:cNvPicPr>
            <a:picLocks noChangeAspect="1"/>
          </p:cNvPicPr>
          <p:nvPr/>
        </p:nvPicPr>
        <p:blipFill>
          <a:blip r:embed="rId2"/>
          <a:stretch>
            <a:fillRect/>
          </a:stretch>
        </p:blipFill>
        <p:spPr>
          <a:xfrm>
            <a:off x="548640" y="2084831"/>
            <a:ext cx="5239724" cy="3520439"/>
          </a:xfrm>
          <a:prstGeom prst="rect">
            <a:avLst/>
          </a:prstGeom>
        </p:spPr>
      </p:pic>
      <p:sp>
        <p:nvSpPr>
          <p:cNvPr id="10" name="TextBox 9"/>
          <p:cNvSpPr txBox="1"/>
          <p:nvPr/>
        </p:nvSpPr>
        <p:spPr>
          <a:xfrm>
            <a:off x="548640" y="5751575"/>
            <a:ext cx="7223760" cy="256032"/>
          </a:xfrm>
          <a:prstGeom prst="rect">
            <a:avLst/>
          </a:prstGeom>
          <a:noFill/>
        </p:spPr>
        <p:txBody>
          <a:bodyPr wrap="square" lIns="18288" rIns="18288" tIns="9144" bIns="9144">
            <a:spAutoFit/>
          </a:bodyPr>
          <a:lstStyle/>
          <a:p>
            <a:pPr>
              <a:lnSpc>
                <a:spcPct val="100000"/>
              </a:lnSpc>
              <a:defRPr sz="1100" b="0">
                <a:solidFill>
                  <a:srgbClr val="21201C"/>
                </a:solidFill>
                <a:latin typeface="Calibri"/>
              </a:defRPr>
            </a:pPr>
            <a:r>
              <a:rPr sz="1000" b="1">
                <a:solidFill>
                  <a:srgbClr val="D97757"/>
                </a:solidFill>
                <a:latin typeface="Calibri"/>
              </a:rPr>
              <a:t>PRACTICE EXAM   </a:t>
            </a:r>
            <a:r>
              <a:rPr sz="1000" b="0">
                <a:solidFill>
                  <a:srgbClr val="21201C"/>
                </a:solidFill>
                <a:latin typeface="Calibri"/>
                <a:hlinkClick r:id="rId3"/>
              </a:rPr>
              <a:t>exams.tertiaryinfotech.com/practice-exams/anthropic/anthropic-ccao-foundations</a:t>
            </a:r>
          </a:p>
        </p:txBody>
      </p:sp>
      <p:sp>
        <p:nvSpPr>
          <p:cNvPr id="11" name="Rectangle 10"/>
          <p:cNvSpPr/>
          <p:nvPr/>
        </p:nvSpPr>
        <p:spPr>
          <a:xfrm>
            <a:off x="6154124" y="2203703"/>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292" y="2130551"/>
            <a:ext cx="5257587"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CCAO-F · Foundations</a:t>
            </a:r>
          </a:p>
        </p:txBody>
      </p:sp>
      <p:sp>
        <p:nvSpPr>
          <p:cNvPr id="13" name="TextBox 12"/>
          <p:cNvSpPr txBox="1"/>
          <p:nvPr/>
        </p:nvSpPr>
        <p:spPr>
          <a:xfrm>
            <a:off x="6355292" y="2459735"/>
            <a:ext cx="5257587"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For professionals who use Claude as a productivity tool.</a:t>
            </a:r>
          </a:p>
        </p:txBody>
      </p:sp>
      <p:sp>
        <p:nvSpPr>
          <p:cNvPr id="14" name="Rectangle 13"/>
          <p:cNvSpPr/>
          <p:nvPr/>
        </p:nvSpPr>
        <p:spPr>
          <a:xfrm>
            <a:off x="6154124" y="3374135"/>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292" y="3300983"/>
            <a:ext cx="5257587"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What it covers</a:t>
            </a:r>
          </a:p>
        </p:txBody>
      </p:sp>
      <p:sp>
        <p:nvSpPr>
          <p:cNvPr id="16" name="TextBox 15"/>
          <p:cNvSpPr txBox="1"/>
          <p:nvPr/>
        </p:nvSpPr>
        <p:spPr>
          <a:xfrm>
            <a:off x="6355292" y="3630167"/>
            <a:ext cx="5257587"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Prompting and task execution, output evaluation, model selection, workflow integration, responsible use.</a:t>
            </a:r>
          </a:p>
        </p:txBody>
      </p:sp>
      <p:sp>
        <p:nvSpPr>
          <p:cNvPr id="17" name="Rectangle 16"/>
          <p:cNvSpPr/>
          <p:nvPr/>
        </p:nvSpPr>
        <p:spPr>
          <a:xfrm>
            <a:off x="6154124" y="4544568"/>
            <a:ext cx="82296" cy="36576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292" y="4471416"/>
            <a:ext cx="5257587" cy="292608"/>
          </a:xfrm>
          <a:prstGeom prst="rect">
            <a:avLst/>
          </a:prstGeom>
          <a:noFill/>
        </p:spPr>
        <p:txBody>
          <a:bodyPr wrap="square" lIns="18288" rIns="18288" tIns="9144" bIns="9144">
            <a:spAutoFit/>
          </a:bodyPr>
          <a:lstStyle/>
          <a:p>
            <a:pPr>
              <a:lnSpc>
                <a:spcPct val="100000"/>
              </a:lnSpc>
              <a:defRPr sz="1450" b="1">
                <a:solidFill>
                  <a:srgbClr val="21201C"/>
                </a:solidFill>
                <a:latin typeface="Cambria"/>
              </a:defRPr>
            </a:pPr>
            <a:r>
              <a:t>Try it free</a:t>
            </a:r>
          </a:p>
        </p:txBody>
      </p:sp>
      <p:sp>
        <p:nvSpPr>
          <p:cNvPr id="19" name="TextBox 18"/>
          <p:cNvSpPr txBox="1"/>
          <p:nvPr/>
        </p:nvSpPr>
        <p:spPr>
          <a:xfrm>
            <a:off x="6355292" y="4800600"/>
            <a:ext cx="5257587" cy="731520"/>
          </a:xfrm>
          <a:prstGeom prst="rect">
            <a:avLst/>
          </a:prstGeom>
          <a:noFill/>
        </p:spPr>
        <p:txBody>
          <a:bodyPr wrap="square" lIns="18288" rIns="18288" tIns="9144" bIns="9144">
            <a:spAutoFit/>
          </a:bodyPr>
          <a:lstStyle/>
          <a:p>
            <a:pPr>
              <a:lnSpc>
                <a:spcPct val="108000"/>
              </a:lnSpc>
              <a:defRPr sz="1200" b="0">
                <a:solidFill>
                  <a:srgbClr val="6B6862"/>
                </a:solidFill>
                <a:latin typeface="Calibri"/>
              </a:defRPr>
            </a:pPr>
            <a:r>
              <a:t>Start with the free practice teaser; exam mode is 60 questions in 120 minutes.</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64">
    <p:bg>
      <p:bgPr>
        <a:solidFill>
          <a:srgbClr val="21201C"/>
        </a:solidFill>
      </p:bgPr>
    </p:bg>
    <p:spTree>
      <p:nvGrpSpPr>
        <p:cNvPr id="1" name=""/>
        <p:cNvGrpSpPr/>
        <p:nvPr/>
      </p:nvGrpSpPr>
      <p:grpSpPr>
        <a:xfrm>
          <a:off x="0" y="0"/>
          <a:ext cx="0" cy="0"/>
          <a:chOff x="0" y="0"/>
          <a:chExt cx="0" cy="0"/>
        </a:xfrm>
      </p:grpSpPr>
      <p:sp>
        <p:nvSpPr>
          <p:cNvPr id="2" name="Shape 0"/>
          <p:cNvSpPr/>
          <p:nvPr/>
        </p:nvSpPr>
        <p:spPr>
          <a:xfrm>
            <a:off x="-1463040" y="-1463040"/>
            <a:ext cx="4572000" cy="4572000"/>
          </a:xfrm>
          <a:prstGeom prst="ellipse">
            <a:avLst/>
          </a:prstGeom>
          <a:solidFill>
            <a:srgbClr val="D97757">
              <a:alpha val="16000"/>
            </a:srgbClr>
          </a:solidFill>
          <a:ln/>
        </p:spPr>
        <p:txBody>
          <a:bodyPr/>
          <a:p/>
        </p:txBody>
      </p:sp>
      <p:sp>
        <p:nvSpPr>
          <p:cNvPr id="3" name="Shape 1"/>
          <p:cNvSpPr/>
          <p:nvPr/>
        </p:nvSpPr>
        <p:spPr>
          <a:xfrm>
            <a:off x="10058400" y="4023360"/>
            <a:ext cx="3657600" cy="3657600"/>
          </a:xfrm>
          <a:prstGeom prst="ellipse">
            <a:avLst/>
          </a:prstGeom>
          <a:solidFill>
            <a:srgbClr val="3A7D7B">
              <a:alpha val="14000"/>
            </a:srgbClr>
          </a:solidFill>
          <a:ln/>
        </p:spPr>
        <p:txBody>
          <a:bodyPr/>
          <a:p/>
        </p:txBody>
      </p:sp>
      <p:sp>
        <p:nvSpPr>
          <p:cNvPr id="4" name="Text 2"/>
          <p:cNvSpPr/>
          <p:nvPr/>
        </p:nvSpPr>
        <p:spPr>
          <a:xfrm>
            <a:off x="822960" y="2377440"/>
            <a:ext cx="10058400" cy="109728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5" name="Text 3"/>
          <p:cNvSpPr/>
          <p:nvPr/>
        </p:nvSpPr>
        <p:spPr>
          <a:xfrm>
            <a:off x="822960" y="3566160"/>
            <a:ext cx="10058400" cy="457200"/>
          </a:xfrm>
          <a:prstGeom prst="rect">
            <a:avLst/>
          </a:prstGeom>
          <a:noFill/>
          <a:ln/>
        </p:spPr>
        <p:txBody>
          <a:bodyPr wrap="square" rtlCol="0" anchor="ctr"/>
          <a:lstStyle/>
          <a:p>
            <a:pPr indent="0" marL="0">
              <a:buNone/>
            </a:pPr>
            <a:r>
              <a:rPr lang="en-US" sz="1800" dirty="0">
                <a:solidFill>
                  <a:srgbClr val="C9C4B9"/>
                </a:solidFill>
                <a:latin typeface="Calibri" pitchFamily="34" charset="0"/>
                <a:ea typeface="Calibri" pitchFamily="34" charset="-122"/>
                <a:cs typeface="Calibri" pitchFamily="34" charset="-120"/>
              </a:rPr>
              <a:t>Questions? We're here to help — during and after class.</a:t>
            </a:r>
            <a:endParaRPr lang="en-US" sz="1800" dirty="0"/>
          </a:p>
        </p:txBody>
      </p:sp>
      <p:sp>
        <p:nvSpPr>
          <p:cNvPr id="6" name="Text 4"/>
          <p:cNvSpPr/>
          <p:nvPr/>
        </p:nvSpPr>
        <p:spPr>
          <a:xfrm>
            <a:off x="822960" y="4206240"/>
            <a:ext cx="10058400" cy="365760"/>
          </a:xfrm>
          <a:prstGeom prst="rect">
            <a:avLst/>
          </a:prstGeom>
          <a:noFill/>
          <a:ln/>
        </p:spPr>
        <p:txBody>
          <a:bodyPr wrap="square" rtlCol="0" anchor="ctr"/>
          <a:lstStyle/>
          <a:p>
            <a:pPr indent="0" marL="0">
              <a:buNone/>
            </a:pPr>
            <a:r>
              <a:rPr lang="en-US" sz="1500" dirty="0">
                <a:solidFill>
                  <a:srgbClr val="D97757"/>
                </a:solidFill>
                <a:latin typeface="Calibri" pitchFamily="34" charset="0"/>
                <a:ea typeface="Calibri" pitchFamily="34" charset="-122"/>
                <a:cs typeface="Calibri" pitchFamily="34" charset="-120"/>
              </a:rPr>
              <a:t>enquiry@tertiaryinfotech.com   |   +65 6100 0613</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64</Slides>
  <Notes>64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64</vt:i4>
      </vt:variant>
    </vt:vector>
  </HeadingPairs>
  <TitlesOfParts>
    <vt:vector size="6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AI for Digital Marketing (C141)</dc:title>
  <dc:subject>Non-WSQ course slide deck</dc:subject>
  <dc:creator>Tertiary Infotech Academy Pte Ltd</dc:creator>
  <cp:lastModifiedBy>Dr. Alfred Ang</cp:lastModifiedBy>
  <cp:revision>1</cp:revision>
  <dcterms:created xsi:type="dcterms:W3CDTF">2026-06-27T18:49:35Z</dcterms:created>
  <dcterms:modified xsi:type="dcterms:W3CDTF">2026-06-27T18:49:35Z</dcterms:modified>
  <dc:description>Version 3.0 — 12 October 2026</dc:description>
  <cp:keywords/>
</cp:coreProperties>
</file>