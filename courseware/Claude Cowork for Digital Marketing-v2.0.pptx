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59" r:id="rId10"/>
    <p:sldId id="261" r:id="rId12"/>
    <p:sldId id="263" r:id="rId14"/>
    <p:sldId id="264" r:id="rId15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6" r:id="rId218"/>
    <p:sldId id="468" r:id="rId220"/>
    <p:sldId id="469" r:id="rId221"/>
    <p:sldId id="470" r:id="rId222"/>
    <p:sldId id="474" r:id="rId226"/>
    <p:sldId id="475" r:id="rId2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2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slide" Target="slides/slide39.xml"/><Relationship Id="rId50" Type="http://schemas.openxmlformats.org/officeDocument/2006/relationships/slide" Target="slides/slide40.xml"/><Relationship Id="rId51" Type="http://schemas.openxmlformats.org/officeDocument/2006/relationships/slide" Target="slides/slide41.xml"/><Relationship Id="rId52" Type="http://schemas.openxmlformats.org/officeDocument/2006/relationships/slide" Target="slides/slide42.xml"/><Relationship Id="rId53" Type="http://schemas.openxmlformats.org/officeDocument/2006/relationships/slide" Target="slides/slide43.xml"/><Relationship Id="rId54" Type="http://schemas.openxmlformats.org/officeDocument/2006/relationships/slide" Target="slides/slide44.xml"/><Relationship Id="rId55" Type="http://schemas.openxmlformats.org/officeDocument/2006/relationships/slide" Target="slides/slide45.xml"/><Relationship Id="rId56" Type="http://schemas.openxmlformats.org/officeDocument/2006/relationships/slide" Target="slides/slide46.xml"/><Relationship Id="rId57" Type="http://schemas.openxmlformats.org/officeDocument/2006/relationships/slide" Target="slides/slide47.xml"/><Relationship Id="rId58" Type="http://schemas.openxmlformats.org/officeDocument/2006/relationships/slide" Target="slides/slide48.xml"/><Relationship Id="rId59" Type="http://schemas.openxmlformats.org/officeDocument/2006/relationships/slide" Target="slides/slide49.xml"/><Relationship Id="rId60" Type="http://schemas.openxmlformats.org/officeDocument/2006/relationships/slide" Target="slides/slide50.xml"/><Relationship Id="rId61" Type="http://schemas.openxmlformats.org/officeDocument/2006/relationships/slide" Target="slides/slide51.xml"/><Relationship Id="rId62" Type="http://schemas.openxmlformats.org/officeDocument/2006/relationships/slide" Target="slides/slide52.xml"/><Relationship Id="rId63" Type="http://schemas.openxmlformats.org/officeDocument/2006/relationships/slide" Target="slides/slide53.xml"/><Relationship Id="rId64" Type="http://schemas.openxmlformats.org/officeDocument/2006/relationships/slide" Target="slides/slide54.xml"/><Relationship Id="rId65" Type="http://schemas.openxmlformats.org/officeDocument/2006/relationships/slide" Target="slides/slide55.xml"/><Relationship Id="rId66" Type="http://schemas.openxmlformats.org/officeDocument/2006/relationships/slide" Target="slides/slide56.xml"/><Relationship Id="rId67" Type="http://schemas.openxmlformats.org/officeDocument/2006/relationships/slide" Target="slides/slide57.xml"/><Relationship Id="rId68" Type="http://schemas.openxmlformats.org/officeDocument/2006/relationships/slide" Target="slides/slide58.xml"/><Relationship Id="rId69" Type="http://schemas.openxmlformats.org/officeDocument/2006/relationships/slide" Target="slides/slide59.xml"/><Relationship Id="rId70" Type="http://schemas.openxmlformats.org/officeDocument/2006/relationships/slide" Target="slides/slide60.xml"/><Relationship Id="rId71" Type="http://schemas.openxmlformats.org/officeDocument/2006/relationships/slide" Target="slides/slide61.xml"/><Relationship Id="rId72" Type="http://schemas.openxmlformats.org/officeDocument/2006/relationships/slide" Target="slides/slide62.xml"/><Relationship Id="rId73" Type="http://schemas.openxmlformats.org/officeDocument/2006/relationships/slide" Target="slides/slide63.xml"/><Relationship Id="rId74" Type="http://schemas.openxmlformats.org/officeDocument/2006/relationships/slide" Target="slides/slide64.xml"/><Relationship Id="rId75" Type="http://schemas.openxmlformats.org/officeDocument/2006/relationships/slide" Target="slides/slide65.xml"/><Relationship Id="rId76" Type="http://schemas.openxmlformats.org/officeDocument/2006/relationships/slide" Target="slides/slide66.xml"/><Relationship Id="rId77" Type="http://schemas.openxmlformats.org/officeDocument/2006/relationships/slide" Target="slides/slide67.xml"/><Relationship Id="rId78" Type="http://schemas.openxmlformats.org/officeDocument/2006/relationships/slide" Target="slides/slide68.xml"/><Relationship Id="rId79" Type="http://schemas.openxmlformats.org/officeDocument/2006/relationships/slide" Target="slides/slide69.xml"/><Relationship Id="rId80" Type="http://schemas.openxmlformats.org/officeDocument/2006/relationships/slide" Target="slides/slide70.xml"/><Relationship Id="rId81" Type="http://schemas.openxmlformats.org/officeDocument/2006/relationships/slide" Target="slides/slide71.xml"/><Relationship Id="rId82" Type="http://schemas.openxmlformats.org/officeDocument/2006/relationships/slide" Target="slides/slide72.xml"/><Relationship Id="rId83" Type="http://schemas.openxmlformats.org/officeDocument/2006/relationships/slide" Target="slides/slide73.xml"/><Relationship Id="rId84" Type="http://schemas.openxmlformats.org/officeDocument/2006/relationships/slide" Target="slides/slide74.xml"/><Relationship Id="rId85" Type="http://schemas.openxmlformats.org/officeDocument/2006/relationships/slide" Target="slides/slide75.xml"/><Relationship Id="rId86" Type="http://schemas.openxmlformats.org/officeDocument/2006/relationships/slide" Target="slides/slide76.xml"/><Relationship Id="rId87" Type="http://schemas.openxmlformats.org/officeDocument/2006/relationships/slide" Target="slides/slide77.xml"/><Relationship Id="rId88" Type="http://schemas.openxmlformats.org/officeDocument/2006/relationships/slide" Target="slides/slide78.xml"/><Relationship Id="rId89" Type="http://schemas.openxmlformats.org/officeDocument/2006/relationships/slide" Target="slides/slide79.xml"/><Relationship Id="rId90" Type="http://schemas.openxmlformats.org/officeDocument/2006/relationships/slide" Target="slides/slide80.xml"/><Relationship Id="rId91" Type="http://schemas.openxmlformats.org/officeDocument/2006/relationships/slide" Target="slides/slide81.xml"/><Relationship Id="rId92" Type="http://schemas.openxmlformats.org/officeDocument/2006/relationships/slide" Target="slides/slide82.xml"/><Relationship Id="rId93" Type="http://schemas.openxmlformats.org/officeDocument/2006/relationships/slide" Target="slides/slide83.xml"/><Relationship Id="rId94" Type="http://schemas.openxmlformats.org/officeDocument/2006/relationships/slide" Target="slides/slide84.xml"/><Relationship Id="rId95" Type="http://schemas.openxmlformats.org/officeDocument/2006/relationships/slide" Target="slides/slide85.xml"/><Relationship Id="rId96" Type="http://schemas.openxmlformats.org/officeDocument/2006/relationships/slide" Target="slides/slide86.xml"/><Relationship Id="rId97" Type="http://schemas.openxmlformats.org/officeDocument/2006/relationships/slide" Target="slides/slide87.xml"/><Relationship Id="rId98" Type="http://schemas.openxmlformats.org/officeDocument/2006/relationships/slide" Target="slides/slide88.xml"/><Relationship Id="rId99" Type="http://schemas.openxmlformats.org/officeDocument/2006/relationships/slide" Target="slides/slide89.xml"/><Relationship Id="rId100" Type="http://schemas.openxmlformats.org/officeDocument/2006/relationships/slide" Target="slides/slide90.xml"/><Relationship Id="rId101" Type="http://schemas.openxmlformats.org/officeDocument/2006/relationships/slide" Target="slides/slide91.xml"/><Relationship Id="rId102" Type="http://schemas.openxmlformats.org/officeDocument/2006/relationships/slide" Target="slides/slide92.xml"/><Relationship Id="rId103" Type="http://schemas.openxmlformats.org/officeDocument/2006/relationships/slide" Target="slides/slide93.xml"/><Relationship Id="rId104" Type="http://schemas.openxmlformats.org/officeDocument/2006/relationships/slide" Target="slides/slide94.xml"/><Relationship Id="rId105" Type="http://schemas.openxmlformats.org/officeDocument/2006/relationships/slide" Target="slides/slide95.xml"/><Relationship Id="rId106" Type="http://schemas.openxmlformats.org/officeDocument/2006/relationships/slide" Target="slides/slide96.xml"/><Relationship Id="rId107" Type="http://schemas.openxmlformats.org/officeDocument/2006/relationships/slide" Target="slides/slide97.xml"/><Relationship Id="rId108" Type="http://schemas.openxmlformats.org/officeDocument/2006/relationships/slide" Target="slides/slide98.xml"/><Relationship Id="rId109" Type="http://schemas.openxmlformats.org/officeDocument/2006/relationships/slide" Target="slides/slide99.xml"/><Relationship Id="rId110" Type="http://schemas.openxmlformats.org/officeDocument/2006/relationships/slide" Target="slides/slide100.xml"/><Relationship Id="rId111" Type="http://schemas.openxmlformats.org/officeDocument/2006/relationships/slide" Target="slides/slide101.xml"/><Relationship Id="rId112" Type="http://schemas.openxmlformats.org/officeDocument/2006/relationships/slide" Target="slides/slide102.xml"/><Relationship Id="rId113" Type="http://schemas.openxmlformats.org/officeDocument/2006/relationships/slide" Target="slides/slide103.xml"/><Relationship Id="rId114" Type="http://schemas.openxmlformats.org/officeDocument/2006/relationships/slide" Target="slides/slide104.xml"/><Relationship Id="rId115" Type="http://schemas.openxmlformats.org/officeDocument/2006/relationships/slide" Target="slides/slide105.xml"/><Relationship Id="rId116" Type="http://schemas.openxmlformats.org/officeDocument/2006/relationships/slide" Target="slides/slide106.xml"/><Relationship Id="rId117" Type="http://schemas.openxmlformats.org/officeDocument/2006/relationships/slide" Target="slides/slide107.xml"/><Relationship Id="rId118" Type="http://schemas.openxmlformats.org/officeDocument/2006/relationships/slide" Target="slides/slide108.xml"/><Relationship Id="rId119" Type="http://schemas.openxmlformats.org/officeDocument/2006/relationships/slide" Target="slides/slide109.xml"/><Relationship Id="rId120" Type="http://schemas.openxmlformats.org/officeDocument/2006/relationships/slide" Target="slides/slide110.xml"/><Relationship Id="rId121" Type="http://schemas.openxmlformats.org/officeDocument/2006/relationships/slide" Target="slides/slide111.xml"/><Relationship Id="rId122" Type="http://schemas.openxmlformats.org/officeDocument/2006/relationships/slide" Target="slides/slide112.xml"/><Relationship Id="rId123" Type="http://schemas.openxmlformats.org/officeDocument/2006/relationships/slide" Target="slides/slide113.xml"/><Relationship Id="rId124" Type="http://schemas.openxmlformats.org/officeDocument/2006/relationships/slide" Target="slides/slide114.xml"/><Relationship Id="rId125" Type="http://schemas.openxmlformats.org/officeDocument/2006/relationships/slide" Target="slides/slide115.xml"/><Relationship Id="rId126" Type="http://schemas.openxmlformats.org/officeDocument/2006/relationships/slide" Target="slides/slide116.xml"/><Relationship Id="rId127" Type="http://schemas.openxmlformats.org/officeDocument/2006/relationships/slide" Target="slides/slide117.xml"/><Relationship Id="rId128" Type="http://schemas.openxmlformats.org/officeDocument/2006/relationships/slide" Target="slides/slide118.xml"/><Relationship Id="rId129" Type="http://schemas.openxmlformats.org/officeDocument/2006/relationships/slide" Target="slides/slide119.xml"/><Relationship Id="rId130" Type="http://schemas.openxmlformats.org/officeDocument/2006/relationships/slide" Target="slides/slide120.xml"/><Relationship Id="rId131" Type="http://schemas.openxmlformats.org/officeDocument/2006/relationships/slide" Target="slides/slide121.xml"/><Relationship Id="rId132" Type="http://schemas.openxmlformats.org/officeDocument/2006/relationships/slide" Target="slides/slide122.xml"/><Relationship Id="rId133" Type="http://schemas.openxmlformats.org/officeDocument/2006/relationships/slide" Target="slides/slide123.xml"/><Relationship Id="rId134" Type="http://schemas.openxmlformats.org/officeDocument/2006/relationships/slide" Target="slides/slide124.xml"/><Relationship Id="rId135" Type="http://schemas.openxmlformats.org/officeDocument/2006/relationships/slide" Target="slides/slide125.xml"/><Relationship Id="rId136" Type="http://schemas.openxmlformats.org/officeDocument/2006/relationships/slide" Target="slides/slide126.xml"/><Relationship Id="rId137" Type="http://schemas.openxmlformats.org/officeDocument/2006/relationships/slide" Target="slides/slide127.xml"/><Relationship Id="rId138" Type="http://schemas.openxmlformats.org/officeDocument/2006/relationships/slide" Target="slides/slide128.xml"/><Relationship Id="rId139" Type="http://schemas.openxmlformats.org/officeDocument/2006/relationships/slide" Target="slides/slide129.xml"/><Relationship Id="rId140" Type="http://schemas.openxmlformats.org/officeDocument/2006/relationships/slide" Target="slides/slide130.xml"/><Relationship Id="rId141" Type="http://schemas.openxmlformats.org/officeDocument/2006/relationships/slide" Target="slides/slide131.xml"/><Relationship Id="rId142" Type="http://schemas.openxmlformats.org/officeDocument/2006/relationships/slide" Target="slides/slide132.xml"/><Relationship Id="rId143" Type="http://schemas.openxmlformats.org/officeDocument/2006/relationships/slide" Target="slides/slide133.xml"/><Relationship Id="rId144" Type="http://schemas.openxmlformats.org/officeDocument/2006/relationships/slide" Target="slides/slide134.xml"/><Relationship Id="rId145" Type="http://schemas.openxmlformats.org/officeDocument/2006/relationships/slide" Target="slides/slide135.xml"/><Relationship Id="rId146" Type="http://schemas.openxmlformats.org/officeDocument/2006/relationships/slide" Target="slides/slide136.xml"/><Relationship Id="rId147" Type="http://schemas.openxmlformats.org/officeDocument/2006/relationships/slide" Target="slides/slide137.xml"/><Relationship Id="rId148" Type="http://schemas.openxmlformats.org/officeDocument/2006/relationships/slide" Target="slides/slide138.xml"/><Relationship Id="rId149" Type="http://schemas.openxmlformats.org/officeDocument/2006/relationships/slide" Target="slides/slide139.xml"/><Relationship Id="rId150" Type="http://schemas.openxmlformats.org/officeDocument/2006/relationships/slide" Target="slides/slide140.xml"/><Relationship Id="rId151" Type="http://schemas.openxmlformats.org/officeDocument/2006/relationships/slide" Target="slides/slide141.xml"/><Relationship Id="rId152" Type="http://schemas.openxmlformats.org/officeDocument/2006/relationships/slide" Target="slides/slide142.xml"/><Relationship Id="rId153" Type="http://schemas.openxmlformats.org/officeDocument/2006/relationships/slide" Target="slides/slide143.xml"/><Relationship Id="rId154" Type="http://schemas.openxmlformats.org/officeDocument/2006/relationships/slide" Target="slides/slide144.xml"/><Relationship Id="rId155" Type="http://schemas.openxmlformats.org/officeDocument/2006/relationships/slide" Target="slides/slide145.xml"/><Relationship Id="rId156" Type="http://schemas.openxmlformats.org/officeDocument/2006/relationships/slide" Target="slides/slide146.xml"/><Relationship Id="rId157" Type="http://schemas.openxmlformats.org/officeDocument/2006/relationships/slide" Target="slides/slide147.xml"/><Relationship Id="rId158" Type="http://schemas.openxmlformats.org/officeDocument/2006/relationships/slide" Target="slides/slide148.xml"/><Relationship Id="rId159" Type="http://schemas.openxmlformats.org/officeDocument/2006/relationships/slide" Target="slides/slide149.xml"/><Relationship Id="rId160" Type="http://schemas.openxmlformats.org/officeDocument/2006/relationships/slide" Target="slides/slide150.xml"/><Relationship Id="rId161" Type="http://schemas.openxmlformats.org/officeDocument/2006/relationships/slide" Target="slides/slide151.xml"/><Relationship Id="rId162" Type="http://schemas.openxmlformats.org/officeDocument/2006/relationships/slide" Target="slides/slide152.xml"/><Relationship Id="rId163" Type="http://schemas.openxmlformats.org/officeDocument/2006/relationships/slide" Target="slides/slide153.xml"/><Relationship Id="rId164" Type="http://schemas.openxmlformats.org/officeDocument/2006/relationships/slide" Target="slides/slide154.xml"/><Relationship Id="rId165" Type="http://schemas.openxmlformats.org/officeDocument/2006/relationships/slide" Target="slides/slide155.xml"/><Relationship Id="rId166" Type="http://schemas.openxmlformats.org/officeDocument/2006/relationships/slide" Target="slides/slide156.xml"/><Relationship Id="rId167" Type="http://schemas.openxmlformats.org/officeDocument/2006/relationships/slide" Target="slides/slide157.xml"/><Relationship Id="rId168" Type="http://schemas.openxmlformats.org/officeDocument/2006/relationships/slide" Target="slides/slide158.xml"/><Relationship Id="rId169" Type="http://schemas.openxmlformats.org/officeDocument/2006/relationships/slide" Target="slides/slide159.xml"/><Relationship Id="rId170" Type="http://schemas.openxmlformats.org/officeDocument/2006/relationships/slide" Target="slides/slide160.xml"/><Relationship Id="rId171" Type="http://schemas.openxmlformats.org/officeDocument/2006/relationships/slide" Target="slides/slide161.xml"/><Relationship Id="rId172" Type="http://schemas.openxmlformats.org/officeDocument/2006/relationships/slide" Target="slides/slide162.xml"/><Relationship Id="rId173" Type="http://schemas.openxmlformats.org/officeDocument/2006/relationships/slide" Target="slides/slide163.xml"/><Relationship Id="rId174" Type="http://schemas.openxmlformats.org/officeDocument/2006/relationships/slide" Target="slides/slide164.xml"/><Relationship Id="rId175" Type="http://schemas.openxmlformats.org/officeDocument/2006/relationships/slide" Target="slides/slide165.xml"/><Relationship Id="rId176" Type="http://schemas.openxmlformats.org/officeDocument/2006/relationships/slide" Target="slides/slide166.xml"/><Relationship Id="rId177" Type="http://schemas.openxmlformats.org/officeDocument/2006/relationships/slide" Target="slides/slide167.xml"/><Relationship Id="rId178" Type="http://schemas.openxmlformats.org/officeDocument/2006/relationships/slide" Target="slides/slide168.xml"/><Relationship Id="rId179" Type="http://schemas.openxmlformats.org/officeDocument/2006/relationships/slide" Target="slides/slide169.xml"/><Relationship Id="rId180" Type="http://schemas.openxmlformats.org/officeDocument/2006/relationships/slide" Target="slides/slide170.xml"/><Relationship Id="rId181" Type="http://schemas.openxmlformats.org/officeDocument/2006/relationships/slide" Target="slides/slide171.xml"/><Relationship Id="rId182" Type="http://schemas.openxmlformats.org/officeDocument/2006/relationships/slide" Target="slides/slide172.xml"/><Relationship Id="rId183" Type="http://schemas.openxmlformats.org/officeDocument/2006/relationships/slide" Target="slides/slide173.xml"/><Relationship Id="rId184" Type="http://schemas.openxmlformats.org/officeDocument/2006/relationships/slide" Target="slides/slide174.xml"/><Relationship Id="rId185" Type="http://schemas.openxmlformats.org/officeDocument/2006/relationships/slide" Target="slides/slide175.xml"/><Relationship Id="rId186" Type="http://schemas.openxmlformats.org/officeDocument/2006/relationships/slide" Target="slides/slide176.xml"/><Relationship Id="rId187" Type="http://schemas.openxmlformats.org/officeDocument/2006/relationships/slide" Target="slides/slide177.xml"/><Relationship Id="rId188" Type="http://schemas.openxmlformats.org/officeDocument/2006/relationships/slide" Target="slides/slide178.xml"/><Relationship Id="rId189" Type="http://schemas.openxmlformats.org/officeDocument/2006/relationships/slide" Target="slides/slide179.xml"/><Relationship Id="rId190" Type="http://schemas.openxmlformats.org/officeDocument/2006/relationships/slide" Target="slides/slide180.xml"/><Relationship Id="rId191" Type="http://schemas.openxmlformats.org/officeDocument/2006/relationships/slide" Target="slides/slide181.xml"/><Relationship Id="rId192" Type="http://schemas.openxmlformats.org/officeDocument/2006/relationships/slide" Target="slides/slide182.xml"/><Relationship Id="rId193" Type="http://schemas.openxmlformats.org/officeDocument/2006/relationships/slide" Target="slides/slide183.xml"/><Relationship Id="rId194" Type="http://schemas.openxmlformats.org/officeDocument/2006/relationships/slide" Target="slides/slide184.xml"/><Relationship Id="rId195" Type="http://schemas.openxmlformats.org/officeDocument/2006/relationships/slide" Target="slides/slide185.xml"/><Relationship Id="rId196" Type="http://schemas.openxmlformats.org/officeDocument/2006/relationships/slide" Target="slides/slide186.xml"/><Relationship Id="rId197" Type="http://schemas.openxmlformats.org/officeDocument/2006/relationships/slide" Target="slides/slide187.xml"/><Relationship Id="rId198" Type="http://schemas.openxmlformats.org/officeDocument/2006/relationships/slide" Target="slides/slide188.xml"/><Relationship Id="rId199" Type="http://schemas.openxmlformats.org/officeDocument/2006/relationships/slide" Target="slides/slide189.xml"/><Relationship Id="rId200" Type="http://schemas.openxmlformats.org/officeDocument/2006/relationships/slide" Target="slides/slide190.xml"/><Relationship Id="rId201" Type="http://schemas.openxmlformats.org/officeDocument/2006/relationships/slide" Target="slides/slide191.xml"/><Relationship Id="rId202" Type="http://schemas.openxmlformats.org/officeDocument/2006/relationships/slide" Target="slides/slide192.xml"/><Relationship Id="rId203" Type="http://schemas.openxmlformats.org/officeDocument/2006/relationships/slide" Target="slides/slide193.xml"/><Relationship Id="rId204" Type="http://schemas.openxmlformats.org/officeDocument/2006/relationships/slide" Target="slides/slide194.xml"/><Relationship Id="rId205" Type="http://schemas.openxmlformats.org/officeDocument/2006/relationships/slide" Target="slides/slide195.xml"/><Relationship Id="rId206" Type="http://schemas.openxmlformats.org/officeDocument/2006/relationships/slide" Target="slides/slide196.xml"/><Relationship Id="rId207" Type="http://schemas.openxmlformats.org/officeDocument/2006/relationships/slide" Target="slides/slide197.xml"/><Relationship Id="rId208" Type="http://schemas.openxmlformats.org/officeDocument/2006/relationships/slide" Target="slides/slide198.xml"/><Relationship Id="rId209" Type="http://schemas.openxmlformats.org/officeDocument/2006/relationships/slide" Target="slides/slide199.xml"/><Relationship Id="rId210" Type="http://schemas.openxmlformats.org/officeDocument/2006/relationships/slide" Target="slides/slide200.xml"/><Relationship Id="rId211" Type="http://schemas.openxmlformats.org/officeDocument/2006/relationships/slide" Target="slides/slide201.xml"/><Relationship Id="rId212" Type="http://schemas.openxmlformats.org/officeDocument/2006/relationships/slide" Target="slides/slide202.xml"/><Relationship Id="rId213" Type="http://schemas.openxmlformats.org/officeDocument/2006/relationships/slide" Target="slides/slide203.xml"/><Relationship Id="rId214" Type="http://schemas.openxmlformats.org/officeDocument/2006/relationships/slide" Target="slides/slide204.xml"/><Relationship Id="rId215" Type="http://schemas.openxmlformats.org/officeDocument/2006/relationships/slide" Target="slides/slide205.xml"/><Relationship Id="rId216" Type="http://schemas.openxmlformats.org/officeDocument/2006/relationships/slide" Target="slides/slide206.xml"/><Relationship Id="rId218" Type="http://schemas.openxmlformats.org/officeDocument/2006/relationships/slide" Target="slides/slide207.xml"/><Relationship Id="rId220" Type="http://schemas.openxmlformats.org/officeDocument/2006/relationships/slide" Target="slides/slide208.xml"/><Relationship Id="rId221" Type="http://schemas.openxmlformats.org/officeDocument/2006/relationships/slide" Target="slides/slide209.xml"/><Relationship Id="rId222" Type="http://schemas.openxmlformats.org/officeDocument/2006/relationships/slide" Target="slides/slide210.xml"/><Relationship Id="rId226" Type="http://schemas.openxmlformats.org/officeDocument/2006/relationships/slide" Target="slides/slide211.xml"/><Relationship Id="rId227" Type="http://schemas.openxmlformats.org/officeDocument/2006/relationships/slide" Target="slides/slide2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Passed compatibility checks</c:v>
                </c:pt>
              </c:strCache>
            </c:strRef>
          </c:tx>
          <c:spPr>
            <a:solidFill>
              <a:srgbClr val="3A7D7B"/>
            </a:solidFill>
          </c:spPr>
          <c:cat>
            <c:strRef>
              <c:f>Sheet1!$A$2:$A$5</c:f>
              <c:strCache>
                <c:ptCount val="4"/>
                <c:pt idx="0">
                  <c:v>Format</c:v>
                </c:pt>
                <c:pt idx="1">
                  <c:v>Permission</c:v>
                </c:pt>
                <c:pt idx="2">
                  <c:v>Identity</c:v>
                </c:pt>
                <c:pt idx="3">
                  <c:v>Freshness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Claim audit counts</c:v>
                </c:pt>
              </c:strCache>
            </c:strRef>
          </c:tx>
          <c:spPr>
            <a:solidFill>
              <a:srgbClr val="3A7D7B"/>
            </a:solidFill>
          </c:spPr>
          <c:cat>
            <c:strRef>
              <c:f>Sheet1!$A$2:$A$4</c:f>
              <c:strCache>
                <c:ptCount val="3"/>
                <c:pt idx="0">
                  <c:v>Approved</c:v>
                </c:pt>
                <c:pt idx="1">
                  <c:v>Expired</c:v>
                </c:pt>
                <c:pt idx="2">
                  <c:v>Unsupported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0</c:v>
                </c:pt>
                <c:pt idx="2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Matched records by source</c:v>
                </c:pt>
              </c:strCache>
            </c:strRef>
          </c:tx>
          <c:spPr>
            <a:solidFill>
              <a:srgbClr val="3A7D7B"/>
            </a:solidFill>
          </c:spPr>
          <c:cat>
            <c:strRef>
              <c:f>Sheet1!$A$2:$A$4</c:f>
              <c:strCache>
                <c:ptCount val="3"/>
                <c:pt idx="0">
                  <c:v>Ads</c:v>
                </c:pt>
                <c:pt idx="1">
                  <c:v>Analytics</c:v>
                </c:pt>
                <c:pt idx="2">
                  <c:v>CRM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4</c:v>
                </c:pt>
                <c:pt idx="2">
                  <c:v>3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Taxonomy defects</c:v>
                </c:pt>
              </c:strCache>
            </c:strRef>
          </c:tx>
          <c:spPr>
            <a:solidFill>
              <a:srgbClr val="3A7D7B"/>
            </a:solidFill>
          </c:spPr>
          <c:cat>
            <c:strRef>
              <c:f>Sheet1!$A$2:$A$5</c:f>
              <c:strCache>
                <c:ptCount val="4"/>
                <c:pt idx="0">
                  <c:v>Case</c:v>
                </c:pt>
                <c:pt idx="1">
                  <c:v>Whitespace</c:v>
                </c:pt>
                <c:pt idx="2">
                  <c:v>Missing ID</c:v>
                </c:pt>
                <c:pt idx="3">
                  <c:v>Duplicate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Skill fixture results</c:v>
                </c:pt>
              </c:strCache>
            </c:strRef>
          </c:tx>
          <c:spPr>
            <a:solidFill>
              <a:srgbClr val="3A7D7B"/>
            </a:solidFill>
          </c:spPr>
          <c:cat>
            <c:strRef>
              <c:f>Sheet1!$A$2:$A$5</c:f>
              <c:strCache>
                <c:ptCount val="4"/>
                <c:pt idx="0">
                  <c:v>Schema</c:v>
                </c:pt>
                <c:pt idx="1">
                  <c:v>Metrics</c:v>
                </c:pt>
                <c:pt idx="2">
                  <c:v>Claims</c:v>
                </c:pt>
                <c:pt idx="3">
                  <c:v>Boundary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Attributed ROAS by channel</c:v>
                </c:pt>
              </c:strCache>
            </c:strRef>
          </c:tx>
          <c:spPr>
            <a:solidFill>
              <a:srgbClr val="3A7D7B"/>
            </a:solidFill>
          </c:spPr>
          <c:cat>
            <c:strRef>
              <c:f>Sheet1!$A$2:$A$4</c:f>
              <c:strCache>
                <c:ptCount val="3"/>
                <c:pt idx="0">
                  <c:v>Search</c:v>
                </c:pt>
                <c:pt idx="1">
                  <c:v>Social</c:v>
                </c:pt>
                <c:pt idx="2">
                  <c:v>Email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2.0</c:v>
                </c:pt>
                <c:pt idx="1">
                  <c:v>1.333333</c:v>
                </c:pt>
                <c:pt idx="2">
                  <c:v>12.0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Defects by category</c:v>
                </c:pt>
              </c:strCache>
            </c:strRef>
          </c:tx>
          <c:spPr>
            <a:solidFill>
              <a:srgbClr val="3A7D7B"/>
            </a:solidFill>
          </c:spPr>
          <c:cat>
            <c:strRef>
              <c:f>Sheet1!$A$2:$A$5</c:f>
              <c:strCache>
                <c:ptCount val="4"/>
                <c:pt idx="0">
                  <c:v>Schema</c:v>
                </c:pt>
                <c:pt idx="1">
                  <c:v>Duplicate</c:v>
                </c:pt>
                <c:pt idx="2">
                  <c:v>Currency</c:v>
                </c:pt>
                <c:pt idx="3">
                  <c:v>Value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keyword demand</c:v>
                </c:pt>
              </c:strCache>
            </c:strRef>
          </c:tx>
          <c:spPr>
            <a:solidFill>
              <a:srgbClr val="3A7D7B"/>
            </a:solidFill>
          </c:spPr>
          <c:cat>
            <c:strRef>
              <c:f>Sheet1!$A$2:$A$5</c:f>
              <c:strCache>
                <c:ptCount val="4"/>
                <c:pt idx="0">
                  <c:v>Singapore</c:v>
                </c:pt>
                <c:pt idx="1">
                  <c:v>Cleaning</c:v>
                </c:pt>
                <c:pt idx="2">
                  <c:v>750 ml</c:v>
                </c:pt>
                <c:pt idx="3">
                  <c:v>Free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900</c:v>
                </c:pt>
                <c:pt idx="1">
                  <c:v>600</c:v>
                </c:pt>
                <c:pt idx="2">
                  <c:v>400</c:v>
                </c:pt>
                <c:pt idx="3">
                  <c:v>1200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Segment exclusion counts</c:v>
                </c:pt>
              </c:strCache>
            </c:strRef>
          </c:tx>
          <c:spPr>
            <a:solidFill>
              <a:srgbClr val="3A7D7B"/>
            </a:solidFill>
          </c:spPr>
          <c:cat>
            <c:strRef>
              <c:f>Sheet1!$A$2:$A$6</c:f>
              <c:strCache>
                <c:ptCount val="5"/>
                <c:pt idx="0">
                  <c:v>Eligible</c:v>
                </c:pt>
                <c:pt idx="1">
                  <c:v>No consent</c:v>
                </c:pt>
                <c:pt idx="2">
                  <c:v>Purchased</c:v>
                </c:pt>
                <c:pt idx="3">
                  <c:v>Too recent</c:v>
                </c:pt>
                <c:pt idx="4">
                  <c:v>Suppressed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Draft QA issues</c:v>
                </c:pt>
              </c:strCache>
            </c:strRef>
          </c:tx>
          <c:spPr>
            <a:solidFill>
              <a:srgbClr val="3A7D7B"/>
            </a:solidFill>
          </c:spPr>
          <c:cat>
            <c:strRef>
              <c:f>Sheet1!$A$2:$A$5</c:f>
              <c:strCache>
                <c:ptCount val="4"/>
                <c:pt idx="0">
                  <c:v>Claims</c:v>
                </c:pt>
                <c:pt idx="1">
                  <c:v>Alt text</c:v>
                </c:pt>
                <c:pt idx="2">
                  <c:v>Price</c:v>
                </c:pt>
                <c:pt idx="3">
                  <c:v>Review state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Calibri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Observed conversion rate (%)</c:v>
                </c:pt>
              </c:strCache>
            </c:strRef>
          </c:tx>
          <c:spPr>
            <a:solidFill>
              <a:srgbClr val="3A7D7B"/>
            </a:solidFill>
          </c:spPr>
          <c:cat>
            <c:strRef>
              <c:f>Sheet1!$A$2:$A$3</c:f>
              <c:strCache>
                <c:ptCount val="2"/>
                <c:pt idx="0">
                  <c:v>Variant A</c:v>
                </c:pt>
                <c:pt idx="1">
                  <c:v>Variant 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4.0</c:v>
                </c:pt>
                <c:pt idx="1">
                  <c:v>5.0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Calibri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Initial regression outcomes</c:v>
                </c:pt>
              </c:strCache>
            </c:strRef>
          </c:tx>
          <c:spPr>
            <a:solidFill>
              <a:srgbClr val="3A7D7B"/>
            </a:solidFill>
          </c:spPr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Critical 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Calibri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Retest coverage (%)</c:v>
                </c:pt>
              </c:strCache>
            </c:strRef>
          </c:tx>
          <c:spPr>
            <a:solidFill>
              <a:srgbClr val="3A7D7B"/>
            </a:solidFill>
          </c:spPr>
          <c:cat>
            <c:strRef>
              <c:f>Sheet1!$A$2:$A$4</c:f>
              <c:strCache>
                <c:ptCount val="3"/>
                <c:pt idx="0">
                  <c:v>Metrics</c:v>
                </c:pt>
                <c:pt idx="1">
                  <c:v>Consent</c:v>
                </c:pt>
                <c:pt idx="2">
                  <c:v>Claims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Calibri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Portfolio traceability (%)</c:v>
                </c:pt>
              </c:strCache>
            </c:strRef>
          </c:tx>
          <c:spPr>
            <a:solidFill>
              <a:srgbClr val="3A7D7B"/>
            </a:solidFill>
          </c:spPr>
          <c:cat>
            <c:strRef>
              <c:f>Sheet1!$A$2:$A$5</c:f>
              <c:strCache>
                <c:ptCount val="4"/>
                <c:pt idx="0">
                  <c:v>Metrics</c:v>
                </c:pt>
                <c:pt idx="1">
                  <c:v>Email</c:v>
                </c:pt>
                <c:pt idx="2">
                  <c:v>SEO</c:v>
                </c:pt>
                <c:pt idx="3">
                  <c:v>Change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Cambria"/>
          <a:ea typeface="Cambria"/>
          <a:cs typeface="Cambria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Cambria"/>
          <a:ea typeface="Cambria"/>
          <a:cs typeface="Cambria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Cambria"/>
          <a:ea typeface="Cambria"/>
          <a:cs typeface="Cambria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Calibri"/>
          <a:ea typeface="Calibri"/>
          <a:cs typeface="Calibri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"/>
          <a:ea typeface="Calibri"/>
          <a:cs typeface="Calibri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Calibri"/>
          <a:ea typeface="Calibri"/>
          <a:cs typeface="Calibri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alibri"/>
          <a:ea typeface="Calibri"/>
          <a:cs typeface="Calibri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alibri"/>
          <a:ea typeface="Calibri"/>
          <a:cs typeface="Calibri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alibri"/>
          <a:ea typeface="Calibri"/>
          <a:cs typeface="Calibri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alibri"/>
          <a:ea typeface="Calibri"/>
          <a:cs typeface="Calibri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chart" Target="../charts/char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chart" Target="../charts/chart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Relationship Id="rId3" Type="http://schemas.openxmlformats.org/officeDocument/2006/relationships/chart" Target="../charts/chart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Relationship Id="rId3" Type="http://schemas.openxmlformats.org/officeDocument/2006/relationships/chart" Target="../charts/chart5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Relationship Id="rId3" Type="http://schemas.openxmlformats.org/officeDocument/2006/relationships/chart" Target="../charts/chart6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7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Relationship Id="rId3" Type="http://schemas.openxmlformats.org/officeDocument/2006/relationships/chart" Target="../charts/char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8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Relationship Id="rId3" Type="http://schemas.openxmlformats.org/officeDocument/2006/relationships/chart" Target="../charts/chart8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9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Relationship Id="rId3" Type="http://schemas.openxmlformats.org/officeDocument/2006/relationships/chart" Target="../charts/chart9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10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Relationship Id="rId3" Type="http://schemas.openxmlformats.org/officeDocument/2006/relationships/chart" Target="../charts/chart1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1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3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4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5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6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7.xml"/><Relationship Id="rId3" Type="http://schemas.openxmlformats.org/officeDocument/2006/relationships/chart" Target="../charts/chart11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9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0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1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2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3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12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5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6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8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9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0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1.xml"/><Relationship Id="rId3" Type="http://schemas.openxmlformats.org/officeDocument/2006/relationships/chart" Target="../charts/chart12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2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3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4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5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6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13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9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0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1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2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3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4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5.xml"/><Relationship Id="rId3" Type="http://schemas.openxmlformats.org/officeDocument/2006/relationships/chart" Target="../charts/chart13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6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8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9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0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1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14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3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4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5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6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8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9.xml"/><Relationship Id="rId3" Type="http://schemas.openxmlformats.org/officeDocument/2006/relationships/chart" Target="../charts/chart14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0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1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2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3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4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5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15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400" b="1">
                <a:solidFill>
                  <a:srgbClr val="D97757"/>
                </a:solidFill>
                <a:latin typeface="Calibri"/>
              </a:rPr>
              <a:t>NON-WSQ COURSE  •  C141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10241280" cy="2651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5200" b="1">
                <a:solidFill>
                  <a:srgbClr val="FFFFFF"/>
                </a:solidFill>
                <a:latin typeface="Cambria"/>
              </a:rPr>
              <a:t>Claude Cowork for Digital Marketing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212080"/>
            <a:ext cx="100584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Tertiary Infotech Academy Pte Ltd</a:t>
            </a:r>
          </a:p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UEN: 201200696W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200" b="0">
                <a:solidFill>
                  <a:srgbClr val="B9B4A9"/>
                </a:solidFill>
                <a:latin typeface="Calibri"/>
              </a:rPr>
              <a:t>www.tertiarycourses.com.sg   |   enquiry@tertiaryinfotech.com   |   +65 6100 0613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1371600"/>
            <a:ext cx="3776472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/>
            <a:r>
              <a:rPr sz="1300" b="0">
                <a:solidFill>
                  <a:srgbClr val="B9B4A9"/>
                </a:solidFill>
                <a:latin typeface="Calibri"/>
              </a:rPr>
              <a:t>Version 2.0  ·  10 Oct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159752" y="6355080"/>
            <a:ext cx="4572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/>
            <a:r>
              <a:rPr sz="900" b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CLAUDE COWORK · MARKETING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About the trainer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Trainer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Name:________________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Experience:________________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Contact:________________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Working agreements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Respect discussion,return on time and keep one conversation at a time.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Training workspace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the supplied synthetic folder. Human review precedes external campaign action.</a:t>
            </a:r>
          </a:p>
        </p:txBody>
      </p:sp>
      <p:sp>
        <p:nvSpPr>
          <p:cNvPr id="27" name="Oval 26"/>
          <p:cNvSpPr/>
          <p:nvPr/>
        </p:nvSpPr>
        <p:spPr>
          <a:xfrm>
            <a:off x="914400" y="4114800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187952"/>
            <a:ext cx="640080" cy="4572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TRAINER CHECK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Confirm class logistics with the training administration record.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CLAUDE COWORK · MARKETING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Dr Alfred 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Qualifications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PhD,NUS;MEng,NTU;MBA.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Training credentials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ACTA and DACE training credentials.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Provider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Tertiary Infotech Academy Pte Ltd · UEN201200696W;assigned trainer may differ.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TRAINER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Confirm class logistics with the training administration record.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CLAUDE COWORK · MARKETING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Two-day training 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Day 1 · 9:30am – 5:30pm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Workspace / brand context / MCP / tracking / Skills / metric reconciliation / data quality.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Day 2 · 9:30am – 5:30pm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SEO / lifecycle email / social assets / experiments / regression / versioning / portfolio.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Daily rhythm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7.5 instructional hours per day with a 30-minute lunch; activity time sits inside each block.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TRAINER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Confirm class logistics with the training administration record.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CURRENT PRIMARY DOCUMENTATION · 13 SEP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Cowork surfaces and local-file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Desktop local 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 selected folder supplies local-file context; choose only the activity workspace.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Web / cloud / mobile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Current official documentation describes multiple surfaces. Do not assume a desktop-only product.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Scheduled tasks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Cloud task conditions differ from desktop-local execution. Verify the current documented task surface.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SOURCE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Anthropic: Get started with Cowork; Use Cowork on web, desktop and mobile; Schedule recurring tasks. Product controls may change.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01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Workspace compatibility and integration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Assess whether a local marketing workspace and an optional connector satisfy a read-only integration plan.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Output: compatibility-matrix.csv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Evaluate desktop availability, file encoding, column names, currency, timezone, connection permissions and intended output. A successful file read is insufficient evidence of semantic compatibility.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Folder boundary excludes personal Downloads and credentials. | All four components have owners and declared permissions.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01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Architecture: Workspace compatibility and integration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Brief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Folder boundary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Schema check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Compatibility matrix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Approval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Cowork receives only the chosen working folder; local files and optional connected services cross distinct boundaries. A compatibility gate precedes analysis.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01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Input contract: Workspace compatibility and integration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component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Campaign export. Validate declared 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interface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Local CSV. Validate declared values.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input_format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UTF-8 / SGD. Validate declared values.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permission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 scope and write prohibition at boundary.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owner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Responsible person/role for access and acceptance.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status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Explicit evidence state;do not conflate Fixed,Open andFlagged.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01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Execution trace: Workspace compatibility and integration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Cowork receives only the chosen working folder; local files and optional connected services cross distinct boundaries. A compatibility gate precedes analysis.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compatibility-matrix.csv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01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Worked artifact: Workspace compatibility and integration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component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interface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input_format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permission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Campaign export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Local CSV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UTF-8 / SGD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 only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Analyst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Compatible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Brand brief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Local Markdown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Approved claims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 only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Brand owner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Compatible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CRM connector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Remote MCP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Vendor schema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Scoped read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CRM admin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Conditional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Email send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External write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Consent required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 access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Campaign owner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Blocked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01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Calculation: Workspace compatibility and integration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D97757"/>
                </a:solidFill>
                <a:latin typeface="Calibri"/>
              </a:rPr>
              <a:t>Compatibility rate = passed checks / applicable checks ×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8 passed / 10 applicable × 100 = 80%; two blocked checks prevent a live connection.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Folder boundary excludes personal Downloads and credentials.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01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Passed compatibility checks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8 passed / 10 applicable × 100 = 80%; two blocked checks prevent a live connection.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01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Failure diagnosis: Workspace compatibility and integration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A CSV is readable but its currency is USD while the brief specifies SGD.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Quarantine the input, request a correctly labelled export, then repeat the currency and totals tests.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B5483A"/>
                </a:solidFill>
                <a:latin typeface="Calibri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01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Test oracle: Workspace compatibility and integration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Folder boundary excludes personal Downloads and credentials.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All four components have owners and declared permissions.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Conditional interfaces remain blocked until acceptance evidence exists.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01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Reusable instruction: Workspace compatibility and integration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component, interface, input_format, permission, owner, status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Artifact: compatibility-matrix.csv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Cowork receives only the chosen working folder; local files and optional connected services cross distinct boundaries. A compatibility gate precedes analysis.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01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Prompt contract: Workspace compatibility and integration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Task: Assess whether a local marketing workspace and an optional connector satisfy a read-only integration plan.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this contract: component, interface, input_format, permission, owner, status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01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Audit evidence: Workspace compatibility and integration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activity-1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8 passed / 10 applicable × 100 = 80%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01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Change decision: Workspace compatibility and integration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Add a currency check and an explicit owner sign-off before admitting new source exports.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01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Activity evidence bridge: Workspace compatibility and integration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Folder boundary excludes personal Downloads and credentials.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 CSV is readable but its currency is USD while the brief specifies SGD.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C2603F"/>
                </a:solidFill>
                <a:latin typeface="Calibri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compatibility-matrix.csv;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Activity 01 · 30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02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Brand context and grounded campaign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Build a source-grounded campaign brief for a synthetic Singapore reusable-bottle brand without fabricating claims.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Output: campaign-brief.md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Separate source facts from creative hypotheses. Mark persona assumptions as hypotheses, maintain expiry dates, and preserve an approval record before external publication.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Every factual claim has file and section provenance. | Unsupported C04 never appears in the final draft.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02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Architecture: Brand context and grounded campaign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Brand sources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Claim ledger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Audience evidence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Brief draft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Owner review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 claim ledger binds each generated fact to an approved source and approval state. Instructions govern style; source files govern factual truth.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02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Input contract: Brand context and grounded campaign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claim_id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Stable claim identifier joined to approved source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approved_claim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750 ml stainless bottle. Validate declared values.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source_file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File provenance for factual claim verification.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source_section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Specific source location,not a vague citation.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approval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Owner-controlled state;generated output cannot self-approve.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expiry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Date after which claim must be revalidated.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02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Execution trace: Brand context and grounded campaign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 claim ledger binds each generated fact to an approved source and approval state. Instructions govern style; source files govern factual truth.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campaign-brief.md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02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Worked artifact: Brand context and grounded campaign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claim_id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approved_claim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source_file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source_section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approval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expiry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750 ml stainless bottle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product.md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Specifications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Approved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2026-12-31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SGD 32 list price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price-list.csv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SKU RB750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Approved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2026-10-31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C03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Free delivery above SGD 60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policy.md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Delivery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Approved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2026-10-31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C04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Carbon neutral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 supporting source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None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Reject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None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02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Calculation: Brand context and grounded campaign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D97757"/>
                </a:solidFill>
                <a:latin typeface="Calibri"/>
              </a:rPr>
              <a:t>Grounding coverage = sourced factual claims / total factual claims ×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9 sourced claims / 10 factual claims = 90%; remove the unsupported claim to reach 100%.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Every factual claim has file and section provenance.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02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Claim audit counts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9 sourced claims / 10 factual claims = 90%; remove the unsupported claim to reach 100%.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02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Failure diagnosis: Brand context and grounded campaign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The draft transforms “stainless steel” into “clinically proven healthier”.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Remove the unsupported health claim and trace every factual phrase to an approved source.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B5483A"/>
                </a:solidFill>
                <a:latin typeface="Calibri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02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Test oracle: Brand context and grounded campaign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Every factual claim has file and section provenance.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Unsupported C04 never appears in the final draft.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The output preserves SGD 32 and the SGD 60 delivery threshold.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02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Reusable instruction: Brand context and grounded campaign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claim_id, approved_claim, source_file, source_section, approval, expiry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Artifact: campaign-brief.md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 claim ledger binds each generated fact to an approved source and approval state. Instructions govern style; source files govern factual truth.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02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Prompt contract: Brand context and grounded campaign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Task: Build a source-grounded campaign brief for a synthetic Singapore reusable-bottle brand without fabricating claims.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this contract: claim_id, approved_claim, source_file, source_section, approval, expiry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02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Audit evidence: Brand context and grounded campaign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activity-2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9 sourced claims / 10 factual claims = 90%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02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Change decision: Brand context and grounded campaign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32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Version the claim ledger when price or delivery policy changes; regenerate affected campaign variants.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02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Activity evidence bridge: Brand context and grounded campaign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33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Every factual claim has file and section provenance.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The draft transforms “stainless steel” into “clinically proven healthier”.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C2603F"/>
                </a:solidFill>
                <a:latin typeface="Calibri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campaign-brief.md;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Activity 02 · 30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03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Connector and MCP compatibility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Design a read-only connector integration and inspect supplied MCP-style teaching traces without connecting a live account.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Output: connector-integration-plan.md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Inspect server documentation and administrator controls for the actual connector. Sample trace names in this activity are explicitly synthetic and are not commands to call a vendor service.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Interface plan identifies owner, transport and access boundary. | Read actions are separated from send/publish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03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Architecture: Connector and MCP compatibility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Cowork client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Connector permission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MCP server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Source export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Validated report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MCP separates the client from a server exposing tools and resources. A connector adds account-specific authorization; possession of a connection does not imply every property is accessible.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03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Input contract: Connector and MCP compatibility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source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Ads reporting. Validate declared 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transport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Actual documented interface type;do not invent endpoints.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auth_owner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Ads admin. Validate declared values.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allowed_action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Selected read action;send/publish explicitly disabled.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returned_fields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campaign_id,spend. Validate declared values.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gate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Scope review. Validate declared values.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03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Execution trace: Connector and MCP compatibility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MCP separates the client from a server exposing tools and resources. A connector adds account-specific authorization; possession of a connection does not imply every property is accessible.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connector-integration-plan.md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03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Worked artifact: Connector and MCP compatibility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source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transport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auth_owner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allowed_action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returned_fields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gate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Ads reporting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Remote connector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Ads admin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 aggregates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campaign_id,spend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Scope review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CRM reporting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Remote connector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CRM admin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 segments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segment_id,count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Consent review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Local export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Folder access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Learner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 CSV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date,campaign_id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Schema review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Publishing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External service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Campaign owner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Write disabled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None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Separate approval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03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Calculation: Connector and MCP compatibility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39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D97757"/>
                </a:solidFill>
                <a:latin typeface="Calibri"/>
              </a:rPr>
              <a:t>Join coverage = matched campaign IDs / source campaign IDs ×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4 matched / 5 source campaign IDs = 80%; one missing ID is a compatibility error.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Interface plan identifies owner, transport and access boundary.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03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Matched records by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40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4 matched / 5 source campaign IDs = 80%; one missing ID is a compatibility error.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03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Failure diagnosis: Connector and MCP compatibility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A connector lists reporting tools but the source account grants no access to the required property.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Check account identity, permitted property and read scope; obtain administrator correction before retrying.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B5483A"/>
                </a:solidFill>
                <a:latin typeface="Calibri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03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Test oracle: Connector and MCP compatibility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Interface plan identifies owner, transport and access boundary.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 actions are separated from send/publish actions.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Missing campaign_id is logged rather than silently discarded.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03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Reusable instruction: Connector and MCP compatibility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source, transport, auth_owner, allowed_action, returned_fields, gate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Artifact: connector-integration-plan.md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MCP separates the client from a server exposing tools and resources. A connector adds account-specific authorization; possession of a connection does not imply every property is accessible.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03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Prompt contract: Connector and MCP compatibility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Task: Design a read-only connector integration and inspect supplied MCP-style teaching traces without connecting a live account.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this contract: source, transport, auth_owner, allowed_action, returned_fields, gate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03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Audit evidence: Connector and MCP compatibility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activity-3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4 matched / 5 source campaign IDs = 80%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03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Change decision: Connector and MCP compatibility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46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Replace a missing connector with a schema-compatible local export while documenting the reduced automation.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03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Activity evidence bridge: Connector and MCP compatibility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47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Interface plan identifies owner, transport and access boundary.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 connector lists reporting tools but the source account grants no access to the required property.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C2603F"/>
                </a:solidFill>
                <a:latin typeface="Calibri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connector-integration-plan.md;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Activity 03 · 35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04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Campaign taxonomy and tracking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Standardise UTM and campaign identifiers across paid social, search and email exports.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Output: tracking-contract.csv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Normalised UTM fields use the approved taxonomy. | Raw values remain available for audit.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04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Architecture: Campaign taxonomy and tracking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Naming policy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UTM mapping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Export join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Collision check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Tracking contract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 shared identifier connects platform exports without treating channel labels as reliable keys. Normalisation maps display values into a controlled vocabulary while preserving raw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04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Input contract: Campaign taxonomy and tracking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campaign_id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String join identifier;never replace with display-name joins.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utm_source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google. Validate declared values.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utm_medium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cpc. Validate declared values.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utm_campaign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bottle_launch. Validate declared values.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currency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ISO-style currency code;SGD required for this case.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timezone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Declared reporting timezone;Asia/Singapore for local practice.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04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Execution trace: Campaign taxonomy and tracking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 shared identifier connects platform exports without treating channel labels as reliable keys. Normalisation maps display values into a controlled vocabulary while preserving raw evidence.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tracking-contract.csv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04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Worked artifact: Campaign taxonomy and tracking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campaign_id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utm_source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utm_medium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utm_campaign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currency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timezone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CMP01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google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cpc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bottle_launch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SGD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Asia/Singapore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CMP02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instagram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paid_social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bottle_launch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SGD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Asia/Singapore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CMP03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newsletter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email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bottle_launch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SGD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Asia/Singapore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CMP04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Instagram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paid social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Bottle Launch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SGD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Asia/Singapore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04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Calculation: Campaign taxonomy and tracking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53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D97757"/>
                </a:solidFill>
                <a:latin typeface="Calibri"/>
              </a:rPr>
              <a:t>Duplicate key rate = duplicate primary-key rows / total rows ×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 duplicates / 20 rows × 100 = 10%; campaign-date-channel grain must be unique.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Normalised UTM fields use the approved taxonomy.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04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Taxonomy defects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54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2 duplicates / 20 rows × 100 = 10%; campaign-date-channel grain must be unique.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04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Failure diagnosis: Campaign taxonomy and tracking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“Instagram” and “instagram” split the same source into two reporting categories.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Apply a documented lowercase mapping, preserve raw values, then retest category and key counts.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B5483A"/>
                </a:solidFill>
                <a:latin typeface="Calibri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04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Test oracle: Campaign taxonomy and tracking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Normalised UTM fields use the approved taxonomy.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Raw values remain available for audit.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 duplicate campaign-date-channel key survives the accepted output.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04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Reusable instruction: Campaign taxonomy and tracking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campaign_id, utm_source, utm_medium, utm_campaign, currency, timezone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Artifact: tracking-contract.csv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 shared identifier connects platform exports without treating channel labels as reliable keys. Normalisation maps display values into a controlled vocabulary while preserving raw evidence.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04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Prompt contract: Campaign taxonomy and tracking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Task: Standardise UTM and campaign identifiers across paid social, search and email exports.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this contract: campaign_id, utm_source, utm_medium, utm_campaign, currency, timezone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04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Audit evidence: Campaign taxonomy and tracking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activity-4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 duplicates / 20 rows × 100 = 10%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04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Change decision: Campaign taxonomy and tracking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60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Add a mapping table for new channels rather than changing historical campaign keys.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04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Activity evidence bridge: Campaign taxonomy and tracking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61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Normalised UTM fields use the approved taxonomy.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“Instagram” and “instagram” split the same source into two reporting categories.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C2603F"/>
                </a:solidFill>
                <a:latin typeface="Calibri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tracking-contract.csv;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Activity 04 · 30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05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Reusable marketing Skill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Author a portable campaign-analysis Skill package with a SKILL.md and reference files, then validate its instructions against fixtures.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Output: skills/campaign-analysis/SKILL.md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SKILL.md has name and description metadata. | Rules declare input/output contracts, missing-data handling and approval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05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Architecture: Reusable marketing Skill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SKILL.md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Reference rules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Fixture data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Draft report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Acceptance evidence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 Skill is a directory of instructions and optional resources. Its name and description support discovery; its detailed instructions encode a repeatable marketing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05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Input contract: Reusable marketing Skill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test_id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Stable fixture ID linking expected and observed result.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fixture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Missing spend. Validate declared values.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rule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Do not invent. Validate declared values.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expected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Independently computed oracle,not copied generated output.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observed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Actual learner-observed fixture result;retain failures.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result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Pass. Validate declared values.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05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Execution trace: Reusable marketing Skill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 Skill is a directory of instructions and optional resources. Its name and description support discovery; its detailed instructions encode a repeatable marketing procedure.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skills/campaign-analysis/SKILL.md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05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Worked artifact: Reusable marketing Skill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test_id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fixture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observed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Missing spend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Do not invent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Flag missing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Flagged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Pass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Zero conversions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CPA undefined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N/A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N/A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Pass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S03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USD input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SGD only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Stop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Stopped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Pass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S04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 claim source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Ground every claim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Reject claim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Rejected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Pass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05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Calculation: Reusable marketing Skill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67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D97757"/>
                </a:solidFill>
                <a:latin typeface="Calibri"/>
              </a:rPr>
              <a:t>Regression pass rate = passed fixtures / executed fixtures ×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4 passes / 4 fixtures = 100%; this tests the package contract, not vendor execution availability.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SKILL.md has name and description metadata.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05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Skill fixture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68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4 passes / 4 fixtures = 100%; this tests the package contract, not vendor execution availability.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05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Failure diagnosis: Reusable marketing Skill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A reused Skill embeds last month’s price in its instructions and ignores the current source file.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Move changeable facts into reference inputs and require the Skill to read the current approved ledger.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B5483A"/>
                </a:solidFill>
                <a:latin typeface="Calibri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05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Test oracle: Reusable marketing Skill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SKILL.md has name and description metadata.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Rules declare input/output contracts, missing-data handling and approval boundaries.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Four fixtures pass before the Skill is offered for reuse.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05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Reusable instruction: Reusable marketing Skill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SKILL.md metadata: name,description. Instructions define inputs,outputs,rules and references. Fixture evidence is a separate CSV.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Artifact: skills/campaign-analysis/SKILL.md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 Skill is a directory of instructions and optional resources. Its name and description support discovery; its detailed instructions encode a repeatable marketing procedure.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05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Prompt contract: Reusable marketing Skill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Task: Author a portable campaign-analysis Skill package with a SKILL.md and reference files, then validate its instructions against fixtures.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Skill metadata: name,description. Keep fixture evidence fields in a separate CSV;they are not Skill frontmatter.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05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Audit evidence: Reusable marketing Skill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activity-5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4 passes / 4 fixtures = 100%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05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Change decision: Reusable marketing Skill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74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Bump the Skill version when metric logic changes and rerun all fixtures.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05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Activity evidence bridge: Reusable marketing Skill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75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SKILL.md has name and description metadata.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 reused Skill embeds last month’s price in its instructions and ignores the current source file.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C2603F"/>
                </a:solidFill>
                <a:latin typeface="Calibri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skills/campaign-analysis/SKILL.md;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Activity 05 · 35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06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Paid campaign metric reconciliation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Reconcile spend, clicks, orders and revenue before comparing channels and recommending budget changes.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Output: reconciled-metrics.csv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Check attribution window, reporting period, timezone and whether revenue includes refunds or tax. Different platform definitions can produce compatible file formats but incompatible business metrics.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Total spend is SGD 2,250 and attributed revenue SGD 5,400. | Portfolio ROAS is 2.40 rather than an unweighted average.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06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Architecture: Paid campaign metric reconciliation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Ads export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Grain check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Metric calculation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Totals reconcile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Decision memo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Aggregation occurs at a declared grain; ratios are recomputed from summed numerators and denominators. Attribution is a reporting model and does not prove causal lift.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06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Input contract: Paid campaign metric reconciliation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channel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Search. Validate declared 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spend_sgd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Numeric SGD advertising spend;nonnegative,missing flagged.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clicks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Integer click count at declared channel grain.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orders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Integer attributed orders;zero denominator makes CPA N/A.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revenue_sgd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Numeric attributed revenue in SGD;definition and period declared.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roas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Ratio revenue/spend;recompute portfolio from totals.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06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Execution trace: Paid campaign metric reconciliation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Aggregation occurs at a declared grain; ratios are recomputed from summed numerators and denominators. Attribution is a reporting model and does not prove causal lift.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reconciled-metrics.csv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06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Worked artifact: Paid campaign metric reconciliation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channel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spend_sgd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clicks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orders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revenue_sgd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roas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Search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1200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800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40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2400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2.0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Social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900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600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1200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1.33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Email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150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500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30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1800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12.0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Total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2250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1900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90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5400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2.4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06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Calculation: Paid campaign metric reconciliation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D97757"/>
                </a:solidFill>
                <a:latin typeface="Calibri"/>
              </a:rPr>
              <a:t>ROAS = attributed revenue / advertising spend; CPA = spend / orders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Search ROAS = 2400 / 1200 = 2.00; CPA = 1200 / 40 = SGD 30.00.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Total spend is SGD 2,250 and attributed revenue SGD 5,400.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06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Attributed ROAS by channel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82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Search ROAS = 2400 / 1200 = 2.00; CPA = 1200 / 40 = SGD 30.00.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06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Failure diagnosis: Paid campaign metric reconciliation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The report averages channel ROAS values and produces 5.11 instead of the correct portfolio ROAS 2.40.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Calculate portfolio ROAS from total revenue divided by total spend, then reconcile all channel sums.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B5483A"/>
                </a:solidFill>
                <a:latin typeface="Calibri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06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Test oracle: Paid campaign metric reconciliation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Total spend is SGD 2,250 and attributed revenue SGD 5,400.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Portfolio ROAS is 2.40 rather than an unweighted average.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Zero-order campaigns display CPA as N/A, never zero.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06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Reusable instruction: Paid campaign metric reconciliation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channel, spend_sgd, clicks, orders, revenue_sgd, roas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Artifact: reconciled-metrics.csv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Aggregation occurs at a declared grain; ratios are recomputed from summed numerators and denominators. Attribution is a reporting model and does not prove causal lift.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06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Prompt contract: Paid campaign metric reconciliation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Task: Reconcile spend, clicks, orders and revenue before comparing channels and recommending budget changes.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this contract: channel, spend_sgd, clicks, orders, revenue_sgd, roas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06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Audit evidence: Paid campaign metric reconciliation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activity-6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Search ROAS = 2400 / 1200 = 2.00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06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Change decision: Paid campaign metric reconciliation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88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Record the revenue definition and attribution window in the output metadata.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06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Activity evidence bridge: Paid campaign metric reconciliation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89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Total spend is SGD 2,250 and attributed revenue SGD 5,400.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The report averages channel ROAS values and produces 5.11 instead of the correct portfolio ROAS 2.40.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C2603F"/>
                </a:solidFill>
                <a:latin typeface="Calibri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reconciled-metrics.csv;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Activity 06 · 35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07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Marketing data quality and error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Diagnose deliberate schema, duplicate, currency and date defects in a dirty campaign export.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Output: validation-errors.csv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Use a minimal failing row to isolate the problem. Distinguish permission failures, file-read failures, field mismatches and valid-looking metric inconsistencies before changing the integration plan.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Each deliberate defect has a row-level error log. | Raw export is unchanged.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07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Architecture: Marketing data quality and error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Raw export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Validation rules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Error log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Correction copy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Retest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Schema validation detects structural errors; semantic checks detect impossible or incompatible values. A correction copy and a retest trace preserve the evidence chain.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07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Input contract: Marketing data quality and error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row_id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R02. Validate declared 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defect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Currency. Validate declared values.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raw_value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USD. Validate declared values.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expected_rule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SGD. Validate declared values.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Quarantine. Validate declared values.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status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Explicit evidence state;do not conflate Fixed,Open andFlagged.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07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Execution trace: Marketing data quality and error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Schema validation detects structural errors; semantic checks detect impossible or incompatible values. A correction copy and a retest trace preserve the evidence chain.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validation-errors.csv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07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Worked artifact: Marketing data quality and error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row_id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defect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raw_value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expected_rule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R02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Currency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SGD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Quarantine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Open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R04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Duplicate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CMP03/2026-09-01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Unique key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Deduplicate with evidence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Fixed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R07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Negative spend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-50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Spend ≥ 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Request source correction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Open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R09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Missing orders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Blank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Explicit missing state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Keep N/A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Flagged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07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Calculation: Marketing data quality and error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95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D97757"/>
                </a:solidFill>
                <a:latin typeface="Calibri"/>
              </a:rPr>
              <a:t>Defect rate = defective rows / checked rows ×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4 defective rows / 12 checked rows = 33.33%; two source corrections remain open.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Each deliberate defect has a row-level error log.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07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Defects by category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4 defective rows / 12 checked rows = 33.33%; two source corrections remain open.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07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Failure diagnosis: Marketing data quality and error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The agent silently fills missing orders with the median and makes CPA look precise.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Restore the missing state, label affected calculations N/A and document whether a source correction is required.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B5483A"/>
                </a:solidFill>
                <a:latin typeface="Calibri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07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Test oracle: Marketing data quality and error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Each deliberate defect has a row-level error log.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Raw export is unchanged.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Retest evidence distinguishes repaired, quarantined and unresolved defects.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07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Reusable instruction: Marketing data quality and error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row_id, defect, raw_value, expected_rule, action, status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Artifact: validation-errors.csv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Schema validation detects structural errors; semantic checks detect impossible or incompatible values. A correction copy and a retest trace preserve the evidence chain.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07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Prompt contract: Marketing data quality and error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Task: Diagnose deliberate schema, duplicate, currency and date defects in a dirty campaign export.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this contract: row_id, defect, raw_value, expected_rule, action, status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07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Audit evidence: Marketing data quality and error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activity-7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4 defective rows / 12 checked rows = 33.33%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07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Change decision: Marketing data quality and error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102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Add pre-analysis validation and preserve a regression fixture for each repaired defect.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07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Activity evidence bridge: Marketing data quality and error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103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Each deliberate defect has a row-level error log.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The agent silently fills missing orders with the median and makes CPA look precise.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C2603F"/>
                </a:solidFill>
                <a:latin typeface="Calibri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validation-errors.csv;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Activity 07 · 35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CLAUDE COWORK · MARKETING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Day 1 evidence reconciliation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Expected state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Open boundary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Compatibility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Owner / permission / format recorded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 live connector claim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Metrics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Spend2250; revenue5400; ROAS2.40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Attribution is not causal lift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Data quality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Raw preserved; defects logged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Source corrections may remain open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DAY 1 CHECKPOINT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Carry accepted rules and unresolved defects into Day2. Preserve versioned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CLAUDE COWORK · MARKETING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End of Day 1 / training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Preserve workspace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Save outputs and failed evidence; retain original synthetic inputs.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Next training block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SEO, lifecycle drafts, experiments, regression and change control.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TRAINER LOGISTICS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Day 2 resumes at 9:30am; keep the same activity workspace.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08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SEO content brief and evidence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Create an SEO brief from synthetic keyword and page data while separating search intent, product facts and editorial assumptions.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Output: seo-content-brief.md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Synthetic volumes are practice inputs, not current keyword research. Cowork can organise and draft from evidence; human editorial review and current analytics remain necessary.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Commercial and informational queries receive distinct target pages. | Product claims trace to the source ledger.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08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Architecture: SEO content brief and evidence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Keyword export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Intent mapping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Page evidence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Brief outline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Claim review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Intent mapping links query evidence to an appropriate page and conversion goal. A brief contract separates title, headings, factual sources and internal-link targets.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08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Input contract: SEO content brief and evidence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keyword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reusable water bottle singapore. Validate declared 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intent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Commercial,informational or mismatch category.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volume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Synthetic keyword-demand count;not current live research.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difficulty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Synthetic numeric input for internal heuristic.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target_page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Approved internal target;None blocks inappropriate brief.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priority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High. Validate declared values.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08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Execution trace: SEO content brief and evidence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Intent mapping links query evidence to an appropriate page and conversion goal. A brief contract separates title, headings, factual sources and internal-link targets.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seo-content-brief.md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08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Worked artifact: SEO content brief and evidence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keyword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intent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volume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difficulty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target_page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priority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reusable water bottle singapore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Commercial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900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35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/bottles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High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how to clean steel bottle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Informational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600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/care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Medium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750ml steel bottle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Commercial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400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/rb750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High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free water bottle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Mismatch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1200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None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Reject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08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Calculation: SEO content brief and evidence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D97757"/>
                </a:solidFill>
                <a:latin typeface="Calibri"/>
              </a:rPr>
              <a:t>Planning score = volume × relevance weight / (difficulty + 1)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900 × 1.0 / (35 + 1) = 25.00; the score is an internal planning heuristic, not a search-engine ranking formula.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Commercial and informational queries receive distinct target pages.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08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Synthetic keyword demand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112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900 × 1.0 / (35 + 1) = 25.00; the score is an internal planning heuristic, not a search-engine ranking formula.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08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Failure diagnosis: SEO content brief and evidence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The highest-volume keyword is selected even though the brand sells a paid product.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Apply intent and offer compatibility before ranking by volume; exclude the “free” query from the paid product brief.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B5483A"/>
                </a:solidFill>
                <a:latin typeface="Calibri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08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Test oracle: SEO content brief and evidence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Commercial and informational queries receive distinct target pages.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Product claims trace to the source ledger.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 guaranteed ranking or fabricated search statistics appear.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08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Reusable instruction: SEO content brief and evidence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keyword, intent, volume, difficulty, target_page, priority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Artifact: seo-content-brief.md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Intent mapping links query evidence to an appropriate page and conversion goal. A brief contract separates title, headings, factual sources and internal-link targets.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08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Prompt contract: SEO content brief and evidence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Task: Create an SEO brief from synthetic keyword and page data while separating search intent, product facts and editorial assumptions.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this contract: keyword, intent, volume, difficulty, target_page, priority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08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Audit evidence: SEO content brief and evidence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activity-8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900 × 1.0 / (35 + 1) = 25.00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08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Change decision: SEO content brief and evidence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118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Update the brief when target-page inventory changes and rerun broken-link and claim checks.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08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Activity evidence bridge: SEO content brief and evidence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119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Commercial and informational queries receive distinct target pages.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The highest-volume keyword is selected even though the brand sells a paid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C2603F"/>
                </a:solidFill>
                <a:latin typeface="Calibri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seo-content-brief.md;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Activity 08 · 30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09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Lifecycle email segmentation and consent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Design an abandoned-cart email draft using a synthetic consent-safe segment and explicit suppression rules.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Output: email-draft.md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Only SYN001 enters the segment preview. | No real email addresses or live sending credentials are used.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09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Architecture: Lifecycle email segmentation and consent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Customer events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Consent filter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Suppression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Segment preview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Draft only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Event predicates determine timing; consent and suppression determine eligibility. A segment preview provides evidence before any independently approved campaign send.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09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Input contract: Lifecycle email segmentation and consent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customer_id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SYN001. Validate declared 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consent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Yes/No training state;No excludes eligibility.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cart_age_hours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Numeric hours since cart;24-hour threshold in this exercise.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purchased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Yes/No purchase flag;Yes suppresses reminder.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suppressed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Yes/No suppression flag;Yes hard-excludes.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eligible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Derived Boolean from all four predicates.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09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Execution trace: Lifecycle email segmentation and consent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Event predicates determine timing; consent and suppression determine eligibility. A segment preview provides evidence before any independently approved campaign send.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email-draft.md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09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Worked artifact: Lifecycle email segmentation and consent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54102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customer_id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54102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consent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54102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cart_age_hours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54102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purchased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54102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suppressed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54102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eligible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32410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39725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SYN001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32410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39725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Yes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32410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39725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30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32410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39725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32410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39725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32410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39725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Yes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286512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293827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SYN002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286512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293827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286512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293827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286512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293827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286512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293827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286512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293827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406139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47929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SYN003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406139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47929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Yes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406139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47929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406139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47929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Yes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406139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47929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406139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47929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394716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02031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SYN004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394716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02031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Yes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394716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02031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394716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02031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394716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02031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394716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02031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448818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40664" y="456133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SYN005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464308" y="448818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546603" y="456133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Yes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70248" y="448818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52544" y="456133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32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076188" y="448818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58483" y="456133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882127" y="448818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964423" y="456133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Yes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688067" y="448818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770363" y="456133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INTERPRET THE EXHIBIT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09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Calculation: Lifecycle email segmentation and consent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125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D97757"/>
                </a:solidFill>
                <a:latin typeface="Calibri"/>
              </a:rPr>
              <a:t>Eligibility = consent AND cart_age ≥ 24 AND NOT purchased AND NOT suppressed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Only SYN001 is eligible in the five-row fixture: 1 / 5 = 20%.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Only SYN001 enters the segment preview.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09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Segment exclusion counts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Only SYN001 is eligible in the five-row fixture: 1 / 5 = 20%.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09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Failure diagnosis: Lifecycle email segmentation and consent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A natural-language segment includes customers who withdrew consent.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Treat consent and suppression as hard gates, recompute the preview and retain exclusion evidence.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B5483A"/>
                </a:solidFill>
                <a:latin typeface="Calibri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09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Test oracle: Lifecycle email segmentation and consent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Only SYN001 enters the segment preview.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 real email addresses or live sending credentials are used.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The output remains a draft and includes an unsubscribe-placeholder review note.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09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Reusable instruction: Lifecycle email segmentation and consent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customer_id, consent, cart_age_hours, purchased, suppressed, eligible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Artifact: email-draft.md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Event predicates determine timing; consent and suppression determine eligibility. A segment preview provides evidence before any independently approved campaign send.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09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Prompt contract: Lifecycle email segmentation and consent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Task: Design an abandoned-cart email draft using a synthetic consent-safe segment and explicit suppression rules.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this contract: customer_id, consent, cart_age_hours, purchased, suppressed, eligible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09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Audit evidence: Lifecycle email segmentation and consent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activity-9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Only SYN001 is eligible in the five-row fixture: 1 / 5 = 20%.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09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Change decision: Lifecycle email segmentation and consent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132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Version consent and suppression rules separately from subject-line experiments.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09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Activity evidence bridge: Lifecycle email segmentation and consent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133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Only SYN001 enters the segment preview.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 natural-language segment includes customers who withdrew consent.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C2603F"/>
                </a:solidFill>
                <a:latin typeface="Calibri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email-draft.md;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Activity 09 · 35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10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Social content repurposing and asset 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Repurpose an approved campaign brief into three channel drafts with asset, claim and accessibility checks.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Output: asset-manifest.csv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Supplied SVG concepts are original synthetic training assets. They are not final commercial creative, real platform screenshots or evidence of live publication.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Three drafts match their declared channel contracts. | Every factual claim uses valid claim IDs.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10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Architecture: Social content repurposing and asset 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Approved brief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Channel contract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Draft variants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Asset manifest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Review queue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One approved source brief feeds channel-specific output contracts. A manifest joins copy, visual assets, claim provenance, accessibility and approval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10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Input contract: Social content repurposing and asset 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asset_id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A01. Validate declared 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channel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Instagram. Validate declared values.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format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Square concept. Validate declared values.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claim_ids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Comma-separated approved IDs;unknown/expired IDs rejected.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alt_text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Descriptive accessibility text;not SEO keyword stuffing.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status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Explicit evidence state;do not conflate Fixed,Open andFlagged.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10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Execution trace: Social content repurposing and asset 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One approved source brief feeds channel-specific output contracts. A manifest joins copy, visual assets, claim provenance, accessibility and approval state.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asset-manifest.csv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10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Worked artifact: Social content repurposing and asset 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asset_id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channel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format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claim_ids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alt_text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Instagram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Square concept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C01,C02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Bottle beside bag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Draft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LinkedIn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Landscape concept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C01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Reusable bottle on desk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Draft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A03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Email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Banner concept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C02,C03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Bottle with price label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Draft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A04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All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Medical claim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C99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None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Reject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10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Calculation: Social content repurposing and asset 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139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D97757"/>
                </a:solidFill>
                <a:latin typeface="Calibri"/>
              </a:rPr>
              <a:t>Asset completeness = valid required manifest fields / total required fields ×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17 valid fields / 18 required = 94.44%; the missing alt text blocks acceptance.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Three drafts match their declared channel contracts.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10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Draft QA issues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140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17 valid fields / 18 required = 94.44%; the missing alt text blocks acceptance.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10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Failure diagnosis: Social content repurposing and asset 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An attractive variant uses an unapproved environmental claim and an image without meaningful alt text.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Replace the claim with ledger-backed facts and write descriptive alt text before moving the asset into review.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B5483A"/>
                </a:solidFill>
                <a:latin typeface="Calibri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10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Test oracle: Social content repurposing and asset 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Three drafts match their declared channel contracts.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Every factual claim uses valid claim IDs.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Each asset has descriptive alt text and a human review state.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10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Reusable instruction: Social content repurposing and asset 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asset_id, channel, format, claim_ids, alt_text, status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Artifact: asset-manifest.csv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One approved source brief feeds channel-specific output contracts. A manifest joins copy, visual assets, claim provenance, accessibility and approval state.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10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Prompt contract: Social content repurposing and asset 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Task: Repurpose an approved campaign brief into three channel drafts with asset, claim and accessibility checks.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this contract: asset_id, channel, format, claim_ids, alt_text, status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10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Audit evidence: Social content repurposing and asset 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activity-10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17 valid fields / 18 required = 94.44%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10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Change decision: Social content repurposing and asset 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146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Regenerate only affected variants when an approved claim or price changes.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10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Activity evidence bridge: Social content repurposing and asset 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147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Three drafts match their declared channel contracts.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An attractive variant uses an unapproved environmental claim and an image without meaningful alt text.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C2603F"/>
                </a:solidFill>
                <a:latin typeface="Calibri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asset-manifest.csv;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Activity 10 · 30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11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Experiment design and performance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Evaluate synthetic landing-page variants while controlling denominator choice and avoiding causal overclaims.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Output: experiment-evidence.md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Seasonality, allocation imbalance, repeat visitors and multiple comparisons can explain apparent improvements. Keep the decision proportionate to the evidence and record the next verification requirement.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Absolute percentage-point difference and relative lift are distinguished. | Visitors, not clicks or impressions, are the declared denominator.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11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Architecture: Experiment design and performance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Hypothesis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Exposure rules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Metric contract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Observed outcomes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Decision boundary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An experiment contract defines assignment, exposure, primary metric and stopping rules before examining outcomes. A metric change alone does not establish causality.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11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Input contract: Experiment design and performance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variant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A. Validate declared 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visitors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Integer exposed visitors;CVR denominator.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orders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Integer attributed orders;zero denominator makes CPA N/A.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conversion_rate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Orders/visitors;percentage rather than percentage points.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revenue_sgd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Numeric attributed revenue in SGD;definition and period declared.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decision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Baseline. Validate declared values.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11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Execution trace: Experiment design and performance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An experiment contract defines assignment, exposure, primary metric and stopping rules before examining outcomes. A metric change alone does not establish causality.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experiment-evidence.md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11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Worked artifact: Experiment design and performance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variant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visitors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orders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conversion_rate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revenue_sgd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decision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594610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66776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594610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66776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594610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66776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40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594610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66776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4.0%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594610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66776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2400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594610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66776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Baseline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406139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47929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406139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47929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406139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47929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50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406139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47929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5.0%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406139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47929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3000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406139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47929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Investigate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4217670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429082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Difference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4217670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429082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4217670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429082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4217670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429082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1.0 pp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4217670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429082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600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4217670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429082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Not proof alone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INTERPRET THE EXHIBIT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11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Calculation: Experiment design and performance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153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D97757"/>
                </a:solidFill>
                <a:latin typeface="Calibri"/>
              </a:rPr>
              <a:t>CVR = orders / visitors; relative lift = (CVR_B − CVR_A) / CVR_A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 = 40 / 1000 = 4%; B = 50 / 1000 = 5%; relative lift = 25%, absolute difference = 1 percentage point.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Absolute percentage-point difference and relative lift are distinguished.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11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Observed conversion rate (%)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154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 = 40 / 1000 = 4%; B = 50 / 1000 = 5%; relative lift = 25%, absolute difference = 1 percentage point.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11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Failure diagnosis: Experiment design and performance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The report states “B causes 25% more sales” from observational counts without randomisation evidence.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Report observed relative lift, identify allocation and uncertainty limits, and recommend a controlled follow-up.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B5483A"/>
                </a:solidFill>
                <a:latin typeface="Calibri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11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Test oracle: Experiment design and performance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Absolute percentage-point difference and relative lift are distinguished.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Visitors, not clicks or impressions, are the declared denominator.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 statistical significance claim is made without a valid analysis.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11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Reusable instruction: Experiment design and performance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variant, visitors, orders, conversion_rate, revenue_sgd, decision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Artifact: experiment-evidence.md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An experiment contract defines assignment, exposure, primary metric and stopping rules before examining outcomes. A metric change alone does not establish causality.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11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Prompt contract: Experiment design and performance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Task: Evaluate synthetic landing-page variants while controlling denominator choice and avoiding causal overclaims.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this contract: variant, visitors, orders, conversion_rate, revenue_sgd, decision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11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Audit evidence: Experiment design and performance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activity-11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 = 40 / 1000 = 4%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11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Change decision: Experiment design and performance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160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Add allocation and exposure diagnostics to the integration plan before making an automated budget recommendation.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11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Activity evidence bridge: Experiment design and performance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161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Absolute percentage-point difference and relative lift are distinguished.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The report states “B causes 25% more sales” from observational counts without randomisation evidence.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C2603F"/>
                </a:solidFill>
                <a:latin typeface="Calibri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experiment-evidence.md;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Activity 11 · 35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12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Integration regression tests and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Execute a fixture-based regression checklist and diagnose a failing integration without altering raw source evidence.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Output: regression-evidence.csv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A test that merely confirms a file exists misses semantic failures. Use independently calculated totals, row counts, permission checks and excluded-customer fixtures as acceptance evidence.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Initial failures are retained in the evidence log. | Corrected totals give ROAS 2.40 and the segment contains SYN001 only.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12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Architecture: Integration regression tests and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Known fixture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Expected values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Observed output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Failure isolate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Recovery retest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Expected values act as test oracles. A failure trace links input version, integration rule, observed output and a narrowly scoped recovery action.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12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Input contract: Integration regression tests and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test_id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Stable fixture ID linking expected and observed result.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expected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Independently computed oracle,not copied generated output.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observed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Actual learner-observed fixture result;retain failures.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severity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Critical. Validate declared values.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recovery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None. Validate declared values.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status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Explicit evidence state;do not conflate Fixed,Open andFlagged.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12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Execution trace: Integration regression tests and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Expected values act as test oracles. A failure trace links input version, integration rule, observed output and a narrowly scoped recovery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regression-evidence.csv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12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Worked artifact: Integration regression tests and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test_id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observed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severity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recovery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SGD 2250 spend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SGD 2250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Critical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Pass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ROAS 2.40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5.11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Critical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Fix aggregation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T03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SYN001 only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SYN001,SYN002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Critical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Fix consent gate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T04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100% sourced facts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100%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High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None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Pass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12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Calculation: Integration regression tests and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167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D97757"/>
                </a:solidFill>
                <a:latin typeface="Calibri"/>
              </a:rPr>
              <a:t>Release readiness = all critical tests pass AND unresolved defects =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 / 4 initial tests pass = 50%; two critical failures block release regardless of appearance.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Initial failures are retained in the evidence log.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12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Initial regression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168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2 / 4 initial tests pass = 50%; two critical failures block release regardless of appearance.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12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Failure diagnosis: Integration regression tests and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A polished report passes visual review but fails aggregation and consent fixtures.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Block release, isolate the smallest failing input, fix the relevant contract and rerun every affected test.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B5483A"/>
                </a:solidFill>
                <a:latin typeface="Calibri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12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Test oracle: Integration regression tests and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Initial failures are retained in the evidence log.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Corrected totals give ROAS 2.40 and the segment contains SYN001 only.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Retest date, version and fixture filenames are recorded.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12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Reusable instruction: Integration regression tests and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test_id, expected, observed, severity, recovery, status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Artifact: regression-evidence.csv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Expected values act as test oracles. A failure trace links input version, integration rule, observed output and a narrowly scoped recovery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12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Prompt contract: Integration regression tests and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Task: Execute a fixture-based regression checklist and diagnose a failing integration without altering raw source evidence.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this contract: test_id, expected, observed, severity, recovery, status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12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Audit evidence: Integration regression tests and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activity-12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 / 4 initial tests pass = 50%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12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Change decision: Integration regression tests and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174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Retain each failure as a permanent regression fixture so later Skill or schema changes cannot reintroduce 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12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Activity evidence bridge: Integration regression tests and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175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Initial failures are retained in the evidence log.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 polished report passes visual review but fails aggregation and consent fixtures.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C2603F"/>
                </a:solidFill>
                <a:latin typeface="Calibri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regression-evidence.csv;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Activity 12 · 35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13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Versioning, approval and change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Propose and evidence an integration-plan change with version identifiers, approval gates and rollback criteria.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Output: change-proposal.md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Track what changed, why, who owns it and what evidence supports acceptance. Propose changes within the selected-component integration plan rather than claiming an enterprise architecture redesign.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Change proposal cites an observed defect and affected interface. | Version log lists author, date, evidence and approval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13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Architecture: Versioning, approval and change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Observed defect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Change proposal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Fixture retest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Owner approval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Versioned release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Input, mapping, Skill and report versions form an evidence bundle. Human approval changes release state; regeneration alone does not authorise external publication.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13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Input contract: Versioning, approval and change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version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Rule/input release ID;preserve previous accepted versions.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change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Initial contract. Validate declared values.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test_evidence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Baseline fixture. Validate declared values.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owner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Responsible person/role for access and acceptance.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Retired. Validate declared values.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rollback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Condition and method to restore accepted mapping.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13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Execution trace: Versioning, approval and change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Input, mapping, Skill and report versions form an evidence bundle. Human approval changes release state; regeneration alone does not authorise external publication.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change-proposal.md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13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Worked artifact: Versioning, approval and change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change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test_evidence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state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rollback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1.0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Initial contract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Baseline fixture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Analyst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Retired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Archive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1.1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Weighted ROAS fix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T01,T02 pass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Analyst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Candidate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Restore 1.0 inputs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Consent gate fix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T03 pass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CRM owner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Review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Keep sending disabled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2.0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New source schema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Full suite required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Integration owner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Planned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Previous mapping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13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Calculation: Versioning, approval and change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D97757"/>
                </a:solidFill>
                <a:latin typeface="Calibri"/>
              </a:rPr>
              <a:t>Change coverage = affected rules with retests / affected rules ×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3 retested rules / 3 affected rules = 100%; approval remains a separate requirement.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Change proposal cites an observed defect and affected interface.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13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Retest coverage (%)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182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3 retested rules / 3 affected rules = 100%; approval remains a separate requirement.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13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Failure diagnosis: Versioning, approval and change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A new Skill overwrites the previous report without recording which inputs or rules changed.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Keep versioned inputs and outputs, record the change rationale and tests, and restore the last accepted version if critical checks fail.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B5483A"/>
                </a:solidFill>
                <a:latin typeface="Calibri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13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Test oracle: Versioning, approval and change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Change proposal cites an observed defect and affected interface.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Version log lists author, date, evidence and approval state.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Rollback criteria restore an accepted mapping and preserve raw inputs.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13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Reusable instruction: Versioning, approval and change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version, change, test_evidence, owner, state, rollback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Artifact: change-proposal.md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Input, mapping, Skill and report versions form an evidence bundle. Human approval changes release state; regeneration alone does not authorise external publication.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13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Prompt contract: Versioning, approval and change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Task: Propose and evidence an integration-plan change with version identifiers, approval gates and rollback criteria.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this contract: version, change, test_evidence, owner, state, rollback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13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Audit evidence: Versioning, approval and change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activity-13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3 retested rules / 3 affected rules = 100%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13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Change decision: Versioning, approval and change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188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Introduce a versioned release manifest linking source hashes, Skill version, regression results and approver.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13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Activity evidence bridge: Versioning, approval and change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189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Change proposal cites an observed defect and affected interface.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 new Skill overwrites the previous report without recording which inputs or rules changed.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C2603F"/>
                </a:solidFill>
                <a:latin typeface="Calibri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change-proposal.md;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Activity 13 · 30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14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Integrated campaign evidence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Integrate a compatibility plan, tested metrics, draft content and a change proposal into one reviewable marketing evidence portfolio.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Output: portfolio-manifest.csv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Evaluate both marketing usefulness and integration correctness. A compelling narrative cannot override failed totals, unsupported claims or missing permission evidence.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All four deliverables identify inputs, rules, tests and approval states. | Recommendation distinguishes observed evidence from hypotheses.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14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Architecture: Integrated campaign evidence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Compatibility plan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Validated exports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Draft assets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Test evidence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Change proposal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 release manifest joins separate marketing artifacts into a coherent integration evidence chain. The portfolio shows compatibility, tests, troubleshooting and a reasoned change proposal.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14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Input contract: Integrated campaign evidence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deliverable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Metrics report. Validate declared 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input_version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export-1.0. Validate declared values.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rule_version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metrics-1.1. Validate declared values.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ROAS 2.40. Validate declared values.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approval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Owner-controlled state;generated output cannot self-approve.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release_state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Draft,Candidate or approved owner state.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14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Execution trace: Integrated campaign evidence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 release manifest joins separate marketing artifacts into a coherent integration evidence chain. The portfolio shows compatibility, tests, troubleshooting and a reasoned change proposal.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portfolio-manifest.csv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14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Worked artifact: Integrated campaign evidence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deliverable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input_version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rule_version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approval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release_state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Metrics report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export-1.0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metrics-1.1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ROAS 2.40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Analyst review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Draft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Email preview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events-1.0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consent-1.2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SYN001 only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CRM review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Draft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SEO brief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keywords-1.0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claims-1.0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100% sourced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Brand review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Draft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Change proposal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defects-1.0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plan-1.1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Critical tests pass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Integration review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Candidate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14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Calculation: Integrated campaign evidence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195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D97757"/>
                </a:solidFill>
                <a:latin typeface="Calibri"/>
              </a:rPr>
              <a:t>Portfolio traceability = deliverables with input + rule + test links / deliverables ×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4 fully linked deliverables / 4 deliverables = 100%; no live campaign publishing is performed.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All four deliverables identify inputs, rules, tests and approval states.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14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Portfolio traceability (%)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4 fully linked deliverables / 4 deliverables = 100%; no live campaign publishing is performed.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14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Failure diagnosis: Integrated campaign evidence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The final recommendation mixes different dates, currencies and approval states across deliverables.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Reconcile the release manifest, block inconsistent deliverables and request owner review before any real-world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B5483A"/>
                </a:solidFill>
                <a:latin typeface="Calibri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14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Test oracle: Integrated campaign evidence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All four deliverables identify inputs, rules, tests and approval states.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Recommendation distinguishes observed evidence from hypotheses.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 live send, ad spend, account change or campaign publication occurs.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14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Reusable instruction: Integrated campaign evidence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deliverable, input_version, rule_version, test, approval, release_state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Artifact: portfolio-manifest.csv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 release manifest joins separate marketing artifacts into a coherent integration evidence chain. The portfolio shows compatibility, tests, troubleshooting and a reasoned change proposal.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14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Prompt contract: Integrated campaign evidence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Task: Integrate a compatibility plan, tested metrics, draft content and a change proposal into one reviewable marketing evidence portfolio.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this contract: deliverable, input_version, rule_version, test, approval, release_state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14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Audit evidence: Integrated campaign evidence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activity-14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4 fully linked deliverables / 4 deliverables = 100%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14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Change decision: Integrated campaign evidence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202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Recommend one bounded improvement with owner, risk, test plan and rollback trigger.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14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Activity evidence bridge: Integrated campaign evidence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203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All four deliverables identify inputs, rules, tests and approval states.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The final recommendation mixes different dates, currencies and approval states across deliverables.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C2603F"/>
                </a:solidFill>
                <a:latin typeface="Calibri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portfolio-manifest.csv;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Activity 14 · 40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SYNTHETIC CREATIVE · HUMAN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Campaign creative evidence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204</a:t>
            </a:r>
          </a:p>
        </p:txBody>
      </p:sp>
      <p:pic>
        <p:nvPicPr>
          <p:cNvPr id="9" name="Picture 8" descr="campaign-bot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4800600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63840" y="1920240"/>
            <a:ext cx="3383280" cy="2926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Claim ledger: C01–C03 only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Alt text: describe visible content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State: Draft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No real publication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ASSET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Original imagegen fictional campaign asset: inspect claim fit, alt text and review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SYNTHETIC CREATIVE · HUMAN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Campaign creative evidence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205</a:t>
            </a:r>
          </a:p>
        </p:txBody>
      </p:sp>
      <p:pic>
        <p:nvPicPr>
          <p:cNvPr id="9" name="Picture 8" descr="campaign-off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4800600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63840" y="1920240"/>
            <a:ext cx="3383280" cy="2926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Claim ledger: C01–C03 only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Alt text: describe visible content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State: Draft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No real publication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ASSET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Original imagegen conceptual marketing workspace; not a product screenshot.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AUTHENTIC ANTHROPIC PRODUCT IMAGE · 13 SEP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Cowork current interface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206</a:t>
            </a:r>
          </a:p>
        </p:txBody>
      </p:sp>
      <p:pic>
        <p:nvPicPr>
          <p:cNvPr id="9" name="Picture 8" descr="cowork-official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5689396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21040" y="1920240"/>
            <a:ext cx="2834640" cy="31089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Built-in browser boundary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Inspect the Used Browser state and northwind.example source domain.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Official fictional demonstration; not verified real merchant pricing.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Anthropic official Cowork product/documentation image. Captured13September2026; interface and availability may change.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CLAUDE COWORK · MARKETING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Source and reference boundaries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Primary mechanics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Anthropic Cowork and Skills documentation; MCP architecture. Checked13September2026.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Marketing foundations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Sachdev Digital Marketing2024: strategy,SEO,email,social,trust and privacy; original teaching examples authored here.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Secondary inspiration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User-provided marketing articles inform scenarios. Vendor blog claims are not product contracts or verified campaign results.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COPYRIGHT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Reference ebooks remain private; courseware uses original explanations and synthetic exhibits rather than reproducing book pages.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TRAINER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About the trainer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Trainer introduction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Trainer name and relevant marketing/integration experience are supplied by the assigned trainer.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Demonstration responsibility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Show the available Cowork surface and explain the actual sandbox and account permissions.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Evidence moderation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Review independent calculations and distinguish draft generation from verified execution.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TRAINER CONTACT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the training administration contact provided for this class.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PROVIDER TRAINER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Dr Alfred 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Qualifications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PhD,NUS;MEng,NTU;MBA.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Training credentials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ACTA and DACE training credentials.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Provider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Tertiary Infotech Academy Pte Ltd · UEN201200696W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PROFILE SOURCE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The assigned trainer for your class may differ.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COURSE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Download the verified learner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LMS-TMS course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Courseware link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PPT / LG / LP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Activities folders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Prompts / evidence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DOWNLOAD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lms-tms.tertiaryinfotech.com · Open the verified course record / Courseware. Public download:github.com/tertiarycourses/C141-Claude-Cowork-for-Digital-Marketing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BEFORE YOU LEAVE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Course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211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Feedback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Complete the current course feedback form.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Certificate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Your certificate of completion is emailed after the course.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Keep practising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Rerun the 14 activities from their synthetic input folders.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FEEDBACK LINK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Your trainer shares the feedback link or QR code for this class.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TERTIARY INFOTECH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Compatible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Declare interface,owner,permission,grain,currency and date.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Tested outputs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independent metric and consent fixtures.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Bounded changes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Version rules,retain failures,retest and obtain owner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PROVIDER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Tertiary Infotech Academy Pte Ltd ·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