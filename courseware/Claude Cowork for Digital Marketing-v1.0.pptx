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1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1" r:id="rId12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6" r:id="rId218"/>
    <p:sldId id="468" r:id="rId220"/>
    <p:sldId id="469" r:id="rId221"/>
    <p:sldId id="470" r:id="rId222"/>
    <p:sldId id="474" r:id="rId226"/>
    <p:sldId id="475" r:id="rId2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8" Type="http://schemas.openxmlformats.org/officeDocument/2006/relationships/slide" Target="slides/slide211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Passed compatibility checks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Format</c:v>
                </c:pt>
                <c:pt idx="1">
                  <c:v>Permission</c:v>
                </c:pt>
                <c:pt idx="2">
                  <c:v>Identity</c:v>
                </c:pt>
                <c:pt idx="3">
                  <c:v>Freshness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 audit counts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Expired</c:v>
                </c:pt>
                <c:pt idx="2">
                  <c:v>Unsupported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Matched records by source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Ads</c:v>
                </c:pt>
                <c:pt idx="1">
                  <c:v>Analytics</c:v>
                </c:pt>
                <c:pt idx="2">
                  <c:v>CRM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Taxonomy defects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Case</c:v>
                </c:pt>
                <c:pt idx="1">
                  <c:v>Whitespace</c:v>
                </c:pt>
                <c:pt idx="2">
                  <c:v>Missing ID</c:v>
                </c:pt>
                <c:pt idx="3">
                  <c:v>Duplicate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Skill fixture results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Metrics</c:v>
                </c:pt>
                <c:pt idx="2">
                  <c:v>Claims</c:v>
                </c:pt>
                <c:pt idx="3">
                  <c:v>Boundary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Attributed ROAS by channel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Search</c:v>
                </c:pt>
                <c:pt idx="1">
                  <c:v>Social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1.333333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by category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Duplicate</c:v>
                </c:pt>
                <c:pt idx="2">
                  <c:v>Currency</c:v>
                </c:pt>
                <c:pt idx="3">
                  <c:v>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keyword demand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Singapore</c:v>
                </c:pt>
                <c:pt idx="1">
                  <c:v>Cleaning</c:v>
                </c:pt>
                <c:pt idx="2">
                  <c:v>750 ml</c:v>
                </c:pt>
                <c:pt idx="3">
                  <c:v>Free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900</c:v>
                </c:pt>
                <c:pt idx="1">
                  <c:v>600</c:v>
                </c:pt>
                <c:pt idx="2">
                  <c:v>400</c:v>
                </c:pt>
                <c:pt idx="3">
                  <c:v>1200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Segment exclusion counts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Sheet1!$A$2:$A$6</c:f>
              <c:strCache>
                <c:ptCount val="5"/>
                <c:pt idx="0">
                  <c:v>Eligible</c:v>
                </c:pt>
                <c:pt idx="1">
                  <c:v>No consent</c:v>
                </c:pt>
                <c:pt idx="2">
                  <c:v>Purchased</c:v>
                </c:pt>
                <c:pt idx="3">
                  <c:v>Too recent</c:v>
                </c:pt>
                <c:pt idx="4">
                  <c:v>Suppressed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Draft QA issues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Claims</c:v>
                </c:pt>
                <c:pt idx="1">
                  <c:v>Alt text</c:v>
                </c:pt>
                <c:pt idx="2">
                  <c:v>Price</c:v>
                </c:pt>
                <c:pt idx="3">
                  <c:v>Review state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conversion rate (%)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Sheet1!$A$2:$A$3</c:f>
              <c:strCache>
                <c:ptCount val="2"/>
                <c:pt idx="0">
                  <c:v>Variant A</c:v>
                </c:pt>
                <c:pt idx="1">
                  <c:v>Variant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Initial regression outcomes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Critical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Retest coverage (%)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Metrics</c:v>
                </c:pt>
                <c:pt idx="1">
                  <c:v>Consent</c:v>
                </c:pt>
                <c:pt idx="2">
                  <c:v>Claims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traceability (%)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Metrics</c:v>
                </c:pt>
                <c:pt idx="1">
                  <c:v>Email</c:v>
                </c:pt>
                <c:pt idx="2">
                  <c:v>SEO</c:v>
                </c:pt>
                <c:pt idx="3">
                  <c:v>Change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chart" Target="../charts/char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chart" Target="../charts/char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chart" Target="../charts/char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chart" Target="../charts/chart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Relationship Id="rId3" Type="http://schemas.openxmlformats.org/officeDocument/2006/relationships/chart" Target="../charts/chart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Relationship Id="rId3" Type="http://schemas.openxmlformats.org/officeDocument/2006/relationships/chart" Target="../charts/chart10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Relationship Id="rId3" Type="http://schemas.openxmlformats.org/officeDocument/2006/relationships/chart" Target="../charts/chart1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Relationship Id="rId3" Type="http://schemas.openxmlformats.org/officeDocument/2006/relationships/chart" Target="../charts/chart1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3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Relationship Id="rId3" Type="http://schemas.openxmlformats.org/officeDocument/2006/relationships/chart" Target="../charts/chart1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chart" Target="../charts/chart1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NON-WSQ COURSE · DIGITAL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Claude Cowork for Digital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28800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194560"/>
            <a:ext cx="7863840" cy="11887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evidence, integrations and reusable marketing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C141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2 days / 15 hours · 9:30am – 5:30pm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CONDUCTED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 Pte Ltd · UEN 201200696W · Version 1.0 · 30 September 2026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Experience:________________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Contact:________________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Working agreements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Respect discussion,return on time and keep one conversation at a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Training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supplied synthetic folder. Human review precedes external campaign action.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640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class logistics with the training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PhD,NUS;MEng,NTU;MBA.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ACTA and DACE training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Tertiary Infotech Academy Pte Ltd · UEN201200696W;assigned trainer may differ.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class logistics with the training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Two-day training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 · 9:30am – 5:30pm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Workspace / brand context / MCP / tracking / Skills / metric reconciliation / data quality.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Day 2 · 9:30am – 5:30pm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 / lifecycle email / social assets / experiments / regression / versioning / portfolio.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Daily rhythm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7.5 instructional hours per day with a 30-minute lunch; activity time sits inside each block.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class logistics with the training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CURRENT PRIMARY DOCUMENTATION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Cowork surfaces and local-file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Desktop local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selected folder supplies local-file context; choose only the activity workspace.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Web / cloud /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Current official documentation describes multiple surfaces. Do not assume a desktop-only product.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Scheduled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Cloud task conditions differ from desktop-local execution. Verify the current documented task surface.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SOURCE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Anthropic: Get started with Cowork; Use Cowork on web, desktop and mobile; Schedule recurring tasks. Product controls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Evaluate desktop availability, file encoding, column names, currency, timezone, connection permissions and intended output. A successful file read is insufficient evidence of semantic compatibility.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Folder boundary excludes personal Downloads and credentials. | All four components have owners and declared permissions.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Folder boundary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Schema check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Compatibility matrix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component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Campaign export.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Local CSV.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input_format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UTF-8 / SGD.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scope and write prohibition at boundary.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person/role for access and acceptance.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compatibility-matrix.csv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input_format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permission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 export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UTF-8 / SGD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Brand brief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Markdown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claims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Brand owner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connector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Remote MCP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Vendor schema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Scoped read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admin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 send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External write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access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 owner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Blocked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Compatibility rate = passed checks / applicable checks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 passed / 10 applicable × 100 = 80%; two blocked checks prevent a live connection.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boundary excludes personal Downloads and credentials.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Passed compatibility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8 passed / 10 applicable × 100 = 80%; two blocked checks prevent a live connection.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CSV is readable but its currency is USD while the brief specifies SGD.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Quarantine the input, request a correctly labelled export, then repeat the currency and totals tests.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boundary excludes personal Downloads and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components have owners and declared permissions.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Conditional interfaces remain blocked until acceptance evidence exists.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Reusable instruction: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 passed / 10 applicable × 100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currency check and an explicit owner sign-off before admitting new source exports.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boundary excludes personal Downloads and credentials.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CSV is readable but its currency is USD while the brief specifies SGD.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compatibility-matrix.csv;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01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Separate source facts from creative hypotheses. Mark persona assumptions as hypotheses, maintain expiry dates, and preserve an approval record before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 factual claim has file and section provenance. | Unsupported C04 never appears in the final draft.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 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Claim ledger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Audience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Brief draft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Owner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claim ledger binds each generated fact to an approved source and approval state. Instructions govern style; source files govern factual truth.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Stable claim identifier joined to approved source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approved_claim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750 ml stainless bottle.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source_file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File provenance for factual claim verification.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source_section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Specific source location,not a vague citation.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expiry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Date after which claim must be revalidated.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claim_id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approved_claim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source_file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source_section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750 ml stainless bottle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product.md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2026-12-31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32 list price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price-list.csv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SKU RB750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2026-10-31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 delivery above SGD 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policy.md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2026-10-31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Carbon neutral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supporting source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Grounding coverage = sourced factual claims / total factual claims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 sourced claims / 10 factual claims = 90%; remove the unsupported claim to reach 100%.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has file and section provenance.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Claim audit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 sourced claims / 10 factual claims = 90%; remove the unsupported claim to reach 100%.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draft transforms “stainless steel” into “clinically proven healthier”.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Remove the unsupported health claim and trace every factual phrase to an approved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has file and section provenance.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Unsupported C04 never appears in the final draft.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output preserves SGD 32 and the SGD 60 delivery threshold.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 sourced claims / 10 factual claims = 90%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Version the claim ledger when price or delivery policy changes; regenerate affected campaign variants.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has file and section provenance.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draft transforms “stainless steel” into “clinically proven healthier”.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02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Inspect server documentation and administrator controls for the actual connector. Sample trace names in this activity are explicitly synthetic and are not commands to call a vendor service.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Interface plan identifies owner, transport and access boundary. | Read actions are separated from send/publish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Cowork client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Connector permission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MCP server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Source export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Validated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Ads reporting.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Actual documented interface type;do not invent endpoints.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auth_owner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Ads admin.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allowed_action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Selected read action;send/publish explicitly disabled.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returned_fields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campaign_id,spend.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Scope review.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connector-integration-plan.md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transport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auth_owner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allowed_action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returned_fields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Ads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Remote connector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Ads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aggregates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campaign_id,spend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Remote connector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segments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segment_id,count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access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CSV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date,campaign_id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External service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 owner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 disabled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Separate approval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Join coverage = matched campaign IDs / source campaign IDs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matched / 5 source campaign IDs = 80%; one missing ID is a compatibility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 plan identifies owner, transport and access boundary.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Matched records by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matched / 5 source campaign IDs = 80%; one missing ID is a compatibility error.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connector lists reporting tools but the source account grants no access to the required property.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Check account identity, permitted property and read scope; obtain administrator correction before retrying.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 plan identifies owner, transport and access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actions are separated from send/publish 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campaign_id is logged rather than silently discarded.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matched / 5 source campaign IDs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Replace a missing connector with a schema-compatible local export while documenting the reduced automation.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 plan identifies owner, transport and access boundary.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connector lists reporting tools but the source account grants no access to the required property.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connector-integration-plan.md;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03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Normalised UTM fields use the approved taxonomy. | Raw values remain available for audit.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Naming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UTM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Export join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Collision check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Tracking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String join identifier;never replace with display-name joins.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utm_source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google.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utm_medium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cpc.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utm_campaign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bottle_launch.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ISO-style currency code;SGD required for this case.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timezone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Declared reporting timezone;Asia/Singapore for local practice.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tracking-contract.csv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utm_source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utm_medium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utm_campaign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currency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timezone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cpc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bottle_launch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instagram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paid_social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bottle_launch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newsletter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bottle_launch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Instagram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paid social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 Launch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Duplicate key rate = duplicate primary-key rows / total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duplicates / 20 rows × 100 = 10%; campaign-date-channel grain must be unique.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Normalised UTM fields use the approved taxonomy.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Taxonomy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 duplicates / 20 rows × 100 = 10%; campaign-date-channel grain must be unique.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“Instagram” and “instagram” split the same source into two reporting categories.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a documented lowercase mapping, preserve raw values, then retest category and key counts.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Normalised UTM fields use the approved taxonomy.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values remain available for audit.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duplicate campaign-date-channel key survives the accepted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duplicates / 20 rows × 100 = 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mapping table for new channels rather than changing historical campaign keys.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Normalised UTM fields use the approved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“Instagram” and “instagram” split the same source into two reporting categories.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tracking-contract.csv;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04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has name and description metadata. | Rules declare input/output contracts, missing-data handling and approval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SKILL.md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Reference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Fixture 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Missing spend.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Do not invent.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Independently computed oracle,not copied generated output.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Actual learner-observed fixture result;retain failures.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Pass.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skills/campaign-analysis/SKILL.md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 not invent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Flag missing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Flagged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Zero conversions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CPA undefined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USD input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Stopped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claim source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Ground every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 claim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Regression pass rate = passed fixtures / executed fixtures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passes / 4 fixtures = 100%; this tests the package contract, not vendor execution availability.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has name and description metadata.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 fixture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passes / 4 fixtures = 100%; this tests the package contract, not vendor execution availability.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reused Skill embeds last month’s price in its instructions and ignores the current source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Move changeable facts into reference inputs and require the Skill to read the current approved ledger.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has name and description metadata.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Rules declare input/output contracts, missing-data handling and approval boundaries.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fixtures pass before the Skill is offered for reuse.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metadata: name,description. Instructions define inputs,outputs,rules and references. Fixture evidence is a separate CSV.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 metadata: name,description. Keep fixture evidence fields in a separate CSV;they are not Skill frontmatter.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activity-5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passes / 4 fixtures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Bump the Skill version when metric logic changes and rerun all fixtures.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has name and description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reused Skill embeds last month’s price in its instructions and ignores the current source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skills/campaign-analysis/SKILL.md;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05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Check attribution window, reporting period, timezone and whether revenue includes refunds or tax. Different platform definitions can produce compatible file formats but incompatible business metrics.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Total spend is SGD 2,250 and attributed revenue SGD 5,400. | Portfolio ROAS is 2.40 rather than an unweighted average.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Ads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Grain 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Metric calculation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Totals reconcile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Decision memo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Search.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spend_sgd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SGD advertising spend;nonnegative,missing flagged.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clicks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click count at declared channel grain.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attributed orders;zero denominator makes CPA N/A.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Ratio revenue/spend;recompute portfolio from totals.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reconciled-metrics.csv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spend_sgd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clicks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roas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Social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1.33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1800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2250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1900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ROAS = attributed revenue / advertising spend; CPA = spend / 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Search ROAS = 2400 / 1200 = 2.00; CPA = 1200 / 40 = SGD 30.00.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spend is SGD 2,250 and attributed revenue SGD 5,400.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Attributed ROAS by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Search ROAS = 2400 / 1200 = 2.00; CPA = 1200 / 40 = SGD 30.00.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report averages channel ROAS values and produces 5.11 instead of the correct portfolio ROAS 2.40.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Calculate portfolio ROAS from total revenue divided by total spend, then reconcile all channel sums.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spend is SGD 2,250 and attributed revenue SGD 5,400.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Portfolio ROAS is 2.40 rather than an unweighted average.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Zero-order campaigns display CPA as N/A, never zero.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activity-6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Search ROAS = 2400 / 1200 = 2.00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the revenue definition and attribution window in the output metadata.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spend is SGD 2,250 and attributed revenue SGD 5,400.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report averages channel ROAS values and produces 5.11 instead of the correct portfolio ROAS 2.40.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reconciled-metrics.csv;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06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 minimal failing row to isolate the problem. Distinguish permission failures, file-read failures, field mismatches and valid-looking metric inconsistencies before changing the integration plan.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Each deliberate defect has a row-level error log. | Raw export is unchanged.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Raw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Validation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Error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Correction copy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row_id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R02.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Currency.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raw_value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USD.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expected_rule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SGD.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Quarantine.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validation-errors.csv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row_id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raw_value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expected_rule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Quarantine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Duplicate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CMP03/2026-09-01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Unique key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Deduplicate with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Negative spend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-50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Spend ≥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Request source correction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orders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Blank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missing state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Flagged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Defect rate = defective rows / checked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defective rows / 12 checked rows = 33.33%; two source corrections remain open.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deliberate defect has a row-level error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Defects by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defective rows / 12 checked rows = 33.33%; two source corrections remain open.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agent silently fills missing orders with the median and makes CPA look precise.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Restore the missing state, label affected calculations N/A and document whether a source correction is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deliberate defect has a row-level error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export is unchanged.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Retest evidence distinguishes repaired, quarantined and unresolved defects.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activity-7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defective rows / 12 checked rows = 33.33%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pre-analysis validation and preserve a regression fixture for each repaired defect.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deliberate defect has a row-level error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silently fills missing orders with the median and makes CPA look precise.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validation-errors.csv;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07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1 evidence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Open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 / permission / format recorded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live connector 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Spend2250; revenue5400; ROAS2.40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Attribution is not causal lift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preserved; defects logged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 corrections may remain 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DAY 1 CHECKPOINT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Carry accepted rules and unresolved defects into Day2. Preserve versioned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End of Day 1 / training 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Preserve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Save outputs and failed evidence; retain original synthetic inputs.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Next training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SEO, lifecycle drafts, experiments, regression and change control.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Day 2 resumes at 9:30am; keep the same activity workspace.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Synthetic volumes are practice inputs, not current keyword research. Cowork can organise and draft from evidence; human editorial review and current analytics remain necessary.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Commercial and informational queries receive distinct target pages. | Product claims trace to the source ledger.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Keyword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Intent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Page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Brief outline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Claim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keyword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reusable water bottle singapore.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Commercial,informational or mismatch category.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keyword-demand count;not current live research.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difficulty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numeric input for internal heuristic.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target_page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internal target;None blocks inappropriate brief.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High.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seo-content-brief.md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keyword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difficulty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target_page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reusable water bottle singapore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/bottles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how to clean steel bottle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Informational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/care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750ml steel bottle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/rb750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 water bottle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Mismatch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Planning score = volume × relevance weight / (difficulty + 1)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 × 1.0 / (35 + 1) = 25.00; the score is an internal planning heuristic, not a search-engine ranking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 and informational queries receive distinct target pages.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Synthetic keyword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900 × 1.0 / (35 + 1) = 25.00; the score is an internal planning heuristic, not a search-engine ranking formula.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highest-volume keyword is selected even though the brand sells a paid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intent and offer compatibility before ranking by volume; exclude the “free” query from the paid product 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 and informational queries receive distinct target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Product claims trace to the source ledger.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guaranteed ranking or fabricated search statistics appear.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activity-8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 × 1.0 / (35 + 1) = 25.00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the brief when target-page inventory changes and rerun broken-link and claim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 and informational queries receive distinct target pages.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highest-volume keyword is selected even though the brand sells a paid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seo-content-brief.md;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08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Only SYN001 enters the segment preview. | No real email addresses or live sending credentials are used.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Customer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Consent filter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Suppression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Segment preview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customer_id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SYN001.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Yes/No training state;No excludes eligibility.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cart_age_hours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hours since cart;24-hour threshold in this exercise.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purchased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Yes/No purchase flag;Yes suppresses reminder.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suppressed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Yes/No suppression flag;Yes hard-excludes.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eligible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Derived Boolean from all four predicates.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email-draft.md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customer_id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cart_age_hours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purchased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suppressed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430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4660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254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7618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5848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82127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6442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88067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7036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Eligibility = consent AND cart_age ≥ 24 AND NOT purchased AND NOT suppressed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is eligible in the five-row fixture: 1 / 5 = 20%.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enters the segment preview.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Segment exclusion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Only SYN001 is eligible in the five-row fixture: 1 / 5 = 20%.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natural-language segment includes customers who withdrew consent.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Treat consent and suppression as hard gates, recompute the preview and retain exclusion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enters the segment preview.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real email addresses or live sending credentials are used.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output remains a draft and includes an unsubscribe-placeholder review note.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activity-9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is eligible in the five-row fixture: 1 / 5 = 20%.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Version consent and suppression rules separately from subject-line experiments.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enters the segment preview.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natural-language segment includes customers who withdrew consent.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email-draft.md;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09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Supplied SVG concepts are original synthetic training assets. They are not final commercial creative, real platform screenshots or evidence of live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Three drafts match their declared channel contracts. | Every factual claim uses valid claim IDs.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Approved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Channel contract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variants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Asset manifest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Review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Instagram.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Square concept.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claim_ids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Comma-separated approved IDs;unknown/expired IDs rejected.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alt_text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Descriptive accessibility text;not SEO keyword stuffing.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asset_id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claim_ids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alt_text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Instagram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Square concept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C01,C02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 beside bag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LinkedIn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Landscape concept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Reusable bottle on desk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Banner concept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C02,C03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 with price label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Medical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Asset completeness = valid required manifest fields / total required fields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17 valid fields / 18 required = 94.44%; the missing alt text blocks acceptance.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drafts match their declared channel contracts.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QA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17 valid fields / 18 required = 94.44%; the missing alt text blocks acceptance.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Replace the claim with ledger-backed facts and write descriptive alt text before moving the asset into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drafts match their declared channel contracts.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uses valid claim IDs.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asset has descriptive alt text and a human review state.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activity-10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17 valid fields / 18 required = 94.44%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Regenerate only affected variants when an approved claim or price changes.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drafts match their declared channel contracts.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10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Seasonality, allocation imbalance, repeat visitors and multiple comparisons can explain apparent improvements. Keep the decision proportionate to the evidence and record the next verification requirement.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Absolute percentage-point difference and relative lift are distinguished. | Visitors, not clicks or impressions, are the declared denominator.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Hypothesis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Exposure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Observed outcomes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Decision boundary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visitors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exposed visitors;CVR denominator.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attributed orders;zero denominator makes CPA N/A.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conversion_rate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Orders/visitors;percentage rather than percentage points.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Baseline.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experiment-evidence.md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variant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visitors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conversion_rate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Investigate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Difference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1.0 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Not proof alone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CVR = orders / visitors; relative lift = (CVR_B − CVR_A) / CVR_A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= 40 / 1000 = 4%; B = 50 / 1000 = 5%; relative lift = 25%, absolute difference = 1 percentage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Absolute percentage-point difference and relative lift are distinguished.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Observed conversion rate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= 40 / 1000 = 4%; B = 50 / 1000 = 5%; relative lift = 25%, absolute difference = 1 percentage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observed relative lift, identify allocation and uncertainty limits, and recommend a controlled follow-up.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Absolute percentage-point difference and relative lift are distinguished.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Visitors, not clicks or impressions, are the declared denominator.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statistical significance claim is made without a valid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= 40 / 1000 = 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allocation and exposure diagnostics to the integration plan before making an automated budget recommendation.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Absolute percentage-point difference and relative lift are distinguished.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experiment-evidence.md;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11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test that merely confirms a file exists misses semantic failures. Use independently calculated totals, row counts, permission checks and excluded-customer fixtures as acceptance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Initial failures are retained in the evidence log. | Corrected totals give ROAS 2.40 and the segment contains SYN001 only.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Known fixture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Expected values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Observed 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Failure isolate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Recovery 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Expected values act as test oracles. A failure trace links input version, integration rule, observed output and a narrowly scoped recovery action.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Independently computed oracle,not copied generated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Actual learner-observed fixture result;retain failures.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Critical.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None.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regression-evidence.csv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severity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2250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2250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ROAS 2.40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5.11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 aggregation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SYN001,SYN002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 consent gate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100% sourced facts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Release readiness = all critical tests pass AND unresolved defects 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/ 4 initial tests pass = 50%; two critical failures block release regardless of appearance.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failures are retained in the evidence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Initial regression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 / 4 initial tests pass = 50%; two critical failures block release regardless of appearance.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polished report passes visual review but fails aggregation and consent fixtures.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Block release, isolate the smallest failing input, fix the relevant contract and rerun every affected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failures are retained in the evidence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Corrected totals give ROAS 2.40 and the segment contains SYN001 only.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Retest date, version and fixture filenames are recorded.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/ 4 initial tests pass = 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each failure as a permanent regression fixture so later Skill or schema changes cannot reintroduce 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failures are retained in the evidence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polished report passes visual review but fails aggregation and consent fixtures.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regression-evidence.csv;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12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Track what changed, why, who owns it and what evidence supports acceptance. Propose changes within the selected-component integration plan rather than claiming an enterprise architecture redesign.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proposal cites an observed defect and affected interface. | Version log lists author, date, evidence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Observed defect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Change proposal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Fixture retest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Owner approval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Versioned release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Rule/input release ID;preserve previous accepted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Initial contract.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Baseline fixture.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person/role for access and acceptance.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Retired.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 and method to restore accepted mapping.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change-proposal.md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test_evidence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contract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Baseline fixture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Weighted ROAS fix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T01,T02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Candidate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Restore 1.0 inputs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 gate fix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T03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sending disabled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New source schema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Full suite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Integration owner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Previous mapping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Change coverage = affected rules with retests / affected rules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 retested rules / 3 affected rules = 100%; approval remains a separate requirement.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 cites an observed defect and affected interface.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Retest coverage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 retested rules / 3 affected rules = 100%; approval remains a separate requirement.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new Skill overwrites the previous report without recording which inputs or rules changed.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versioned inputs and outputs, record the change rationale and tests, and restore the last accepted version if critical checks fail.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 cites an observed defect and affected interface.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 log lists author, date, evidence and approval state.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Rollback criteria restore an accepted mapping and preserve raw inputs.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 retested rules / 3 affected rules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Introduce a versioned release manifest linking source hashes, Skill version, regression results and approver.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 cites an observed defect and affected interface.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new Skill overwrites the previous report without recording which inputs or rules changed.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change-proposal.md;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13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Evaluate both marketing usefulness and integration correctness. A compelling narrative cannot override failed totals, unsupported claims or missing permission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All four deliverables identify inputs, rules, tests and approval states. | Recommendation distinguishes observed evidence from hypotheses.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Compatibility plan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Validated exports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assets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Change proposal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Metrics report.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input_version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export-1.0.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rule_version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metrics-1.1.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ROAS 2.40.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release_state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Draft,Candidate or approved owner 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portfolio-manifest.csv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deliverable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input_version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rule_version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release_state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Metrics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export-1.0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metrics-1.1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ROAS 2.40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 preview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events-1.0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consent-1.2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 brief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keywords-1.0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claims-1.0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100% sourced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Brand 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defects-1.0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plan-1.1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 tests 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Integration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Candidate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Portfolio traceability = deliverables with input + rule + test links / deliverables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fully linked deliverables / 4 deliverables = 100%; no live campaign publishing is performed.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deliverables identify inputs, rules, tests and approval states.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Portfolio traceability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fully linked deliverables / 4 deliverables = 100%; no live campaign publishing is performed.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final recommendation mixes different dates, currencies and approval states across deliverables.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the release manifest, block inconsistent deliverables and request owner review before any real-world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deliverables identify inputs, rules, tests and approval states.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Recommendation distinguishes observed evidence from hypotheses.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live send, ad spend, account change or campaign publication occurs.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fully linked deliverables / 4 deliverables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Recommend one bounded improvement with owner, risk, test plan and rollback trigger.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deliverables identify inputs, rules, tests and approval states.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final recommendation mixes different dates, currencies and approval states across deliverables.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portfolio-manifest.csv;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14 · 40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creative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pic>
        <p:nvPicPr>
          <p:cNvPr id="9" name="Picture 8" descr="campaign-bo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Original imagegen fictional campaign asset: inspect claim fit, alt text and review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creative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pic>
        <p:nvPicPr>
          <p:cNvPr id="9" name="Picture 8" descr="campaign-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Original imagegen conceptual marketing workspace; not a product screenshot.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AUTHENTIC ANTHROPIC PRODUCT IMAGE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Cowork current interface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pic>
        <p:nvPicPr>
          <p:cNvPr id="9" name="Picture 8" descr="cowork-officia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689396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1920240"/>
            <a:ext cx="2834640" cy="31089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Built-in browser boundary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Inspect the Used Browser state and northwind.example source domain.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Official fictional demonstration; not verified real merchant pricing.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Anthropic official Cowork product/documentation image. Captured13September2026; interface and availability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Source and reference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Primary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Anthropic Cowork and Skills documentation; MCP architecture. Checked13September2026.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Marketing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Sachdev Digital Marketing2024: strategy,SEO,email,social,trust and privacy; original teaching examples authored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Secondary inspiration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User-provided marketing articles inform scenarios. Vendor blog claims are not product contracts or verified campaign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COPYRIGHT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Reference ebooks remain private; courseware uses original explanations and synthetic exhibits rather than reproducing book pages.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Trainer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name and relevant marketing/integration experience are supplied by the assigned trainer.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Demonstration 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the available Cowork surface and explain the actual sandbox and account permissions.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Evidence moderation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independent calculations and distinguish draft generation from verified execution.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training administration contact provided for this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PROVIDER 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PhD,NUS;MEng,NTU;MBA.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ACTA and DACE training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Tertiary Infotech Academy Pte Ltd · UEN201200696W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PROFILE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assigned trainer for your class may differ.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COURSE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the verified learner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LMS-TMS course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Courseware link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PPT / LG / LP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Activities folders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Prompts /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DOWNLOAD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lms-tms.tertiaryinfotech.com · Open the verified course record / Courseware. Public download:github.com/tertiarycourses/C141-Claude-Cowork-for-Digital-Marketing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 the current course feedback 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Your certificate of completion is emailed after the course.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Keep practising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Rerun the 14 activities from their synthetic input folders.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FEEDBACK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trainer shares the feedback link or QR code for this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TERTIARY INFOTECH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C141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Compatible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Declare interface,owner,permission,grain,currency and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Tested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independent metric and consent fixtures.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Bounded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 rules,retain failures,retest and obtain owner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 Pte Ltd ·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